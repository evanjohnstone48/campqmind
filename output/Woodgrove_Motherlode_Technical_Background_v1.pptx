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f18a0133f364d57" /><Relationship Type="http://schemas.openxmlformats.org/officeDocument/2006/relationships/extended-properties" Target="/docProps/app.xml" Id="R7bcbafed5d214b42" /><Relationship Type="http://schemas.openxmlformats.org/officeDocument/2006/relationships/officeDocument" Target="/ppt/presentation.xml" Id="R2b11106ddc384a0f" /></Relationships>
</file>

<file path=ppt/presentation.xml><?xml version="1.0" encoding="utf-8"?>
<p:presentation xmlns:p="http://schemas.openxmlformats.org/presentationml/2006/main">
  <p:sldMasterIdLst>
    <p:sldMasterId xmlns:r="http://schemas.openxmlformats.org/officeDocument/2006/relationships" id="2147483648" r:id="R20b0345637604af6"/>
  </p:sldMasterIdLst>
  <p:notesMasterIdLst>
    <p:notesMasterId xmlns:r="http://schemas.openxmlformats.org/officeDocument/2006/relationships" r:id="R4008b3693008450d"/>
  </p:notesMasterIdLst>
  <p:sldIdLst>
    <p:sldId xmlns:r="http://schemas.openxmlformats.org/officeDocument/2006/relationships" id="256" r:id="Rc07a6ae7c8cc452c"/>
    <p:sldId xmlns:r="http://schemas.openxmlformats.org/officeDocument/2006/relationships" id="257" r:id="Ra46b26b883ca43d3"/>
    <p:sldId xmlns:r="http://schemas.openxmlformats.org/officeDocument/2006/relationships" id="258" r:id="Rd940a884ccd54785"/>
    <p:sldId xmlns:r="http://schemas.openxmlformats.org/officeDocument/2006/relationships" id="259" r:id="R121d9dd54bf34523"/>
    <p:sldId xmlns:r="http://schemas.openxmlformats.org/officeDocument/2006/relationships" id="260" r:id="R4eb21308c8e94918"/>
    <p:sldId xmlns:r="http://schemas.openxmlformats.org/officeDocument/2006/relationships" id="261" r:id="R22ac3db8a4bb4431"/>
    <p:sldId xmlns:r="http://schemas.openxmlformats.org/officeDocument/2006/relationships" id="262" r:id="R8b4638c35c47404b"/>
    <p:sldId xmlns:r="http://schemas.openxmlformats.org/officeDocument/2006/relationships" id="263" r:id="Rfec7f1aa60954339"/>
    <p:sldId xmlns:r="http://schemas.openxmlformats.org/officeDocument/2006/relationships" id="264" r:id="R0c8772ac3acc444c"/>
    <p:sldId xmlns:r="http://schemas.openxmlformats.org/officeDocument/2006/relationships" id="265" r:id="R15ac02277c3e4e9e"/>
    <p:sldId xmlns:r="http://schemas.openxmlformats.org/officeDocument/2006/relationships" id="266" r:id="R9525bdaef86d49e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e1a86622db14bb1" /><Relationship Type="http://schemas.openxmlformats.org/officeDocument/2006/relationships/slideMaster" Target="/ppt/slideMasters/slideMaster1.xml" Id="R20b0345637604af6" /><Relationship Type="http://schemas.openxmlformats.org/officeDocument/2006/relationships/notesMaster" Target="/ppt/notesMasters/notesMaster1.xml" Id="R4008b3693008450d" /><Relationship Type="http://schemas.openxmlformats.org/officeDocument/2006/relationships/presProps" Target="/ppt/presProps.xml" Id="R6e684530d459453c" /><Relationship Type="http://schemas.openxmlformats.org/officeDocument/2006/relationships/tableStyles" Target="/ppt/tableStyles.xml" Id="R4572c043e41947ec" /><Relationship Type="http://schemas.openxmlformats.org/officeDocument/2006/relationships/slide" Target="/ppt/slides/slide1.xml" Id="Rc07a6ae7c8cc452c" /><Relationship Type="http://schemas.openxmlformats.org/officeDocument/2006/relationships/slide" Target="/ppt/slides/slide2.xml" Id="Ra46b26b883ca43d3" /><Relationship Type="http://schemas.openxmlformats.org/officeDocument/2006/relationships/slide" Target="/ppt/slides/slide3.xml" Id="Rd940a884ccd54785" /><Relationship Type="http://schemas.openxmlformats.org/officeDocument/2006/relationships/slide" Target="/ppt/slides/slide4.xml" Id="R121d9dd54bf34523" /><Relationship Type="http://schemas.openxmlformats.org/officeDocument/2006/relationships/slide" Target="/ppt/slides/slide5.xml" Id="R4eb21308c8e94918" /><Relationship Type="http://schemas.openxmlformats.org/officeDocument/2006/relationships/slide" Target="/ppt/slides/slide6.xml" Id="R22ac3db8a4bb4431" /><Relationship Type="http://schemas.openxmlformats.org/officeDocument/2006/relationships/slide" Target="/ppt/slides/slide7.xml" Id="R8b4638c35c47404b" /><Relationship Type="http://schemas.openxmlformats.org/officeDocument/2006/relationships/slide" Target="/ppt/slides/slide8.xml" Id="Rfec7f1aa60954339" /><Relationship Type="http://schemas.openxmlformats.org/officeDocument/2006/relationships/slide" Target="/ppt/slides/slide9.xml" Id="R0c8772ac3acc444c" /><Relationship Type="http://schemas.openxmlformats.org/officeDocument/2006/relationships/slide" Target="/ppt/slides/slide10.xml" Id="R15ac02277c3e4e9e" /><Relationship Type="http://schemas.openxmlformats.org/officeDocument/2006/relationships/slide" Target="/ppt/slides/slide11.xml" Id="R9525bdaef86d49e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72e3765fd594a7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7ccbf4877344f34" /><Relationship Type="http://schemas.openxmlformats.org/officeDocument/2006/relationships/notesMaster" Target="/ppt/notesMasters/notesMaster1.xml" Id="R2582b7b62e824006" /></Relationships>
</file>

<file path=ppt/notesSlides/_rels/notesSlide2.xml.rels>&#65279;<?xml version="1.0" encoding="utf-8"?><Relationships xmlns="http://schemas.openxmlformats.org/package/2006/relationships"><Relationship Type="http://schemas.openxmlformats.org/officeDocument/2006/relationships/slide" Target="/ppt/slides/slide2.xml" Id="Rca46613436c145ee" /><Relationship Type="http://schemas.openxmlformats.org/officeDocument/2006/relationships/notesMaster" Target="/ppt/notesMasters/notesMaster1.xml" Id="R1c63cb6f307a4fbd" /></Relationships>
</file>

<file path=ppt/notesSlides/_rels/notesSlide3.xml.rels>&#65279;<?xml version="1.0" encoding="utf-8"?><Relationships xmlns="http://schemas.openxmlformats.org/package/2006/relationships"><Relationship Type="http://schemas.openxmlformats.org/officeDocument/2006/relationships/slide" Target="/ppt/slides/slide3.xml" Id="Re732b3727cce466e" /><Relationship Type="http://schemas.openxmlformats.org/officeDocument/2006/relationships/notesMaster" Target="/ppt/notesMasters/notesMaster1.xml" Id="R69b802eebcec41e9" /></Relationships>
</file>

<file path=ppt/notesSlides/_rels/notesSlide4.xml.rels>&#65279;<?xml version="1.0" encoding="utf-8"?><Relationships xmlns="http://schemas.openxmlformats.org/package/2006/relationships"><Relationship Type="http://schemas.openxmlformats.org/officeDocument/2006/relationships/slide" Target="/ppt/slides/slide4.xml" Id="Rfe221c0ddd844557" /><Relationship Type="http://schemas.openxmlformats.org/officeDocument/2006/relationships/notesMaster" Target="/ppt/notesMasters/notesMaster1.xml" Id="R6d6904748ffc4e1a" /></Relationships>
</file>

<file path=ppt/notesSlides/_rels/notesSlide5.xml.rels>&#65279;<?xml version="1.0" encoding="utf-8"?><Relationships xmlns="http://schemas.openxmlformats.org/package/2006/relationships"><Relationship Type="http://schemas.openxmlformats.org/officeDocument/2006/relationships/slide" Target="/ppt/slides/slide5.xml" Id="R4cd9968ae3954b57" /><Relationship Type="http://schemas.openxmlformats.org/officeDocument/2006/relationships/notesMaster" Target="/ppt/notesMasters/notesMaster1.xml" Id="Ra3cadf0a637d4b57" /></Relationships>
</file>

<file path=ppt/notesSlides/_rels/notesSlide6.xml.rels>&#65279;<?xml version="1.0" encoding="utf-8"?><Relationships xmlns="http://schemas.openxmlformats.org/package/2006/relationships"><Relationship Type="http://schemas.openxmlformats.org/officeDocument/2006/relationships/slide" Target="/ppt/slides/slide6.xml" Id="R86cf51a86c5c414e" /><Relationship Type="http://schemas.openxmlformats.org/officeDocument/2006/relationships/notesMaster" Target="/ppt/notesMasters/notesMaster1.xml" Id="Re6f868b3288c40ef" /></Relationships>
</file>

<file path=ppt/notesSlides/_rels/notesSlide7.xml.rels>&#65279;<?xml version="1.0" encoding="utf-8"?><Relationships xmlns="http://schemas.openxmlformats.org/package/2006/relationships"><Relationship Type="http://schemas.openxmlformats.org/officeDocument/2006/relationships/slide" Target="/ppt/slides/slide7.xml" Id="R5bcf0a2ae75a4e87" /><Relationship Type="http://schemas.openxmlformats.org/officeDocument/2006/relationships/notesMaster" Target="/ppt/notesMasters/notesMaster1.xml" Id="Rb1b6fbfb45914fb2" /></Relationships>
</file>

<file path=ppt/notesSlides/_rels/notesSlide8.xml.rels>&#65279;<?xml version="1.0" encoding="utf-8"?><Relationships xmlns="http://schemas.openxmlformats.org/package/2006/relationships"><Relationship Type="http://schemas.openxmlformats.org/officeDocument/2006/relationships/slide" Target="/ppt/slides/slide8.xml" Id="R74050f7348bd4ea7" /><Relationship Type="http://schemas.openxmlformats.org/officeDocument/2006/relationships/notesMaster" Target="/ppt/notesMasters/notesMaster1.xml" Id="R9d0dd0c12f49454d" /></Relationships>
</file>

<file path=ppt/notesSlides/_rels/notesSlide9.xml.rels>&#65279;<?xml version="1.0" encoding="utf-8"?><Relationships xmlns="http://schemas.openxmlformats.org/package/2006/relationships"><Relationship Type="http://schemas.openxmlformats.org/officeDocument/2006/relationships/slide" Target="/ppt/slides/slide9.xml" Id="R8b6584ebefbf4e61" /><Relationship Type="http://schemas.openxmlformats.org/officeDocument/2006/relationships/notesMaster" Target="/ppt/notesMasters/notesMaster1.xml" Id="R29ac8e232fff4df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338ee738d694282" /><Relationship Type="http://schemas.openxmlformats.org/officeDocument/2006/relationships/notesMaster" Target="/ppt/notesMasters/notesMaster1.xml" Id="R69a309e0b7d9407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29d0378fd614305" /><Relationship Type="http://schemas.openxmlformats.org/officeDocument/2006/relationships/notesMaster" Target="/ppt/notesMasters/notesMaster1.xml" Id="R78c6b82cff39415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cover image created with the built-in image generation tool and saved to output/assets/woodgrove-cover.png. Project framing from README.md and docs/00-vision.md.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docs/00-vision.md maps AWARE-NG plant signals, fuzzy controllers, rule activation histories, operator trust and recommendations to Motherlode simulation outputs.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docs/00-vision.md table mapping AWARE-NG to Motherlode.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packages/narrator/src/types.ts defines RoundSnapshot. packages/narrator/src/motherlode.ts maps ShiftRecord to RoundSnapshot and smooths selected live metrics over 4 shifts.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packages/narrator/src/motherlode.ts declares knownEffects and knownLinks. packages/narrator/src/evidence.ts reserves 'almost certainly' for counterfactual replay.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docs/TECH.md and packages/narrator/src/narrator.ts describe the fixed pipeline and LLM boundary.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packages/narrator/src/types.ts defines EvidencePackage and statement kinds. packages/narrator/src/evidence.ts builds the package.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command output from `pnpm --filter @motherlode/narrator demo gold-rush`. The demo card reported a gold price drop from 12.0 coins to 9.8 coins and a likely cause of the Overseer's gold rush at shift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command output from `pnpm --filter @motherlode/narrator accuracy` on October 4, 2026 in the local repo. The command ran 200 seeds per scenario.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docs/INTEGRATION.md and packages/narrator/src/motherlode.ts. Server-to-browser protocol carries narrator cards with each shift 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deck synthesis from README.md, docs/00-vision.md, docs/TECH.md, docs/INTEGRATION.md and packages/narrator.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50d6411dcf74a4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798dec8368443ac" /><Relationship Type="http://schemas.openxmlformats.org/officeDocument/2006/relationships/slideLayout" Target="/ppt/slideLayouts/slideLayout1.xml" Id="R21e44fa76e164b5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1e44fa76e164b5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de3fe4880824bb1" /><Relationship Type="http://schemas.openxmlformats.org/officeDocument/2006/relationships/image" Target="/ppt/media/image.png" Id="R247e759eae654a67" /><Relationship Type="http://schemas.openxmlformats.org/officeDocument/2006/relationships/notesSlide" Target="/ppt/notesSlides/notesSlide1.xml" Id="R3db7cb8119a54f1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966b85b2aac4a2a" /><Relationship Type="http://schemas.openxmlformats.org/officeDocument/2006/relationships/notesSlide" Target="/ppt/notesSlides/notesSlide2.xml" Id="R1cf62a5f32494bf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60e3bc3b85140fa" /><Relationship Type="http://schemas.openxmlformats.org/officeDocument/2006/relationships/notesSlide" Target="/ppt/notesSlides/notesSlide3.xml" Id="R0866c2423a99432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de474c29b7941d2" /><Relationship Type="http://schemas.openxmlformats.org/officeDocument/2006/relationships/notesSlide" Target="/ppt/notesSlides/notesSlide4.xml" Id="Re5112d12723744d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09bc03deffb4014" /><Relationship Type="http://schemas.openxmlformats.org/officeDocument/2006/relationships/notesSlide" Target="/ppt/notesSlides/notesSlide5.xml" Id="Red3b7bac07374c3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d64e0706b1c4a3f" /><Relationship Type="http://schemas.openxmlformats.org/officeDocument/2006/relationships/notesSlide" Target="/ppt/notesSlides/notesSlide6.xml" Id="R28bb6eae96fa44d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4567625051f46b8" /><Relationship Type="http://schemas.openxmlformats.org/officeDocument/2006/relationships/notesSlide" Target="/ppt/notesSlides/notesSlide7.xml" Id="R833be743965d478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8d1c92fb8ea41e5" /><Relationship Type="http://schemas.openxmlformats.org/officeDocument/2006/relationships/notesSlide" Target="/ppt/notesSlides/notesSlide8.xml" Id="Ra09f4eced6bd424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a923e9460c14ddd" /><Relationship Type="http://schemas.openxmlformats.org/officeDocument/2006/relationships/notesSlide" Target="/ppt/notesSlides/notesSlide9.xml" Id="R38a51c01d2ae449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8cabb1a9fa44d8b" /><Relationship Type="http://schemas.openxmlformats.org/officeDocument/2006/relationships/notesSlide" Target="/ppt/notesSlides/notesSlide10.xml" Id="Rce47a36b186d47c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be998a71044485c" /><Relationship Type="http://schemas.openxmlformats.org/officeDocument/2006/relationships/notesSlide" Target="/ppt/notesSlides/notesSlide11.xml" Id="R71d98da7f06948d1" /></Relationships>
</file>

<file path=ppt/slides/slide1.xml><?xml version="1.0" encoding="utf-8"?>
<p:sld xmlns:p="http://schemas.openxmlformats.org/presentationml/2006/main">
  <p:cSld>
    <p:bg>
      <p:bgPr>
        <a:solidFill xmlns:a="http://schemas.openxmlformats.org/drawingml/2006/main">
          <a:srgbClr val="111817"/>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247e759eae654a6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08F3221-1345-4FED-AA90-FB9CB7E7B081}"/>
              </a:ext>
            </a:extLst>
          </p:cNvPr>
          <p:cNvSpPr>
            <a:spLocks xmlns:a="http://schemas.openxmlformats.org/drawingml/2006/main" noGrp="1"/>
          </p:cNvSpPr>
          <p:nvPr/>
        </p:nvSpPr>
        <p:spPr>
          <a:xfrm xmlns:a="http://schemas.openxmlformats.org/drawingml/2006/main">
            <a:off x="0" y="0"/>
            <a:ext cx="5715000" cy="6858000"/>
          </a:xfrm>
          <a:prstGeom xmlns:a="http://schemas.openxmlformats.org/drawingml/2006/main" prst="rect">
            <a:avLst/>
          </a:prstGeom>
          <a:solidFill xmlns:a="http://schemas.openxmlformats.org/drawingml/2006/main">
            <a:srgbClr val="06110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1CB07B8-5E70-49AA-91FC-E3E6E9DBF62D}"/>
              </a:ext>
            </a:extLst>
          </p:cNvPr>
          <p:cNvSpPr>
            <a:spLocks xmlns:a="http://schemas.openxmlformats.org/drawingml/2006/main" noGrp="1"/>
          </p:cNvSpPr>
          <p:nvPr/>
        </p:nvSpPr>
        <p:spPr>
          <a:xfrm xmlns:a="http://schemas.openxmlformats.org/drawingml/2006/main">
            <a:off x="609600" y="1085850"/>
            <a:ext cx="4381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900" b="1">
                <a:solidFill>
                  <a:srgbClr val="FFFFFF"/>
                </a:solidFill>
                <a:latin typeface="Aptos"/>
                <a:ea typeface="Aptos"/>
                <a:cs typeface="Aptos"/>
              </a:defRPr>
            </a:pPr>
            <a:r>
              <a:rPr sz="3900" b="1">
                <a:solidFill>
                  <a:srgbClr val="FFFFFF"/>
                </a:solidFill>
                <a:latin typeface="Aptos"/>
                <a:ea typeface="Aptos"/>
                <a:cs typeface="Aptos"/>
              </a:rPr>
              <a:t>Motherlode</a:t>
            </a:r>
          </a:p>
        </p:txBody>
      </p:sp>
      <p:sp>
        <p:nvSpPr>
          <p:cNvPr id="4" name="">
            <a:extLst xmlns:a="http://schemas.openxmlformats.org/drawingml/2006/main">
              <a:ext uri="{FF2B5EF4-FFF2-40B4-BE49-F238E27FC236}">
                <a16:creationId xmlns:a16="http://schemas.microsoft.com/office/drawing/2014/main" id="{FB57881A-1015-4D5C-B09A-DEDFA66C9DEF}"/>
              </a:ext>
            </a:extLst>
          </p:cNvPr>
          <p:cNvSpPr>
            <a:spLocks xmlns:a="http://schemas.openxmlformats.org/drawingml/2006/main" noGrp="1"/>
          </p:cNvSpPr>
          <p:nvPr/>
        </p:nvSpPr>
        <p:spPr>
          <a:xfrm xmlns:a="http://schemas.openxmlformats.org/drawingml/2006/main">
            <a:off x="647700" y="1752600"/>
            <a:ext cx="4095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75" b="0">
                <a:solidFill>
                  <a:srgbClr val="E9F2EC"/>
                </a:solidFill>
                <a:latin typeface="Aptos"/>
                <a:ea typeface="Aptos"/>
                <a:cs typeface="Aptos"/>
              </a:defRPr>
            </a:pPr>
            <a:r>
              <a:rPr sz="1875" b="0">
                <a:solidFill>
                  <a:srgbClr val="E9F2EC"/>
                </a:solidFill>
                <a:latin typeface="Aptos"/>
                <a:ea typeface="Aptos"/>
                <a:cs typeface="Aptos"/>
              </a:rPr>
              <a:t>Technical background and Woodgrove showcase</a:t>
            </a:r>
          </a:p>
        </p:txBody>
      </p:sp>
      <p:sp>
        <p:nvSpPr>
          <p:cNvPr id="5" name="">
            <a:extLst xmlns:a="http://schemas.openxmlformats.org/drawingml/2006/main">
              <a:ext uri="{FF2B5EF4-FFF2-40B4-BE49-F238E27FC236}">
                <a16:creationId xmlns:a16="http://schemas.microsoft.com/office/drawing/2014/main" id="{98F9C2C8-73D4-4181-AD11-7A4AC747A155}"/>
              </a:ext>
            </a:extLst>
          </p:cNvPr>
          <p:cNvSpPr>
            <a:spLocks xmlns:a="http://schemas.openxmlformats.org/drawingml/2006/main" noGrp="1"/>
          </p:cNvSpPr>
          <p:nvPr/>
        </p:nvSpPr>
        <p:spPr>
          <a:xfrm xmlns:a="http://schemas.openxmlformats.org/drawingml/2006/main">
            <a:off x="647700" y="3143250"/>
            <a:ext cx="4191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2000"/>
              </a:lnSpc>
              <a:buNone/>
              <a:defRPr sz="1500" b="0">
                <a:solidFill>
                  <a:srgbClr val="D6E2DB"/>
                </a:solidFill>
                <a:latin typeface="Aptos"/>
                <a:ea typeface="Aptos"/>
                <a:cs typeface="Aptos"/>
              </a:defRPr>
            </a:pPr>
            <a:r>
              <a:rPr sz="1500" b="0">
                <a:solidFill>
                  <a:srgbClr val="D6E2DB"/>
                </a:solidFill>
                <a:latin typeface="Aptos"/>
                <a:ea typeface="Aptos"/>
                <a:cs typeface="Aptos"/>
              </a:rPr>
              <a:t>A simulated mining valley that produces temporal and causal evidence, then explains it to the Overseer through a grounded narrator pipeline.</a:t>
            </a:r>
          </a:p>
        </p:txBody>
      </p:sp>
      <p:sp>
        <p:nvSpPr>
          <p:cNvPr id="6" name="">
            <a:extLst xmlns:a="http://schemas.openxmlformats.org/drawingml/2006/main">
              <a:ext uri="{FF2B5EF4-FFF2-40B4-BE49-F238E27FC236}">
                <a16:creationId xmlns:a16="http://schemas.microsoft.com/office/drawing/2014/main" id="{289E99E8-E877-4130-9818-D4C50D4340DA}"/>
              </a:ext>
            </a:extLst>
          </p:cNvPr>
          <p:cNvSpPr>
            <a:spLocks xmlns:a="http://schemas.openxmlformats.org/drawingml/2006/main" noGrp="1"/>
          </p:cNvSpPr>
          <p:nvPr/>
        </p:nvSpPr>
        <p:spPr>
          <a:xfrm xmlns:a="http://schemas.openxmlformats.org/drawingml/2006/main">
            <a:off x="647700" y="4781550"/>
            <a:ext cx="1562100" cy="285750"/>
          </a:xfrm>
          <a:prstGeom xmlns:a="http://schemas.openxmlformats.org/drawingml/2006/main" prst="roundRect">
            <a:avLst>
              <a:gd name="adj" fmla="val 26667"/>
            </a:avLst>
          </a:prstGeom>
          <a:solidFill xmlns:a="http://schemas.openxmlformats.org/drawingml/2006/main">
            <a:srgbClr val="F0C49E"/>
          </a:solidFill>
          <a:ln xmlns:a="http://schemas.openxmlformats.org/drawingml/2006/main" w="9525">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111817"/>
                </a:solidFill>
                <a:latin typeface="Aptos"/>
                <a:ea typeface="Aptos"/>
                <a:cs typeface="Aptos"/>
              </a:defRPr>
            </a:pPr>
            <a:r>
              <a:rPr sz="975" b="1">
                <a:solidFill>
                  <a:srgbClr val="111817"/>
                </a:solidFill>
                <a:latin typeface="Aptos"/>
                <a:ea typeface="Aptos"/>
                <a:cs typeface="Aptos"/>
              </a:rPr>
              <a:t>Camp QMIND 2026</a:t>
            </a:r>
          </a:p>
        </p:txBody>
      </p:sp>
    </p:spTree>
    <p:extLst>
      <p:ext uri="{BB962C8B-B14F-4D97-AF65-F5344CB8AC3E}">
        <p14:creationId xmlns:p14="http://schemas.microsoft.com/office/powerpoint/2010/main" val="1304775156"/>
      </p:ext>
    </p:extLst>
  </p:cSld>
</p:sld>
</file>

<file path=ppt/slides/slide2.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59C32DD2-B608-477F-81BF-F75E02F67EDE}"/>
              </a:ext>
            </a:extLst>
          </p:cNvPr>
          <p:cNvSpPr>
            <a:spLocks xmlns:a="http://schemas.openxmlformats.org/drawingml/2006/main" noGrp="1"/>
          </p:cNvSpPr>
          <p:nvPr/>
        </p:nvSpPr>
        <p:spPr>
          <a:xfrm xmlns:a="http://schemas.openxmlformats.org/drawingml/2006/main">
            <a:off x="609600" y="476250"/>
            <a:ext cx="723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550" b="1">
                <a:solidFill>
                  <a:srgbClr val="17201D"/>
                </a:solidFill>
                <a:latin typeface="Aptos"/>
                <a:ea typeface="Aptos"/>
                <a:cs typeface="Aptos"/>
              </a:defRPr>
            </a:pPr>
            <a:r>
              <a:rPr sz="2550" b="1">
                <a:solidFill>
                  <a:srgbClr val="17201D"/>
                </a:solidFill>
                <a:latin typeface="Aptos"/>
                <a:ea typeface="Aptos"/>
                <a:cs typeface="Aptos"/>
              </a:rPr>
              <a:t>Woodgrove problem fit</a:t>
            </a:r>
          </a:p>
        </p:txBody>
      </p:sp>
      <p:sp>
        <p:nvSpPr>
          <p:cNvPr id="2" name="">
            <a:extLst xmlns:a="http://schemas.openxmlformats.org/drawingml/2006/main">
              <a:ext uri="{FF2B5EF4-FFF2-40B4-BE49-F238E27FC236}">
                <a16:creationId xmlns:a16="http://schemas.microsoft.com/office/drawing/2014/main" id="{D17B98D6-8783-4E9A-BB21-84184E887E64}"/>
              </a:ext>
            </a:extLst>
          </p:cNvPr>
          <p:cNvSpPr>
            <a:spLocks xmlns:a="http://schemas.openxmlformats.org/drawingml/2006/main" noGrp="1"/>
          </p:cNvSpPr>
          <p:nvPr/>
        </p:nvSpPr>
        <p:spPr>
          <a:xfrm xmlns:a="http://schemas.openxmlformats.org/drawingml/2006/main">
            <a:off x="609600" y="942975"/>
            <a:ext cx="885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350" b="0">
                <a:solidFill>
                  <a:srgbClr val="5F6B64"/>
                </a:solidFill>
                <a:latin typeface="Aptos"/>
                <a:ea typeface="Aptos"/>
                <a:cs typeface="Aptos"/>
              </a:defRPr>
            </a:pPr>
            <a:r>
              <a:rPr sz="1350" b="0">
                <a:solidFill>
                  <a:srgbClr val="5F6B64"/>
                </a:solidFill>
                <a:latin typeface="Aptos"/>
                <a:ea typeface="Aptos"/>
                <a:cs typeface="Aptos"/>
              </a:rPr>
              <a:t>Motherlode mirrors the data and explanation problem behind AWARE-NG.</a:t>
            </a:r>
          </a:p>
        </p:txBody>
      </p:sp>
      <p:sp>
        <p:nvSpPr>
          <p:cNvPr id="3" name="">
            <a:extLst xmlns:a="http://schemas.openxmlformats.org/drawingml/2006/main">
              <a:ext uri="{FF2B5EF4-FFF2-40B4-BE49-F238E27FC236}">
                <a16:creationId xmlns:a16="http://schemas.microsoft.com/office/drawing/2014/main" id="{502C6DBF-3375-4F22-BF83-1B963C594C0A}"/>
              </a:ext>
            </a:extLst>
          </p:cNvPr>
          <p:cNvSpPr>
            <a:spLocks xmlns:a="http://schemas.openxmlformats.org/drawingml/2006/main" noGrp="1"/>
          </p:cNvSpPr>
          <p:nvPr/>
        </p:nvSpPr>
        <p:spPr>
          <a:xfrm xmlns:a="http://schemas.openxmlformats.org/drawingml/2006/main">
            <a:off x="609600" y="1352550"/>
            <a:ext cx="1524000" cy="0"/>
          </a:xfrm>
          <a:prstGeom xmlns:a="http://schemas.openxmlformats.org/drawingml/2006/main" prst="line">
            <a:avLst/>
          </a:prstGeom>
          <a:ln xmlns:a="http://schemas.openxmlformats.org/drawingml/2006/main" w="38100">
            <a:solidFill>
              <a:srgbClr val="1F8A5B"/>
            </a:solidFill>
            <a:prstDash val="solid"/>
          </a:ln>
        </p:spPr>
      </p:sp>
      <p:sp>
        <p:nvSpPr>
          <p:cNvPr id="4" name="">
            <a:extLst xmlns:a="http://schemas.openxmlformats.org/drawingml/2006/main">
              <a:ext uri="{FF2B5EF4-FFF2-40B4-BE49-F238E27FC236}">
                <a16:creationId xmlns:a16="http://schemas.microsoft.com/office/drawing/2014/main" id="{2957F4E3-C916-4A88-AA93-C123EFB74C52}"/>
              </a:ext>
            </a:extLst>
          </p:cNvPr>
          <p:cNvSpPr>
            <a:spLocks xmlns:a="http://schemas.openxmlformats.org/drawingml/2006/main" noGrp="1"/>
          </p:cNvSpPr>
          <p:nvPr/>
        </p:nvSpPr>
        <p:spPr>
          <a:xfrm xmlns:a="http://schemas.openxmlformats.org/drawingml/2006/main">
            <a:off x="685800" y="1790700"/>
            <a:ext cx="4953000" cy="1619250"/>
          </a:xfrm>
          <a:prstGeom xmlns:a="http://schemas.openxmlformats.org/drawingml/2006/main" prst="roundRect">
            <a:avLst>
              <a:gd name="adj" fmla="val 4706"/>
            </a:avLst>
          </a:prstGeom>
          <a:solidFill xmlns:a="http://schemas.openxmlformats.org/drawingml/2006/main">
            <a:srgbClr val="FFFFFF"/>
          </a:solidFill>
          <a:ln xmlns:a="http://schemas.openxmlformats.org/drawingml/2006/main" w="9525">
            <a:solidFill>
              <a:srgbClr val="C9D0C7"/>
            </a:solidFill>
            <a:prstDash val="solid"/>
          </a:ln>
        </p:spPr>
      </p:sp>
      <p:sp>
        <p:nvSpPr>
          <p:cNvPr id="5" name="">
            <a:extLst xmlns:a="http://schemas.openxmlformats.org/drawingml/2006/main">
              <a:ext uri="{FF2B5EF4-FFF2-40B4-BE49-F238E27FC236}">
                <a16:creationId xmlns:a16="http://schemas.microsoft.com/office/drawing/2014/main" id="{EE8AAE2E-8059-4D2E-A9B3-C0450D876FD3}"/>
              </a:ext>
            </a:extLst>
          </p:cNvPr>
          <p:cNvSpPr>
            <a:spLocks xmlns:a="http://schemas.openxmlformats.org/drawingml/2006/main" noGrp="1"/>
          </p:cNvSpPr>
          <p:nvPr/>
        </p:nvSpPr>
        <p:spPr>
          <a:xfrm xmlns:a="http://schemas.openxmlformats.org/drawingml/2006/main">
            <a:off x="685800" y="1790700"/>
            <a:ext cx="66675" cy="1619250"/>
          </a:xfrm>
          <a:prstGeom xmlns:a="http://schemas.openxmlformats.org/drawingml/2006/main" prst="rect">
            <a:avLst/>
          </a:prstGeom>
          <a:solidFill xmlns:a="http://schemas.openxmlformats.org/drawingml/2006/main">
            <a:srgbClr val="315D7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1927C09-7050-4410-BA89-BC64FFA553F5}"/>
              </a:ext>
            </a:extLst>
          </p:cNvPr>
          <p:cNvSpPr>
            <a:spLocks xmlns:a="http://schemas.openxmlformats.org/drawingml/2006/main" noGrp="1"/>
          </p:cNvSpPr>
          <p:nvPr/>
        </p:nvSpPr>
        <p:spPr>
          <a:xfrm xmlns:a="http://schemas.openxmlformats.org/drawingml/2006/main">
            <a:off x="895350" y="1962150"/>
            <a:ext cx="4591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500" b="1">
                <a:solidFill>
                  <a:srgbClr val="17201D"/>
                </a:solidFill>
                <a:latin typeface="Aptos"/>
                <a:ea typeface="Aptos"/>
                <a:cs typeface="Aptos"/>
              </a:defRPr>
            </a:pPr>
            <a:r>
              <a:rPr sz="1500" b="1">
                <a:solidFill>
                  <a:srgbClr val="17201D"/>
                </a:solidFill>
                <a:latin typeface="Aptos"/>
                <a:ea typeface="Aptos"/>
                <a:cs typeface="Aptos"/>
              </a:rPr>
              <a:t>Woodgrove context</a:t>
            </a:r>
          </a:p>
        </p:txBody>
      </p:sp>
      <p:sp>
        <p:nvSpPr>
          <p:cNvPr id="7" name="">
            <a:extLst xmlns:a="http://schemas.openxmlformats.org/drawingml/2006/main">
              <a:ext uri="{FF2B5EF4-FFF2-40B4-BE49-F238E27FC236}">
                <a16:creationId xmlns:a16="http://schemas.microsoft.com/office/drawing/2014/main" id="{E78C5582-8341-4308-9B23-1AA630E218F2}"/>
              </a:ext>
            </a:extLst>
          </p:cNvPr>
          <p:cNvSpPr>
            <a:spLocks xmlns:a="http://schemas.openxmlformats.org/drawingml/2006/main" noGrp="1"/>
          </p:cNvSpPr>
          <p:nvPr/>
        </p:nvSpPr>
        <p:spPr>
          <a:xfrm xmlns:a="http://schemas.openxmlformats.org/drawingml/2006/main">
            <a:off x="895350" y="2324100"/>
            <a:ext cx="4591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2000"/>
              </a:lnSpc>
              <a:buNone/>
              <a:defRPr sz="1275" b="0">
                <a:solidFill>
                  <a:srgbClr val="5F6B64"/>
                </a:solidFill>
                <a:latin typeface="Aptos"/>
                <a:ea typeface="Aptos"/>
                <a:cs typeface="Aptos"/>
              </a:defRPr>
            </a:pPr>
            <a:r>
              <a:rPr sz="1275" b="0">
                <a:solidFill>
                  <a:srgbClr val="5F6B64"/>
                </a:solidFill>
                <a:latin typeface="Aptos"/>
                <a:ea typeface="Aptos"/>
                <a:cs typeface="Aptos"/>
              </a:rPr>
              <a:t>Advanced process control already uses fuzzy rules, controller states, alarms, model outputs and operator actions. The hard part is explaining why a process changed without hiding uncertainty.</a:t>
            </a:r>
          </a:p>
        </p:txBody>
      </p:sp>
      <p:sp>
        <p:nvSpPr>
          <p:cNvPr id="8" name="">
            <a:extLst xmlns:a="http://schemas.openxmlformats.org/drawingml/2006/main">
              <a:ext uri="{FF2B5EF4-FFF2-40B4-BE49-F238E27FC236}">
                <a16:creationId xmlns:a16="http://schemas.microsoft.com/office/drawing/2014/main" id="{82E58E55-E742-45A6-B3C4-A67FA58E75EB}"/>
              </a:ext>
            </a:extLst>
          </p:cNvPr>
          <p:cNvSpPr>
            <a:spLocks xmlns:a="http://schemas.openxmlformats.org/drawingml/2006/main" noGrp="1"/>
          </p:cNvSpPr>
          <p:nvPr/>
        </p:nvSpPr>
        <p:spPr>
          <a:xfrm xmlns:a="http://schemas.openxmlformats.org/drawingml/2006/main">
            <a:off x="6553200" y="1790700"/>
            <a:ext cx="4953000" cy="1619250"/>
          </a:xfrm>
          <a:prstGeom xmlns:a="http://schemas.openxmlformats.org/drawingml/2006/main" prst="roundRect">
            <a:avLst>
              <a:gd name="adj" fmla="val 4706"/>
            </a:avLst>
          </a:prstGeom>
          <a:solidFill xmlns:a="http://schemas.openxmlformats.org/drawingml/2006/main">
            <a:srgbClr val="FFFFFF"/>
          </a:solidFill>
          <a:ln xmlns:a="http://schemas.openxmlformats.org/drawingml/2006/main" w="9525">
            <a:solidFill>
              <a:srgbClr val="C9D0C7"/>
            </a:solidFill>
            <a:prstDash val="solid"/>
          </a:ln>
        </p:spPr>
      </p:sp>
      <p:sp>
        <p:nvSpPr>
          <p:cNvPr id="9" name="">
            <a:extLst xmlns:a="http://schemas.openxmlformats.org/drawingml/2006/main">
              <a:ext uri="{FF2B5EF4-FFF2-40B4-BE49-F238E27FC236}">
                <a16:creationId xmlns:a16="http://schemas.microsoft.com/office/drawing/2014/main" id="{BD1B1D1E-3EFF-400D-8477-17DE95706804}"/>
              </a:ext>
            </a:extLst>
          </p:cNvPr>
          <p:cNvSpPr>
            <a:spLocks xmlns:a="http://schemas.openxmlformats.org/drawingml/2006/main" noGrp="1"/>
          </p:cNvSpPr>
          <p:nvPr/>
        </p:nvSpPr>
        <p:spPr>
          <a:xfrm xmlns:a="http://schemas.openxmlformats.org/drawingml/2006/main">
            <a:off x="6553200" y="1790700"/>
            <a:ext cx="66675" cy="1619250"/>
          </a:xfrm>
          <a:prstGeom xmlns:a="http://schemas.openxmlformats.org/drawingml/2006/main" prst="rect">
            <a:avLst/>
          </a:prstGeom>
          <a:solidFill xmlns:a="http://schemas.openxmlformats.org/drawingml/2006/main">
            <a:srgbClr val="1F8A5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9F04D67-1926-4E17-884A-718F7ACE8E90}"/>
              </a:ext>
            </a:extLst>
          </p:cNvPr>
          <p:cNvSpPr>
            <a:spLocks xmlns:a="http://schemas.openxmlformats.org/drawingml/2006/main" noGrp="1"/>
          </p:cNvSpPr>
          <p:nvPr/>
        </p:nvSpPr>
        <p:spPr>
          <a:xfrm xmlns:a="http://schemas.openxmlformats.org/drawingml/2006/main">
            <a:off x="6762750" y="1962150"/>
            <a:ext cx="4591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500" b="1">
                <a:solidFill>
                  <a:srgbClr val="17201D"/>
                </a:solidFill>
                <a:latin typeface="Aptos"/>
                <a:ea typeface="Aptos"/>
                <a:cs typeface="Aptos"/>
              </a:defRPr>
            </a:pPr>
            <a:r>
              <a:rPr sz="1500" b="1">
                <a:solidFill>
                  <a:srgbClr val="17201D"/>
                </a:solidFill>
                <a:latin typeface="Aptos"/>
                <a:ea typeface="Aptos"/>
                <a:cs typeface="Aptos"/>
              </a:rPr>
              <a:t>Motherlode stand-in</a:t>
            </a:r>
          </a:p>
        </p:txBody>
      </p:sp>
      <p:sp>
        <p:nvSpPr>
          <p:cNvPr id="11" name="">
            <a:extLst xmlns:a="http://schemas.openxmlformats.org/drawingml/2006/main">
              <a:ext uri="{FF2B5EF4-FFF2-40B4-BE49-F238E27FC236}">
                <a16:creationId xmlns:a16="http://schemas.microsoft.com/office/drawing/2014/main" id="{83FE5186-6BBE-46F2-84B8-41CAE90D4C22}"/>
              </a:ext>
            </a:extLst>
          </p:cNvPr>
          <p:cNvSpPr>
            <a:spLocks xmlns:a="http://schemas.openxmlformats.org/drawingml/2006/main" noGrp="1"/>
          </p:cNvSpPr>
          <p:nvPr/>
        </p:nvSpPr>
        <p:spPr>
          <a:xfrm xmlns:a="http://schemas.openxmlformats.org/drawingml/2006/main">
            <a:off x="6762750" y="2324100"/>
            <a:ext cx="4591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2000"/>
              </a:lnSpc>
              <a:buNone/>
              <a:defRPr sz="1275" b="0">
                <a:solidFill>
                  <a:srgbClr val="5F6B64"/>
                </a:solidFill>
                <a:latin typeface="Aptos"/>
                <a:ea typeface="Aptos"/>
                <a:cs typeface="Aptos"/>
              </a:defRPr>
            </a:pPr>
            <a:r>
              <a:rPr sz="1275" b="0">
                <a:solidFill>
                  <a:srgbClr val="5F6B64"/>
                </a:solidFill>
                <a:latin typeface="Aptos"/>
                <a:ea typeface="Aptos"/>
                <a:cs typeface="Aptos"/>
              </a:rPr>
              <a:t>The simulated valley produces prices, trades, loans, mining output, hunger, rule firings and Overseer interventions. The narrator has to explain what changed, why it probably changed and what evidence supports that claim.</a:t>
            </a:r>
          </a:p>
        </p:txBody>
      </p:sp>
      <p:sp>
        <p:nvSpPr>
          <p:cNvPr id="12" name="">
            <a:extLst xmlns:a="http://schemas.openxmlformats.org/drawingml/2006/main">
              <a:ext uri="{FF2B5EF4-FFF2-40B4-BE49-F238E27FC236}">
                <a16:creationId xmlns:a16="http://schemas.microsoft.com/office/drawing/2014/main" id="{D73C7243-21FF-4D58-9207-0AB3A9789CAD}"/>
              </a:ext>
            </a:extLst>
          </p:cNvPr>
          <p:cNvSpPr>
            <a:spLocks xmlns:a="http://schemas.openxmlformats.org/drawingml/2006/main" noGrp="1"/>
          </p:cNvSpPr>
          <p:nvPr/>
        </p:nvSpPr>
        <p:spPr>
          <a:xfrm xmlns:a="http://schemas.openxmlformats.org/drawingml/2006/main">
            <a:off x="1847850" y="4038600"/>
            <a:ext cx="8496300" cy="1123950"/>
          </a:xfrm>
          <a:prstGeom xmlns:a="http://schemas.openxmlformats.org/drawingml/2006/main" prst="roundRect">
            <a:avLst>
              <a:gd name="adj" fmla="val 6780"/>
            </a:avLst>
          </a:prstGeom>
          <a:solidFill xmlns:a="http://schemas.openxmlformats.org/drawingml/2006/main">
            <a:srgbClr val="FFFDF8"/>
          </a:solidFill>
          <a:ln xmlns:a="http://schemas.openxmlformats.org/drawingml/2006/main" w="9525">
            <a:solidFill>
              <a:srgbClr val="C9D0C7"/>
            </a:solidFill>
            <a:prstDash val="solid"/>
          </a:ln>
        </p:spPr>
      </p:sp>
      <p:sp>
        <p:nvSpPr>
          <p:cNvPr id="13" name="">
            <a:extLst xmlns:a="http://schemas.openxmlformats.org/drawingml/2006/main">
              <a:ext uri="{FF2B5EF4-FFF2-40B4-BE49-F238E27FC236}">
                <a16:creationId xmlns:a16="http://schemas.microsoft.com/office/drawing/2014/main" id="{A63AA522-76E1-4F2E-A63E-CAB3600355D2}"/>
              </a:ext>
            </a:extLst>
          </p:cNvPr>
          <p:cNvSpPr>
            <a:spLocks xmlns:a="http://schemas.openxmlformats.org/drawingml/2006/main" noGrp="1"/>
          </p:cNvSpPr>
          <p:nvPr/>
        </p:nvSpPr>
        <p:spPr>
          <a:xfrm xmlns:a="http://schemas.openxmlformats.org/drawingml/2006/main">
            <a:off x="1847850" y="4038600"/>
            <a:ext cx="66675" cy="1123950"/>
          </a:xfrm>
          <a:prstGeom xmlns:a="http://schemas.openxmlformats.org/drawingml/2006/main" prst="rect">
            <a:avLst/>
          </a:prstGeom>
          <a:solidFill xmlns:a="http://schemas.openxmlformats.org/drawingml/2006/main">
            <a:srgbClr val="B96E3A"/>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19E7FED-9F02-49E7-A123-20E3A6325C9F}"/>
              </a:ext>
            </a:extLst>
          </p:cNvPr>
          <p:cNvSpPr>
            <a:spLocks xmlns:a="http://schemas.openxmlformats.org/drawingml/2006/main" noGrp="1"/>
          </p:cNvSpPr>
          <p:nvPr/>
        </p:nvSpPr>
        <p:spPr>
          <a:xfrm xmlns:a="http://schemas.openxmlformats.org/drawingml/2006/main">
            <a:off x="2057400" y="4210050"/>
            <a:ext cx="813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500" b="1">
                <a:solidFill>
                  <a:srgbClr val="17201D"/>
                </a:solidFill>
                <a:latin typeface="Aptos"/>
                <a:ea typeface="Aptos"/>
                <a:cs typeface="Aptos"/>
              </a:defRPr>
            </a:pPr>
            <a:r>
              <a:rPr sz="1500" b="1">
                <a:solidFill>
                  <a:srgbClr val="17201D"/>
                </a:solidFill>
                <a:latin typeface="Aptos"/>
                <a:ea typeface="Aptos"/>
                <a:cs typeface="Aptos"/>
              </a:rPr>
              <a:t>Why this is useful now</a:t>
            </a:r>
          </a:p>
        </p:txBody>
      </p:sp>
      <p:sp>
        <p:nvSpPr>
          <p:cNvPr id="15" name="">
            <a:extLst xmlns:a="http://schemas.openxmlformats.org/drawingml/2006/main">
              <a:ext uri="{FF2B5EF4-FFF2-40B4-BE49-F238E27FC236}">
                <a16:creationId xmlns:a16="http://schemas.microsoft.com/office/drawing/2014/main" id="{9719CDCC-173D-4668-B3D9-2A857C3303BB}"/>
              </a:ext>
            </a:extLst>
          </p:cNvPr>
          <p:cNvSpPr>
            <a:spLocks xmlns:a="http://schemas.openxmlformats.org/drawingml/2006/main" noGrp="1"/>
          </p:cNvSpPr>
          <p:nvPr/>
        </p:nvSpPr>
        <p:spPr>
          <a:xfrm xmlns:a="http://schemas.openxmlformats.org/drawingml/2006/main">
            <a:off x="2057400" y="457200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2000"/>
              </a:lnSpc>
              <a:buNone/>
              <a:defRPr sz="1275" b="0">
                <a:solidFill>
                  <a:srgbClr val="5F6B64"/>
                </a:solidFill>
                <a:latin typeface="Aptos"/>
                <a:ea typeface="Aptos"/>
                <a:cs typeface="Aptos"/>
              </a:defRPr>
            </a:pPr>
            <a:r>
              <a:rPr sz="1275" b="0">
                <a:solidFill>
                  <a:srgbClr val="5F6B64"/>
                </a:solidFill>
                <a:latin typeface="Aptos"/>
                <a:ea typeface="Aptos"/>
                <a:cs typeface="Aptos"/>
              </a:rPr>
              <a:t>We do not need a real concentrator to test the explanation layer. A seeded simulation gives the same data shape plus ground truth, so the team can measure whether explanations match the actual cause.</a:t>
            </a:r>
          </a:p>
        </p:txBody>
      </p:sp>
      <p:sp>
        <p:nvSpPr>
          <p:cNvPr id="16" name="">
            <a:extLst xmlns:a="http://schemas.openxmlformats.org/drawingml/2006/main">
              <a:ext uri="{FF2B5EF4-FFF2-40B4-BE49-F238E27FC236}">
                <a16:creationId xmlns:a16="http://schemas.microsoft.com/office/drawing/2014/main" id="{5CDB642E-4515-4BFE-8A2B-301A9F94A1AC}"/>
              </a:ext>
            </a:extLst>
          </p:cNvPr>
          <p:cNvSpPr>
            <a:spLocks xmlns:a="http://schemas.openxmlformats.org/drawingml/2006/main" noGrp="1"/>
          </p:cNvSpPr>
          <p:nvPr/>
        </p:nvSpPr>
        <p:spPr>
          <a:xfrm xmlns:a="http://schemas.openxmlformats.org/drawingml/2006/main">
            <a:off x="609600" y="649605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7A827C"/>
                </a:solidFill>
                <a:latin typeface="Aptos"/>
                <a:ea typeface="Aptos"/>
                <a:cs typeface="Aptos"/>
              </a:defRPr>
            </a:pPr>
            <a:r>
              <a:rPr sz="900" b="0">
                <a:solidFill>
                  <a:srgbClr val="7A827C"/>
                </a:solidFill>
                <a:latin typeface="Aptos"/>
                <a:ea typeface="Aptos"/>
                <a:cs typeface="Aptos"/>
              </a:rPr>
              <a:t>Motherlode technical background for Woodgrove</a:t>
            </a:r>
          </a:p>
        </p:txBody>
      </p:sp>
      <p:sp>
        <p:nvSpPr>
          <p:cNvPr id="17" name="">
            <a:extLst xmlns:a="http://schemas.openxmlformats.org/drawingml/2006/main">
              <a:ext uri="{FF2B5EF4-FFF2-40B4-BE49-F238E27FC236}">
                <a16:creationId xmlns:a16="http://schemas.microsoft.com/office/drawing/2014/main" id="{42B3EC43-BDC8-4101-8025-07D1AF8EE5A6}"/>
              </a:ext>
            </a:extLst>
          </p:cNvPr>
          <p:cNvSpPr>
            <a:spLocks xmlns:a="http://schemas.openxmlformats.org/drawingml/2006/main" noGrp="1"/>
          </p:cNvSpPr>
          <p:nvPr/>
        </p:nvSpPr>
        <p:spPr>
          <a:xfrm xmlns:a="http://schemas.openxmlformats.org/drawingml/2006/main">
            <a:off x="11201400" y="64960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lnSpc>
                <a:spcPct val="108000"/>
              </a:lnSpc>
              <a:buNone/>
              <a:defRPr sz="900" b="0">
                <a:solidFill>
                  <a:srgbClr val="7A827C"/>
                </a:solidFill>
                <a:latin typeface="Aptos"/>
                <a:ea typeface="Aptos"/>
                <a:cs typeface="Aptos"/>
              </a:defRPr>
            </a:pPr>
            <a:r>
              <a:rPr sz="900" b="0">
                <a:solidFill>
                  <a:srgbClr val="7A827C"/>
                </a:solidFill>
                <a:latin typeface="Aptos"/>
                <a:ea typeface="Aptos"/>
                <a:cs typeface="Aptos"/>
              </a:rPr>
              <a:t>02</a:t>
            </a:r>
          </a:p>
        </p:txBody>
      </p:sp>
    </p:spTree>
    <p:extLst>
      <p:ext uri="{BB962C8B-B14F-4D97-AF65-F5344CB8AC3E}">
        <p14:creationId xmlns:p14="http://schemas.microsoft.com/office/powerpoint/2010/main" val="721442814"/>
      </p:ext>
    </p:extLst>
  </p:cSld>
</p:sld>
</file>

<file path=ppt/slides/slide3.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BA589F5B-9365-493B-9809-8A7E436EC4AE}"/>
              </a:ext>
            </a:extLst>
          </p:cNvPr>
          <p:cNvSpPr>
            <a:spLocks xmlns:a="http://schemas.openxmlformats.org/drawingml/2006/main" noGrp="1"/>
          </p:cNvSpPr>
          <p:nvPr/>
        </p:nvSpPr>
        <p:spPr>
          <a:xfrm xmlns:a="http://schemas.openxmlformats.org/drawingml/2006/main">
            <a:off x="609600" y="476250"/>
            <a:ext cx="723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550" b="1">
                <a:solidFill>
                  <a:srgbClr val="17201D"/>
                </a:solidFill>
                <a:latin typeface="Aptos"/>
                <a:ea typeface="Aptos"/>
                <a:cs typeface="Aptos"/>
              </a:defRPr>
            </a:pPr>
            <a:r>
              <a:rPr sz="2550" b="1">
                <a:solidFill>
                  <a:srgbClr val="17201D"/>
                </a:solidFill>
                <a:latin typeface="Aptos"/>
                <a:ea typeface="Aptos"/>
                <a:cs typeface="Aptos"/>
              </a:rPr>
              <a:t>AWARE-NG mapping</a:t>
            </a:r>
          </a:p>
        </p:txBody>
      </p:sp>
      <p:sp>
        <p:nvSpPr>
          <p:cNvPr id="2" name="">
            <a:extLst xmlns:a="http://schemas.openxmlformats.org/drawingml/2006/main">
              <a:ext uri="{FF2B5EF4-FFF2-40B4-BE49-F238E27FC236}">
                <a16:creationId xmlns:a16="http://schemas.microsoft.com/office/drawing/2014/main" id="{FB1DD1CB-E088-4E5C-A064-842BE04DD446}"/>
              </a:ext>
            </a:extLst>
          </p:cNvPr>
          <p:cNvSpPr>
            <a:spLocks xmlns:a="http://schemas.openxmlformats.org/drawingml/2006/main" noGrp="1"/>
          </p:cNvSpPr>
          <p:nvPr/>
        </p:nvSpPr>
        <p:spPr>
          <a:xfrm xmlns:a="http://schemas.openxmlformats.org/drawingml/2006/main">
            <a:off x="609600" y="942975"/>
            <a:ext cx="885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350" b="0">
                <a:solidFill>
                  <a:srgbClr val="5F6B64"/>
                </a:solidFill>
                <a:latin typeface="Aptos"/>
                <a:ea typeface="Aptos"/>
                <a:cs typeface="Aptos"/>
              </a:defRPr>
            </a:pPr>
            <a:r>
              <a:rPr sz="1350" b="0">
                <a:solidFill>
                  <a:srgbClr val="5F6B64"/>
                </a:solidFill>
                <a:latin typeface="Aptos"/>
                <a:ea typeface="Aptos"/>
                <a:cs typeface="Aptos"/>
              </a:rPr>
              <a:t>The project keeps the important technical shape, not the literal plant.</a:t>
            </a:r>
          </a:p>
        </p:txBody>
      </p:sp>
      <p:sp>
        <p:nvSpPr>
          <p:cNvPr id="3" name="">
            <a:extLst xmlns:a="http://schemas.openxmlformats.org/drawingml/2006/main">
              <a:ext uri="{FF2B5EF4-FFF2-40B4-BE49-F238E27FC236}">
                <a16:creationId xmlns:a16="http://schemas.microsoft.com/office/drawing/2014/main" id="{2895DE5E-05D5-4553-A73F-B0E1F5F975CC}"/>
              </a:ext>
            </a:extLst>
          </p:cNvPr>
          <p:cNvSpPr>
            <a:spLocks xmlns:a="http://schemas.openxmlformats.org/drawingml/2006/main" noGrp="1"/>
          </p:cNvSpPr>
          <p:nvPr/>
        </p:nvSpPr>
        <p:spPr>
          <a:xfrm xmlns:a="http://schemas.openxmlformats.org/drawingml/2006/main">
            <a:off x="609600" y="1352550"/>
            <a:ext cx="1524000" cy="0"/>
          </a:xfrm>
          <a:prstGeom xmlns:a="http://schemas.openxmlformats.org/drawingml/2006/main" prst="line">
            <a:avLst/>
          </a:prstGeom>
          <a:ln xmlns:a="http://schemas.openxmlformats.org/drawingml/2006/main" w="38100">
            <a:solidFill>
              <a:srgbClr val="1F8A5B"/>
            </a:solidFill>
            <a:prstDash val="solid"/>
          </a:ln>
        </p:spPr>
      </p:sp>
      <p:sp>
        <p:nvSpPr>
          <p:cNvPr id="4" name="">
            <a:extLst xmlns:a="http://schemas.openxmlformats.org/drawingml/2006/main">
              <a:ext uri="{FF2B5EF4-FFF2-40B4-BE49-F238E27FC236}">
                <a16:creationId xmlns:a16="http://schemas.microsoft.com/office/drawing/2014/main" id="{98C44538-6CAF-46AA-93F2-5E7269C39F9C}"/>
              </a:ext>
            </a:extLst>
          </p:cNvPr>
          <p:cNvSpPr>
            <a:spLocks xmlns:a="http://schemas.openxmlformats.org/drawingml/2006/main" noGrp="1"/>
          </p:cNvSpPr>
          <p:nvPr/>
        </p:nvSpPr>
        <p:spPr>
          <a:xfrm xmlns:a="http://schemas.openxmlformats.org/drawingml/2006/main">
            <a:off x="819150" y="1752600"/>
            <a:ext cx="323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425" b="1">
                <a:solidFill>
                  <a:srgbClr val="315D7C"/>
                </a:solidFill>
                <a:latin typeface="Aptos"/>
                <a:ea typeface="Aptos"/>
                <a:cs typeface="Aptos"/>
              </a:defRPr>
            </a:pPr>
            <a:r>
              <a:rPr sz="1425" b="1">
                <a:solidFill>
                  <a:srgbClr val="315D7C"/>
                </a:solidFill>
                <a:latin typeface="Aptos"/>
                <a:ea typeface="Aptos"/>
                <a:cs typeface="Aptos"/>
              </a:rPr>
              <a:t>Plant process variables</a:t>
            </a:r>
          </a:p>
        </p:txBody>
      </p:sp>
      <p:sp>
        <p:nvSpPr>
          <p:cNvPr id="5" name="">
            <a:extLst xmlns:a="http://schemas.openxmlformats.org/drawingml/2006/main">
              <a:ext uri="{FF2B5EF4-FFF2-40B4-BE49-F238E27FC236}">
                <a16:creationId xmlns:a16="http://schemas.microsoft.com/office/drawing/2014/main" id="{CF287E54-FD30-4DBC-B910-432800CA9D2C}"/>
              </a:ext>
            </a:extLst>
          </p:cNvPr>
          <p:cNvSpPr>
            <a:spLocks xmlns:a="http://schemas.openxmlformats.org/drawingml/2006/main" noGrp="1"/>
          </p:cNvSpPr>
          <p:nvPr/>
        </p:nvSpPr>
        <p:spPr>
          <a:xfrm xmlns:a="http://schemas.openxmlformats.org/drawingml/2006/main">
            <a:off x="4762500" y="1752600"/>
            <a:ext cx="552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425" b="0">
                <a:solidFill>
                  <a:srgbClr val="17201D"/>
                </a:solidFill>
                <a:latin typeface="Aptos"/>
                <a:ea typeface="Aptos"/>
                <a:cs typeface="Aptos"/>
              </a:defRPr>
            </a:pPr>
            <a:r>
              <a:rPr sz="1425" b="0">
                <a:solidFill>
                  <a:srgbClr val="17201D"/>
                </a:solidFill>
                <a:latin typeface="Aptos"/>
                <a:ea typeface="Aptos"/>
                <a:cs typeface="Aptos"/>
              </a:rPr>
              <a:t>Prices, output, hunger, debt, activity share</a:t>
            </a:r>
          </a:p>
        </p:txBody>
      </p:sp>
      <p:sp>
        <p:nvSpPr>
          <p:cNvPr id="6" name="">
            <a:extLst xmlns:a="http://schemas.openxmlformats.org/drawingml/2006/main">
              <a:ext uri="{FF2B5EF4-FFF2-40B4-BE49-F238E27FC236}">
                <a16:creationId xmlns:a16="http://schemas.microsoft.com/office/drawing/2014/main" id="{2540A1B3-BF0C-47EC-8231-4BBFFBB01690}"/>
              </a:ext>
            </a:extLst>
          </p:cNvPr>
          <p:cNvSpPr>
            <a:spLocks xmlns:a="http://schemas.openxmlformats.org/drawingml/2006/main" noGrp="1"/>
          </p:cNvSpPr>
          <p:nvPr/>
        </p:nvSpPr>
        <p:spPr>
          <a:xfrm xmlns:a="http://schemas.openxmlformats.org/drawingml/2006/main">
            <a:off x="4095750" y="1905000"/>
            <a:ext cx="438150" cy="0"/>
          </a:xfrm>
          <a:prstGeom xmlns:a="http://schemas.openxmlformats.org/drawingml/2006/main" prst="line">
            <a:avLst/>
          </a:prstGeom>
          <a:ln xmlns:a="http://schemas.openxmlformats.org/drawingml/2006/main" w="19050">
            <a:solidFill>
              <a:srgbClr val="B96E3A"/>
            </a:solidFill>
            <a:prstDash val="solid"/>
          </a:ln>
        </p:spPr>
      </p:sp>
      <p:sp>
        <p:nvSpPr>
          <p:cNvPr id="7" name="">
            <a:extLst xmlns:a="http://schemas.openxmlformats.org/drawingml/2006/main">
              <a:ext uri="{FF2B5EF4-FFF2-40B4-BE49-F238E27FC236}">
                <a16:creationId xmlns:a16="http://schemas.microsoft.com/office/drawing/2014/main" id="{7D03FF29-FF04-4CD2-B3ED-D99B6D88CECA}"/>
              </a:ext>
            </a:extLst>
          </p:cNvPr>
          <p:cNvSpPr>
            <a:spLocks xmlns:a="http://schemas.openxmlformats.org/drawingml/2006/main" noGrp="1"/>
          </p:cNvSpPr>
          <p:nvPr/>
        </p:nvSpPr>
        <p:spPr>
          <a:xfrm xmlns:a="http://schemas.openxmlformats.org/drawingml/2006/main">
            <a:off x="819150" y="2247900"/>
            <a:ext cx="10001250" cy="0"/>
          </a:xfrm>
          <a:prstGeom xmlns:a="http://schemas.openxmlformats.org/drawingml/2006/main" prst="line">
            <a:avLst/>
          </a:prstGeom>
          <a:ln xmlns:a="http://schemas.openxmlformats.org/drawingml/2006/main" w="9525">
            <a:solidFill>
              <a:srgbClr val="DFE3DE"/>
            </a:solidFill>
            <a:prstDash val="solid"/>
          </a:ln>
        </p:spPr>
      </p:sp>
      <p:sp>
        <p:nvSpPr>
          <p:cNvPr id="8" name="">
            <a:extLst xmlns:a="http://schemas.openxmlformats.org/drawingml/2006/main">
              <a:ext uri="{FF2B5EF4-FFF2-40B4-BE49-F238E27FC236}">
                <a16:creationId xmlns:a16="http://schemas.microsoft.com/office/drawing/2014/main" id="{F5DD0906-283F-488B-81F9-BA5B681A8D7E}"/>
              </a:ext>
            </a:extLst>
          </p:cNvPr>
          <p:cNvSpPr>
            <a:spLocks xmlns:a="http://schemas.openxmlformats.org/drawingml/2006/main" noGrp="1"/>
          </p:cNvSpPr>
          <p:nvPr/>
        </p:nvSpPr>
        <p:spPr>
          <a:xfrm xmlns:a="http://schemas.openxmlformats.org/drawingml/2006/main">
            <a:off x="819150" y="2533650"/>
            <a:ext cx="323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425" b="1">
                <a:solidFill>
                  <a:srgbClr val="315D7C"/>
                </a:solidFill>
                <a:latin typeface="Aptos"/>
                <a:ea typeface="Aptos"/>
                <a:cs typeface="Aptos"/>
              </a:defRPr>
            </a:pPr>
            <a:r>
              <a:rPr sz="1425" b="1">
                <a:solidFill>
                  <a:srgbClr val="315D7C"/>
                </a:solidFill>
                <a:latin typeface="Aptos"/>
                <a:ea typeface="Aptos"/>
                <a:cs typeface="Aptos"/>
              </a:rPr>
              <a:t>Fuzzy controllers and rules</a:t>
            </a:r>
          </a:p>
        </p:txBody>
      </p:sp>
      <p:sp>
        <p:nvSpPr>
          <p:cNvPr id="9" name="">
            <a:extLst xmlns:a="http://schemas.openxmlformats.org/drawingml/2006/main">
              <a:ext uri="{FF2B5EF4-FFF2-40B4-BE49-F238E27FC236}">
                <a16:creationId xmlns:a16="http://schemas.microsoft.com/office/drawing/2014/main" id="{A33EE558-210F-4FAF-A8F2-B937607F56AC}"/>
              </a:ext>
            </a:extLst>
          </p:cNvPr>
          <p:cNvSpPr>
            <a:spLocks xmlns:a="http://schemas.openxmlformats.org/drawingml/2006/main" noGrp="1"/>
          </p:cNvSpPr>
          <p:nvPr/>
        </p:nvSpPr>
        <p:spPr>
          <a:xfrm xmlns:a="http://schemas.openxmlformats.org/drawingml/2006/main">
            <a:off x="4762500" y="2533650"/>
            <a:ext cx="552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425" b="0">
                <a:solidFill>
                  <a:srgbClr val="17201D"/>
                </a:solidFill>
                <a:latin typeface="Aptos"/>
                <a:ea typeface="Aptos"/>
                <a:cs typeface="Aptos"/>
              </a:defRPr>
            </a:pPr>
            <a:r>
              <a:rPr sz="1425" b="0">
                <a:solidFill>
                  <a:srgbClr val="17201D"/>
                </a:solidFill>
                <a:latin typeface="Aptos"/>
                <a:ea typeface="Aptos"/>
                <a:cs typeface="Aptos"/>
              </a:rPr>
              <a:t>Fuzzy miner brains and decision traces</a:t>
            </a:r>
          </a:p>
        </p:txBody>
      </p:sp>
      <p:sp>
        <p:nvSpPr>
          <p:cNvPr id="10" name="">
            <a:extLst xmlns:a="http://schemas.openxmlformats.org/drawingml/2006/main">
              <a:ext uri="{FF2B5EF4-FFF2-40B4-BE49-F238E27FC236}">
                <a16:creationId xmlns:a16="http://schemas.microsoft.com/office/drawing/2014/main" id="{91CAE5CB-CE73-49E5-9194-BC2BDAD29A68}"/>
              </a:ext>
            </a:extLst>
          </p:cNvPr>
          <p:cNvSpPr>
            <a:spLocks xmlns:a="http://schemas.openxmlformats.org/drawingml/2006/main" noGrp="1"/>
          </p:cNvSpPr>
          <p:nvPr/>
        </p:nvSpPr>
        <p:spPr>
          <a:xfrm xmlns:a="http://schemas.openxmlformats.org/drawingml/2006/main">
            <a:off x="4095750" y="2686050"/>
            <a:ext cx="438150" cy="0"/>
          </a:xfrm>
          <a:prstGeom xmlns:a="http://schemas.openxmlformats.org/drawingml/2006/main" prst="line">
            <a:avLst/>
          </a:prstGeom>
          <a:ln xmlns:a="http://schemas.openxmlformats.org/drawingml/2006/main" w="19050">
            <a:solidFill>
              <a:srgbClr val="B96E3A"/>
            </a:solidFill>
            <a:prstDash val="solid"/>
          </a:ln>
        </p:spPr>
      </p:sp>
      <p:sp>
        <p:nvSpPr>
          <p:cNvPr id="11" name="">
            <a:extLst xmlns:a="http://schemas.openxmlformats.org/drawingml/2006/main">
              <a:ext uri="{FF2B5EF4-FFF2-40B4-BE49-F238E27FC236}">
                <a16:creationId xmlns:a16="http://schemas.microsoft.com/office/drawing/2014/main" id="{4559A3D4-81F6-4552-95C5-4570A8FECED8}"/>
              </a:ext>
            </a:extLst>
          </p:cNvPr>
          <p:cNvSpPr>
            <a:spLocks xmlns:a="http://schemas.openxmlformats.org/drawingml/2006/main" noGrp="1"/>
          </p:cNvSpPr>
          <p:nvPr/>
        </p:nvSpPr>
        <p:spPr>
          <a:xfrm xmlns:a="http://schemas.openxmlformats.org/drawingml/2006/main">
            <a:off x="819150" y="3028950"/>
            <a:ext cx="10001250" cy="0"/>
          </a:xfrm>
          <a:prstGeom xmlns:a="http://schemas.openxmlformats.org/drawingml/2006/main" prst="line">
            <a:avLst/>
          </a:prstGeom>
          <a:ln xmlns:a="http://schemas.openxmlformats.org/drawingml/2006/main" w="9525">
            <a:solidFill>
              <a:srgbClr val="DFE3DE"/>
            </a:solidFill>
            <a:prstDash val="solid"/>
          </a:ln>
        </p:spPr>
      </p:sp>
      <p:sp>
        <p:nvSpPr>
          <p:cNvPr id="12" name="">
            <a:extLst xmlns:a="http://schemas.openxmlformats.org/drawingml/2006/main">
              <a:ext uri="{FF2B5EF4-FFF2-40B4-BE49-F238E27FC236}">
                <a16:creationId xmlns:a16="http://schemas.microsoft.com/office/drawing/2014/main" id="{D2D48F38-8832-4E3E-A6AC-517CFF9F34FF}"/>
              </a:ext>
            </a:extLst>
          </p:cNvPr>
          <p:cNvSpPr>
            <a:spLocks xmlns:a="http://schemas.openxmlformats.org/drawingml/2006/main" noGrp="1"/>
          </p:cNvSpPr>
          <p:nvPr/>
        </p:nvSpPr>
        <p:spPr>
          <a:xfrm xmlns:a="http://schemas.openxmlformats.org/drawingml/2006/main">
            <a:off x="819150" y="3314700"/>
            <a:ext cx="323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425" b="1">
                <a:solidFill>
                  <a:srgbClr val="315D7C"/>
                </a:solidFill>
                <a:latin typeface="Aptos"/>
                <a:ea typeface="Aptos"/>
                <a:cs typeface="Aptos"/>
              </a:defRPr>
            </a:pPr>
            <a:r>
              <a:rPr sz="1425" b="1">
                <a:solidFill>
                  <a:srgbClr val="315D7C"/>
                </a:solidFill>
                <a:latin typeface="Aptos"/>
                <a:ea typeface="Aptos"/>
                <a:cs typeface="Aptos"/>
              </a:rPr>
              <a:t>Controller actions and alarms</a:t>
            </a:r>
          </a:p>
        </p:txBody>
      </p:sp>
      <p:sp>
        <p:nvSpPr>
          <p:cNvPr id="13" name="">
            <a:extLst xmlns:a="http://schemas.openxmlformats.org/drawingml/2006/main">
              <a:ext uri="{FF2B5EF4-FFF2-40B4-BE49-F238E27FC236}">
                <a16:creationId xmlns:a16="http://schemas.microsoft.com/office/drawing/2014/main" id="{810B3910-C575-400C-B43E-978C176A6E25}"/>
              </a:ext>
            </a:extLst>
          </p:cNvPr>
          <p:cNvSpPr>
            <a:spLocks xmlns:a="http://schemas.openxmlformats.org/drawingml/2006/main" noGrp="1"/>
          </p:cNvSpPr>
          <p:nvPr/>
        </p:nvSpPr>
        <p:spPr>
          <a:xfrm xmlns:a="http://schemas.openxmlformats.org/drawingml/2006/main">
            <a:off x="4762500" y="3314700"/>
            <a:ext cx="552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425" b="0">
                <a:solidFill>
                  <a:srgbClr val="17201D"/>
                </a:solidFill>
                <a:latin typeface="Aptos"/>
                <a:ea typeface="Aptos"/>
                <a:cs typeface="Aptos"/>
              </a:defRPr>
            </a:pPr>
            <a:r>
              <a:rPr sz="1425" b="0">
                <a:solidFill>
                  <a:srgbClr val="17201D"/>
                </a:solidFill>
                <a:latin typeface="Aptos"/>
                <a:ea typeface="Aptos"/>
                <a:cs typeface="Aptos"/>
              </a:rPr>
              <a:t>Overseer dials, world events and warnings</a:t>
            </a:r>
          </a:p>
        </p:txBody>
      </p:sp>
      <p:sp>
        <p:nvSpPr>
          <p:cNvPr id="14" name="">
            <a:extLst xmlns:a="http://schemas.openxmlformats.org/drawingml/2006/main">
              <a:ext uri="{FF2B5EF4-FFF2-40B4-BE49-F238E27FC236}">
                <a16:creationId xmlns:a16="http://schemas.microsoft.com/office/drawing/2014/main" id="{EA4BB714-0BA0-464C-AA40-137AF091D15D}"/>
              </a:ext>
            </a:extLst>
          </p:cNvPr>
          <p:cNvSpPr>
            <a:spLocks xmlns:a="http://schemas.openxmlformats.org/drawingml/2006/main" noGrp="1"/>
          </p:cNvSpPr>
          <p:nvPr/>
        </p:nvSpPr>
        <p:spPr>
          <a:xfrm xmlns:a="http://schemas.openxmlformats.org/drawingml/2006/main">
            <a:off x="4095750" y="3467100"/>
            <a:ext cx="438150" cy="0"/>
          </a:xfrm>
          <a:prstGeom xmlns:a="http://schemas.openxmlformats.org/drawingml/2006/main" prst="line">
            <a:avLst/>
          </a:prstGeom>
          <a:ln xmlns:a="http://schemas.openxmlformats.org/drawingml/2006/main" w="19050">
            <a:solidFill>
              <a:srgbClr val="B96E3A"/>
            </a:solidFill>
            <a:prstDash val="solid"/>
          </a:ln>
        </p:spPr>
      </p:sp>
      <p:sp>
        <p:nvSpPr>
          <p:cNvPr id="15" name="">
            <a:extLst xmlns:a="http://schemas.openxmlformats.org/drawingml/2006/main">
              <a:ext uri="{FF2B5EF4-FFF2-40B4-BE49-F238E27FC236}">
                <a16:creationId xmlns:a16="http://schemas.microsoft.com/office/drawing/2014/main" id="{C1D354F1-6605-4ABD-A36C-C3833D698030}"/>
              </a:ext>
            </a:extLst>
          </p:cNvPr>
          <p:cNvSpPr>
            <a:spLocks xmlns:a="http://schemas.openxmlformats.org/drawingml/2006/main" noGrp="1"/>
          </p:cNvSpPr>
          <p:nvPr/>
        </p:nvSpPr>
        <p:spPr>
          <a:xfrm xmlns:a="http://schemas.openxmlformats.org/drawingml/2006/main">
            <a:off x="819150" y="3810000"/>
            <a:ext cx="10001250" cy="0"/>
          </a:xfrm>
          <a:prstGeom xmlns:a="http://schemas.openxmlformats.org/drawingml/2006/main" prst="line">
            <a:avLst/>
          </a:prstGeom>
          <a:ln xmlns:a="http://schemas.openxmlformats.org/drawingml/2006/main" w="9525">
            <a:solidFill>
              <a:srgbClr val="DFE3DE"/>
            </a:solidFill>
            <a:prstDash val="solid"/>
          </a:ln>
        </p:spPr>
      </p:sp>
      <p:sp>
        <p:nvSpPr>
          <p:cNvPr id="16" name="">
            <a:extLst xmlns:a="http://schemas.openxmlformats.org/drawingml/2006/main">
              <a:ext uri="{FF2B5EF4-FFF2-40B4-BE49-F238E27FC236}">
                <a16:creationId xmlns:a16="http://schemas.microsoft.com/office/drawing/2014/main" id="{0A898CDE-6F72-4B02-A481-0160FE47286F}"/>
              </a:ext>
            </a:extLst>
          </p:cNvPr>
          <p:cNvSpPr>
            <a:spLocks xmlns:a="http://schemas.openxmlformats.org/drawingml/2006/main" noGrp="1"/>
          </p:cNvSpPr>
          <p:nvPr/>
        </p:nvSpPr>
        <p:spPr>
          <a:xfrm xmlns:a="http://schemas.openxmlformats.org/drawingml/2006/main">
            <a:off x="819150" y="4095750"/>
            <a:ext cx="323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425" b="1">
                <a:solidFill>
                  <a:srgbClr val="315D7C"/>
                </a:solidFill>
                <a:latin typeface="Aptos"/>
                <a:ea typeface="Aptos"/>
                <a:cs typeface="Aptos"/>
              </a:defRPr>
            </a:pPr>
            <a:r>
              <a:rPr sz="1425" b="1">
                <a:solidFill>
                  <a:srgbClr val="315D7C"/>
                </a:solidFill>
                <a:latin typeface="Aptos"/>
                <a:ea typeface="Aptos"/>
                <a:cs typeface="Aptos"/>
              </a:rPr>
              <a:t>Operator decision point</a:t>
            </a:r>
          </a:p>
        </p:txBody>
      </p:sp>
      <p:sp>
        <p:nvSpPr>
          <p:cNvPr id="17" name="">
            <a:extLst xmlns:a="http://schemas.openxmlformats.org/drawingml/2006/main">
              <a:ext uri="{FF2B5EF4-FFF2-40B4-BE49-F238E27FC236}">
                <a16:creationId xmlns:a16="http://schemas.microsoft.com/office/drawing/2014/main" id="{ABAB6479-9411-4E4D-AF5D-5A8E90DE56FB}"/>
              </a:ext>
            </a:extLst>
          </p:cNvPr>
          <p:cNvSpPr>
            <a:spLocks xmlns:a="http://schemas.openxmlformats.org/drawingml/2006/main" noGrp="1"/>
          </p:cNvSpPr>
          <p:nvPr/>
        </p:nvSpPr>
        <p:spPr>
          <a:xfrm xmlns:a="http://schemas.openxmlformats.org/drawingml/2006/main">
            <a:off x="4762500" y="4095750"/>
            <a:ext cx="552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425" b="0">
                <a:solidFill>
                  <a:srgbClr val="17201D"/>
                </a:solidFill>
                <a:latin typeface="Aptos"/>
                <a:ea typeface="Aptos"/>
                <a:cs typeface="Aptos"/>
              </a:defRPr>
            </a:pPr>
            <a:r>
              <a:rPr sz="1425" b="0">
                <a:solidFill>
                  <a:srgbClr val="17201D"/>
                </a:solidFill>
                <a:latin typeface="Aptos"/>
                <a:ea typeface="Aptos"/>
                <a:cs typeface="Aptos"/>
              </a:rPr>
              <a:t>God view of the valley and intervention levers</a:t>
            </a:r>
          </a:p>
        </p:txBody>
      </p:sp>
      <p:sp>
        <p:nvSpPr>
          <p:cNvPr id="18" name="">
            <a:extLst xmlns:a="http://schemas.openxmlformats.org/drawingml/2006/main">
              <a:ext uri="{FF2B5EF4-FFF2-40B4-BE49-F238E27FC236}">
                <a16:creationId xmlns:a16="http://schemas.microsoft.com/office/drawing/2014/main" id="{54437A1C-3162-49DB-8D5B-989EB3DF9BA1}"/>
              </a:ext>
            </a:extLst>
          </p:cNvPr>
          <p:cNvSpPr>
            <a:spLocks xmlns:a="http://schemas.openxmlformats.org/drawingml/2006/main" noGrp="1"/>
          </p:cNvSpPr>
          <p:nvPr/>
        </p:nvSpPr>
        <p:spPr>
          <a:xfrm xmlns:a="http://schemas.openxmlformats.org/drawingml/2006/main">
            <a:off x="4095750" y="4248150"/>
            <a:ext cx="438150" cy="0"/>
          </a:xfrm>
          <a:prstGeom xmlns:a="http://schemas.openxmlformats.org/drawingml/2006/main" prst="line">
            <a:avLst/>
          </a:prstGeom>
          <a:ln xmlns:a="http://schemas.openxmlformats.org/drawingml/2006/main" w="19050">
            <a:solidFill>
              <a:srgbClr val="B96E3A"/>
            </a:solidFill>
            <a:prstDash val="solid"/>
          </a:ln>
        </p:spPr>
      </p:sp>
      <p:sp>
        <p:nvSpPr>
          <p:cNvPr id="19" name="">
            <a:extLst xmlns:a="http://schemas.openxmlformats.org/drawingml/2006/main">
              <a:ext uri="{FF2B5EF4-FFF2-40B4-BE49-F238E27FC236}">
                <a16:creationId xmlns:a16="http://schemas.microsoft.com/office/drawing/2014/main" id="{328A7019-F9BB-415F-B14D-FCF63347DB0D}"/>
              </a:ext>
            </a:extLst>
          </p:cNvPr>
          <p:cNvSpPr>
            <a:spLocks xmlns:a="http://schemas.openxmlformats.org/drawingml/2006/main" noGrp="1"/>
          </p:cNvSpPr>
          <p:nvPr/>
        </p:nvSpPr>
        <p:spPr>
          <a:xfrm xmlns:a="http://schemas.openxmlformats.org/drawingml/2006/main">
            <a:off x="819150" y="4591050"/>
            <a:ext cx="10001250" cy="0"/>
          </a:xfrm>
          <a:prstGeom xmlns:a="http://schemas.openxmlformats.org/drawingml/2006/main" prst="line">
            <a:avLst/>
          </a:prstGeom>
          <a:ln xmlns:a="http://schemas.openxmlformats.org/drawingml/2006/main" w="9525">
            <a:solidFill>
              <a:srgbClr val="DFE3DE"/>
            </a:solidFill>
            <a:prstDash val="solid"/>
          </a:ln>
        </p:spPr>
      </p:sp>
      <p:sp>
        <p:nvSpPr>
          <p:cNvPr id="20" name="">
            <a:extLst xmlns:a="http://schemas.openxmlformats.org/drawingml/2006/main">
              <a:ext uri="{FF2B5EF4-FFF2-40B4-BE49-F238E27FC236}">
                <a16:creationId xmlns:a16="http://schemas.microsoft.com/office/drawing/2014/main" id="{472AC212-8DC2-4085-AD21-85409750B8A6}"/>
              </a:ext>
            </a:extLst>
          </p:cNvPr>
          <p:cNvSpPr>
            <a:spLocks xmlns:a="http://schemas.openxmlformats.org/drawingml/2006/main" noGrp="1"/>
          </p:cNvSpPr>
          <p:nvPr/>
        </p:nvSpPr>
        <p:spPr>
          <a:xfrm xmlns:a="http://schemas.openxmlformats.org/drawingml/2006/main">
            <a:off x="819150" y="4876800"/>
            <a:ext cx="323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425" b="1">
                <a:solidFill>
                  <a:srgbClr val="315D7C"/>
                </a:solidFill>
                <a:latin typeface="Aptos"/>
                <a:ea typeface="Aptos"/>
                <a:cs typeface="Aptos"/>
              </a:defRPr>
            </a:pPr>
            <a:r>
              <a:rPr sz="1425" b="1">
                <a:solidFill>
                  <a:srgbClr val="315D7C"/>
                </a:solidFill>
                <a:latin typeface="Aptos"/>
                <a:ea typeface="Aptos"/>
                <a:cs typeface="Aptos"/>
              </a:rPr>
              <a:t>Need for evidence</a:t>
            </a:r>
          </a:p>
        </p:txBody>
      </p:sp>
      <p:sp>
        <p:nvSpPr>
          <p:cNvPr id="21" name="">
            <a:extLst xmlns:a="http://schemas.openxmlformats.org/drawingml/2006/main">
              <a:ext uri="{FF2B5EF4-FFF2-40B4-BE49-F238E27FC236}">
                <a16:creationId xmlns:a16="http://schemas.microsoft.com/office/drawing/2014/main" id="{4A61F113-A65C-41E6-ADED-BF26E0DEEBA5}"/>
              </a:ext>
            </a:extLst>
          </p:cNvPr>
          <p:cNvSpPr>
            <a:spLocks xmlns:a="http://schemas.openxmlformats.org/drawingml/2006/main" noGrp="1"/>
          </p:cNvSpPr>
          <p:nvPr/>
        </p:nvSpPr>
        <p:spPr>
          <a:xfrm xmlns:a="http://schemas.openxmlformats.org/drawingml/2006/main">
            <a:off x="4762500" y="4876800"/>
            <a:ext cx="552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425" b="0">
                <a:solidFill>
                  <a:srgbClr val="17201D"/>
                </a:solidFill>
                <a:latin typeface="Aptos"/>
                <a:ea typeface="Aptos"/>
                <a:cs typeface="Aptos"/>
              </a:defRPr>
            </a:pPr>
            <a:r>
              <a:rPr sz="1425" b="0">
                <a:solidFill>
                  <a:srgbClr val="17201D"/>
                </a:solidFill>
                <a:latin typeface="Aptos"/>
                <a:ea typeface="Aptos"/>
                <a:cs typeface="Aptos"/>
              </a:rPr>
              <a:t>Narrator cards with observed, inferred and uncertain claims</a:t>
            </a:r>
          </a:p>
        </p:txBody>
      </p:sp>
      <p:sp>
        <p:nvSpPr>
          <p:cNvPr id="22" name="">
            <a:extLst xmlns:a="http://schemas.openxmlformats.org/drawingml/2006/main">
              <a:ext uri="{FF2B5EF4-FFF2-40B4-BE49-F238E27FC236}">
                <a16:creationId xmlns:a16="http://schemas.microsoft.com/office/drawing/2014/main" id="{354E2B78-92B6-4242-AF14-EF881B14B167}"/>
              </a:ext>
            </a:extLst>
          </p:cNvPr>
          <p:cNvSpPr>
            <a:spLocks xmlns:a="http://schemas.openxmlformats.org/drawingml/2006/main" noGrp="1"/>
          </p:cNvSpPr>
          <p:nvPr/>
        </p:nvSpPr>
        <p:spPr>
          <a:xfrm xmlns:a="http://schemas.openxmlformats.org/drawingml/2006/main">
            <a:off x="4095750" y="5029200"/>
            <a:ext cx="438150" cy="0"/>
          </a:xfrm>
          <a:prstGeom xmlns:a="http://schemas.openxmlformats.org/drawingml/2006/main" prst="line">
            <a:avLst/>
          </a:prstGeom>
          <a:ln xmlns:a="http://schemas.openxmlformats.org/drawingml/2006/main" w="19050">
            <a:solidFill>
              <a:srgbClr val="B96E3A"/>
            </a:solidFill>
            <a:prstDash val="solid"/>
          </a:ln>
        </p:spPr>
      </p:sp>
      <p:sp>
        <p:nvSpPr>
          <p:cNvPr id="23" name="">
            <a:extLst xmlns:a="http://schemas.openxmlformats.org/drawingml/2006/main">
              <a:ext uri="{FF2B5EF4-FFF2-40B4-BE49-F238E27FC236}">
                <a16:creationId xmlns:a16="http://schemas.microsoft.com/office/drawing/2014/main" id="{1C3FB51D-7ECE-44F0-9CEC-DF5D66F22A67}"/>
              </a:ext>
            </a:extLst>
          </p:cNvPr>
          <p:cNvSpPr>
            <a:spLocks xmlns:a="http://schemas.openxmlformats.org/drawingml/2006/main" noGrp="1"/>
          </p:cNvSpPr>
          <p:nvPr/>
        </p:nvSpPr>
        <p:spPr>
          <a:xfrm xmlns:a="http://schemas.openxmlformats.org/drawingml/2006/main">
            <a:off x="819150" y="5772150"/>
            <a:ext cx="9239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350" b="0">
                <a:solidFill>
                  <a:srgbClr val="5F6B64"/>
                </a:solidFill>
                <a:latin typeface="Aptos"/>
                <a:ea typeface="Aptos"/>
                <a:cs typeface="Aptos"/>
              </a:defRPr>
            </a:pPr>
            <a:r>
              <a:rPr sz="1350" b="0">
                <a:solidFill>
                  <a:srgbClr val="5F6B64"/>
                </a:solidFill>
                <a:latin typeface="Aptos"/>
                <a:ea typeface="Aptos"/>
                <a:cs typeface="Aptos"/>
              </a:rPr>
              <a:t>Woodgrove can judge the architecture without waiting for full plant integration: the same explanation contract works over live simulation data today and process data later.</a:t>
            </a:r>
          </a:p>
        </p:txBody>
      </p:sp>
      <p:sp>
        <p:nvSpPr>
          <p:cNvPr id="24" name="">
            <a:extLst xmlns:a="http://schemas.openxmlformats.org/drawingml/2006/main">
              <a:ext uri="{FF2B5EF4-FFF2-40B4-BE49-F238E27FC236}">
                <a16:creationId xmlns:a16="http://schemas.microsoft.com/office/drawing/2014/main" id="{F55B1411-A294-4B31-B14C-EE569B5388C2}"/>
              </a:ext>
            </a:extLst>
          </p:cNvPr>
          <p:cNvSpPr>
            <a:spLocks xmlns:a="http://schemas.openxmlformats.org/drawingml/2006/main" noGrp="1"/>
          </p:cNvSpPr>
          <p:nvPr/>
        </p:nvSpPr>
        <p:spPr>
          <a:xfrm xmlns:a="http://schemas.openxmlformats.org/drawingml/2006/main">
            <a:off x="609600" y="649605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7A827C"/>
                </a:solidFill>
                <a:latin typeface="Aptos"/>
                <a:ea typeface="Aptos"/>
                <a:cs typeface="Aptos"/>
              </a:defRPr>
            </a:pPr>
            <a:r>
              <a:rPr sz="900" b="0">
                <a:solidFill>
                  <a:srgbClr val="7A827C"/>
                </a:solidFill>
                <a:latin typeface="Aptos"/>
                <a:ea typeface="Aptos"/>
                <a:cs typeface="Aptos"/>
              </a:rPr>
              <a:t>Motherlode technical background for Woodgrove</a:t>
            </a:r>
          </a:p>
        </p:txBody>
      </p:sp>
      <p:sp>
        <p:nvSpPr>
          <p:cNvPr id="25" name="">
            <a:extLst xmlns:a="http://schemas.openxmlformats.org/drawingml/2006/main">
              <a:ext uri="{FF2B5EF4-FFF2-40B4-BE49-F238E27FC236}">
                <a16:creationId xmlns:a16="http://schemas.microsoft.com/office/drawing/2014/main" id="{E01A57C6-1E8D-4F4B-BC02-CF5F1628A14D}"/>
              </a:ext>
            </a:extLst>
          </p:cNvPr>
          <p:cNvSpPr>
            <a:spLocks xmlns:a="http://schemas.openxmlformats.org/drawingml/2006/main" noGrp="1"/>
          </p:cNvSpPr>
          <p:nvPr/>
        </p:nvSpPr>
        <p:spPr>
          <a:xfrm xmlns:a="http://schemas.openxmlformats.org/drawingml/2006/main">
            <a:off x="11201400" y="64960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lnSpc>
                <a:spcPct val="108000"/>
              </a:lnSpc>
              <a:buNone/>
              <a:defRPr sz="900" b="0">
                <a:solidFill>
                  <a:srgbClr val="7A827C"/>
                </a:solidFill>
                <a:latin typeface="Aptos"/>
                <a:ea typeface="Aptos"/>
                <a:cs typeface="Aptos"/>
              </a:defRPr>
            </a:pPr>
            <a:r>
              <a:rPr sz="900" b="0">
                <a:solidFill>
                  <a:srgbClr val="7A827C"/>
                </a:solidFill>
                <a:latin typeface="Aptos"/>
                <a:ea typeface="Aptos"/>
                <a:cs typeface="Aptos"/>
              </a:rPr>
              <a:t>03</a:t>
            </a:r>
          </a:p>
        </p:txBody>
      </p:sp>
    </p:spTree>
    <p:extLst>
      <p:ext uri="{BB962C8B-B14F-4D97-AF65-F5344CB8AC3E}">
        <p14:creationId xmlns:p14="http://schemas.microsoft.com/office/powerpoint/2010/main" val="2104155958"/>
      </p:ext>
    </p:extLst>
  </p:cSld>
</p:sld>
</file>

<file path=ppt/slides/slide4.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1389F70D-2BC4-4E3A-A99F-4DA253F7FC7B}"/>
              </a:ext>
            </a:extLst>
          </p:cNvPr>
          <p:cNvSpPr>
            <a:spLocks xmlns:a="http://schemas.openxmlformats.org/drawingml/2006/main" noGrp="1"/>
          </p:cNvSpPr>
          <p:nvPr/>
        </p:nvSpPr>
        <p:spPr>
          <a:xfrm xmlns:a="http://schemas.openxmlformats.org/drawingml/2006/main">
            <a:off x="609600" y="476250"/>
            <a:ext cx="723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550" b="1">
                <a:solidFill>
                  <a:srgbClr val="17201D"/>
                </a:solidFill>
                <a:latin typeface="Aptos"/>
                <a:ea typeface="Aptos"/>
                <a:cs typeface="Aptos"/>
              </a:defRPr>
            </a:pPr>
            <a:r>
              <a:rPr sz="2550" b="1">
                <a:solidFill>
                  <a:srgbClr val="17201D"/>
                </a:solidFill>
                <a:latin typeface="Aptos"/>
                <a:ea typeface="Aptos"/>
                <a:cs typeface="Aptos"/>
              </a:rPr>
              <a:t>Temporal data layer</a:t>
            </a:r>
          </a:p>
        </p:txBody>
      </p:sp>
      <p:sp>
        <p:nvSpPr>
          <p:cNvPr id="2" name="">
            <a:extLst xmlns:a="http://schemas.openxmlformats.org/drawingml/2006/main">
              <a:ext uri="{FF2B5EF4-FFF2-40B4-BE49-F238E27FC236}">
                <a16:creationId xmlns:a16="http://schemas.microsoft.com/office/drawing/2014/main" id="{927C448D-77D3-4316-8D42-5DFC7DD25BD9}"/>
              </a:ext>
            </a:extLst>
          </p:cNvPr>
          <p:cNvSpPr>
            <a:spLocks xmlns:a="http://schemas.openxmlformats.org/drawingml/2006/main" noGrp="1"/>
          </p:cNvSpPr>
          <p:nvPr/>
        </p:nvSpPr>
        <p:spPr>
          <a:xfrm xmlns:a="http://schemas.openxmlformats.org/drawingml/2006/main">
            <a:off x="609600" y="942975"/>
            <a:ext cx="885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350" b="0">
                <a:solidFill>
                  <a:srgbClr val="5F6B64"/>
                </a:solidFill>
                <a:latin typeface="Aptos"/>
                <a:ea typeface="Aptos"/>
                <a:cs typeface="Aptos"/>
              </a:defRPr>
            </a:pPr>
            <a:r>
              <a:rPr sz="1350" b="0">
                <a:solidFill>
                  <a:srgbClr val="5F6B64"/>
                </a:solidFill>
                <a:latin typeface="Aptos"/>
                <a:ea typeface="Aptos"/>
                <a:cs typeface="Aptos"/>
              </a:rPr>
              <a:t>Every shift becomes a timestamped record the narrator can compare against history.</a:t>
            </a:r>
          </a:p>
        </p:txBody>
      </p:sp>
      <p:sp>
        <p:nvSpPr>
          <p:cNvPr id="3" name="">
            <a:extLst xmlns:a="http://schemas.openxmlformats.org/drawingml/2006/main">
              <a:ext uri="{FF2B5EF4-FFF2-40B4-BE49-F238E27FC236}">
                <a16:creationId xmlns:a16="http://schemas.microsoft.com/office/drawing/2014/main" id="{8FC2489E-32A5-4B3E-9CA0-D08A56FD6957}"/>
              </a:ext>
            </a:extLst>
          </p:cNvPr>
          <p:cNvSpPr>
            <a:spLocks xmlns:a="http://schemas.openxmlformats.org/drawingml/2006/main" noGrp="1"/>
          </p:cNvSpPr>
          <p:nvPr/>
        </p:nvSpPr>
        <p:spPr>
          <a:xfrm xmlns:a="http://schemas.openxmlformats.org/drawingml/2006/main">
            <a:off x="609600" y="1352550"/>
            <a:ext cx="1524000" cy="0"/>
          </a:xfrm>
          <a:prstGeom xmlns:a="http://schemas.openxmlformats.org/drawingml/2006/main" prst="line">
            <a:avLst/>
          </a:prstGeom>
          <a:ln xmlns:a="http://schemas.openxmlformats.org/drawingml/2006/main" w="38100">
            <a:solidFill>
              <a:srgbClr val="1F8A5B"/>
            </a:solidFill>
            <a:prstDash val="solid"/>
          </a:ln>
        </p:spPr>
      </p:sp>
      <p:sp>
        <p:nvSpPr>
          <p:cNvPr id="4" name="">
            <a:extLst xmlns:a="http://schemas.openxmlformats.org/drawingml/2006/main">
              <a:ext uri="{FF2B5EF4-FFF2-40B4-BE49-F238E27FC236}">
                <a16:creationId xmlns:a16="http://schemas.microsoft.com/office/drawing/2014/main" id="{473B0FEB-8F59-402D-B540-7A2DB8C94B71}"/>
              </a:ext>
            </a:extLst>
          </p:cNvPr>
          <p:cNvSpPr>
            <a:spLocks xmlns:a="http://schemas.openxmlformats.org/drawingml/2006/main" noGrp="1"/>
          </p:cNvSpPr>
          <p:nvPr/>
        </p:nvSpPr>
        <p:spPr>
          <a:xfrm xmlns:a="http://schemas.openxmlformats.org/drawingml/2006/main">
            <a:off x="704850" y="1695450"/>
            <a:ext cx="2381250" cy="1619250"/>
          </a:xfrm>
          <a:prstGeom xmlns:a="http://schemas.openxmlformats.org/drawingml/2006/main" prst="roundRect">
            <a:avLst>
              <a:gd name="adj" fmla="val 4706"/>
            </a:avLst>
          </a:prstGeom>
          <a:solidFill xmlns:a="http://schemas.openxmlformats.org/drawingml/2006/main">
            <a:srgbClr val="FFFFFF"/>
          </a:solidFill>
          <a:ln xmlns:a="http://schemas.openxmlformats.org/drawingml/2006/main" w="9525">
            <a:solidFill>
              <a:srgbClr val="C9D0C7"/>
            </a:solidFill>
            <a:prstDash val="solid"/>
          </a:ln>
        </p:spPr>
      </p:sp>
      <p:sp>
        <p:nvSpPr>
          <p:cNvPr id="5" name="">
            <a:extLst xmlns:a="http://schemas.openxmlformats.org/drawingml/2006/main">
              <a:ext uri="{FF2B5EF4-FFF2-40B4-BE49-F238E27FC236}">
                <a16:creationId xmlns:a16="http://schemas.microsoft.com/office/drawing/2014/main" id="{63E21568-3A18-43FD-952D-A2B6B2994D4E}"/>
              </a:ext>
            </a:extLst>
          </p:cNvPr>
          <p:cNvSpPr>
            <a:spLocks xmlns:a="http://schemas.openxmlformats.org/drawingml/2006/main" noGrp="1"/>
          </p:cNvSpPr>
          <p:nvPr/>
        </p:nvSpPr>
        <p:spPr>
          <a:xfrm xmlns:a="http://schemas.openxmlformats.org/drawingml/2006/main">
            <a:off x="704850" y="1695450"/>
            <a:ext cx="66675" cy="1619250"/>
          </a:xfrm>
          <a:prstGeom xmlns:a="http://schemas.openxmlformats.org/drawingml/2006/main" prst="rect">
            <a:avLst/>
          </a:prstGeom>
          <a:solidFill xmlns:a="http://schemas.openxmlformats.org/drawingml/2006/main">
            <a:srgbClr val="1F8A5B"/>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D6FEFAD-183B-4EC9-9A48-82ADB0A1B43E}"/>
              </a:ext>
            </a:extLst>
          </p:cNvPr>
          <p:cNvSpPr>
            <a:spLocks xmlns:a="http://schemas.openxmlformats.org/drawingml/2006/main" noGrp="1"/>
          </p:cNvSpPr>
          <p:nvPr/>
        </p:nvSpPr>
        <p:spPr>
          <a:xfrm xmlns:a="http://schemas.openxmlformats.org/drawingml/2006/main">
            <a:off x="914400" y="1866900"/>
            <a:ext cx="201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500" b="1">
                <a:solidFill>
                  <a:srgbClr val="17201D"/>
                </a:solidFill>
                <a:latin typeface="Aptos"/>
                <a:ea typeface="Aptos"/>
                <a:cs typeface="Aptos"/>
              </a:defRPr>
            </a:pPr>
            <a:r>
              <a:rPr sz="1500" b="1">
                <a:solidFill>
                  <a:srgbClr val="17201D"/>
                </a:solidFill>
                <a:latin typeface="Aptos"/>
                <a:ea typeface="Aptos"/>
                <a:cs typeface="Aptos"/>
              </a:rPr>
              <a:t>RoundSnapshot</a:t>
            </a:r>
          </a:p>
        </p:txBody>
      </p:sp>
      <p:sp>
        <p:nvSpPr>
          <p:cNvPr id="7" name="">
            <a:extLst xmlns:a="http://schemas.openxmlformats.org/drawingml/2006/main">
              <a:ext uri="{FF2B5EF4-FFF2-40B4-BE49-F238E27FC236}">
                <a16:creationId xmlns:a16="http://schemas.microsoft.com/office/drawing/2014/main" id="{142467BD-119C-465B-BB05-80293B8071CE}"/>
              </a:ext>
            </a:extLst>
          </p:cNvPr>
          <p:cNvSpPr>
            <a:spLocks xmlns:a="http://schemas.openxmlformats.org/drawingml/2006/main" noGrp="1"/>
          </p:cNvSpPr>
          <p:nvPr/>
        </p:nvSpPr>
        <p:spPr>
          <a:xfrm xmlns:a="http://schemas.openxmlformats.org/drawingml/2006/main">
            <a:off x="914400" y="2228850"/>
            <a:ext cx="2019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2000"/>
              </a:lnSpc>
              <a:buNone/>
              <a:defRPr sz="1275" b="0">
                <a:solidFill>
                  <a:srgbClr val="5F6B64"/>
                </a:solidFill>
                <a:latin typeface="Aptos"/>
                <a:ea typeface="Aptos"/>
                <a:cs typeface="Aptos"/>
              </a:defRPr>
            </a:pPr>
            <a:r>
              <a:rPr sz="1275" b="0">
                <a:solidFill>
                  <a:srgbClr val="5F6B64"/>
                </a:solidFill>
                <a:latin typeface="Aptos"/>
                <a:ea typeface="Aptos"/>
                <a:cs typeface="Aptos"/>
              </a:rPr>
              <a:t>round number, watched metrics, notable events and optional rule-firing counts</a:t>
            </a:r>
          </a:p>
        </p:txBody>
      </p:sp>
      <p:sp>
        <p:nvSpPr>
          <p:cNvPr id="8" name="">
            <a:extLst xmlns:a="http://schemas.openxmlformats.org/drawingml/2006/main">
              <a:ext uri="{FF2B5EF4-FFF2-40B4-BE49-F238E27FC236}">
                <a16:creationId xmlns:a16="http://schemas.microsoft.com/office/drawing/2014/main" id="{D82A399B-328C-4C00-94F3-49AD8AAE0B2E}"/>
              </a:ext>
            </a:extLst>
          </p:cNvPr>
          <p:cNvSpPr>
            <a:spLocks xmlns:a="http://schemas.openxmlformats.org/drawingml/2006/main" noGrp="1"/>
          </p:cNvSpPr>
          <p:nvPr/>
        </p:nvSpPr>
        <p:spPr>
          <a:xfrm xmlns:a="http://schemas.openxmlformats.org/drawingml/2006/main">
            <a:off x="3505200" y="1695450"/>
            <a:ext cx="2381250" cy="1619250"/>
          </a:xfrm>
          <a:prstGeom xmlns:a="http://schemas.openxmlformats.org/drawingml/2006/main" prst="roundRect">
            <a:avLst>
              <a:gd name="adj" fmla="val 4706"/>
            </a:avLst>
          </a:prstGeom>
          <a:solidFill xmlns:a="http://schemas.openxmlformats.org/drawingml/2006/main">
            <a:srgbClr val="FFFDF8"/>
          </a:solidFill>
          <a:ln xmlns:a="http://schemas.openxmlformats.org/drawingml/2006/main" w="9525">
            <a:solidFill>
              <a:srgbClr val="C9D0C7"/>
            </a:solidFill>
            <a:prstDash val="solid"/>
          </a:ln>
        </p:spPr>
      </p:sp>
      <p:sp>
        <p:nvSpPr>
          <p:cNvPr id="9" name="">
            <a:extLst xmlns:a="http://schemas.openxmlformats.org/drawingml/2006/main">
              <a:ext uri="{FF2B5EF4-FFF2-40B4-BE49-F238E27FC236}">
                <a16:creationId xmlns:a16="http://schemas.microsoft.com/office/drawing/2014/main" id="{08DCF6C6-CBF6-4B19-A13D-9CCDE95B847A}"/>
              </a:ext>
            </a:extLst>
          </p:cNvPr>
          <p:cNvSpPr>
            <a:spLocks xmlns:a="http://schemas.openxmlformats.org/drawingml/2006/main" noGrp="1"/>
          </p:cNvSpPr>
          <p:nvPr/>
        </p:nvSpPr>
        <p:spPr>
          <a:xfrm xmlns:a="http://schemas.openxmlformats.org/drawingml/2006/main">
            <a:off x="3505200" y="1695450"/>
            <a:ext cx="66675" cy="1619250"/>
          </a:xfrm>
          <a:prstGeom xmlns:a="http://schemas.openxmlformats.org/drawingml/2006/main" prst="rect">
            <a:avLst/>
          </a:prstGeom>
          <a:solidFill xmlns:a="http://schemas.openxmlformats.org/drawingml/2006/main">
            <a:srgbClr val="315D7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7015DBE-DA18-4595-A146-0C6DB62D8D8B}"/>
              </a:ext>
            </a:extLst>
          </p:cNvPr>
          <p:cNvSpPr>
            <a:spLocks xmlns:a="http://schemas.openxmlformats.org/drawingml/2006/main" noGrp="1"/>
          </p:cNvSpPr>
          <p:nvPr/>
        </p:nvSpPr>
        <p:spPr>
          <a:xfrm xmlns:a="http://schemas.openxmlformats.org/drawingml/2006/main">
            <a:off x="3714750" y="1866900"/>
            <a:ext cx="201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500" b="1">
                <a:solidFill>
                  <a:srgbClr val="17201D"/>
                </a:solidFill>
                <a:latin typeface="Aptos"/>
                <a:ea typeface="Aptos"/>
                <a:cs typeface="Aptos"/>
              </a:defRPr>
            </a:pPr>
            <a:r>
              <a:rPr sz="1500" b="1">
                <a:solidFill>
                  <a:srgbClr val="17201D"/>
                </a:solidFill>
                <a:latin typeface="Aptos"/>
                <a:ea typeface="Aptos"/>
                <a:cs typeface="Aptos"/>
              </a:rPr>
              <a:t>Metrics</a:t>
            </a:r>
          </a:p>
        </p:txBody>
      </p:sp>
      <p:sp>
        <p:nvSpPr>
          <p:cNvPr id="11" name="">
            <a:extLst xmlns:a="http://schemas.openxmlformats.org/drawingml/2006/main">
              <a:ext uri="{FF2B5EF4-FFF2-40B4-BE49-F238E27FC236}">
                <a16:creationId xmlns:a16="http://schemas.microsoft.com/office/drawing/2014/main" id="{9A4B888E-4309-4076-85EB-E508268B7CC0}"/>
              </a:ext>
            </a:extLst>
          </p:cNvPr>
          <p:cNvSpPr>
            <a:spLocks xmlns:a="http://schemas.openxmlformats.org/drawingml/2006/main" noGrp="1"/>
          </p:cNvSpPr>
          <p:nvPr/>
        </p:nvSpPr>
        <p:spPr>
          <a:xfrm xmlns:a="http://schemas.openxmlformats.org/drawingml/2006/main">
            <a:off x="3714750" y="2228850"/>
            <a:ext cx="2019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2000"/>
              </a:lnSpc>
              <a:buNone/>
              <a:defRPr sz="1275" b="0">
                <a:solidFill>
                  <a:srgbClr val="5F6B64"/>
                </a:solidFill>
                <a:latin typeface="Aptos"/>
                <a:ea typeface="Aptos"/>
                <a:cs typeface="Aptos"/>
              </a:defRPr>
            </a:pPr>
            <a:r>
              <a:rPr sz="1275" b="0">
                <a:solidFill>
                  <a:srgbClr val="5F6B64"/>
                </a:solidFill>
                <a:latin typeface="Aptos"/>
                <a:ea typeface="Aptos"/>
                <a:cs typeface="Aptos"/>
              </a:rPr>
              <a:t>prices, outputs, population shares, well-being, money, debt and inequality</a:t>
            </a:r>
          </a:p>
        </p:txBody>
      </p:sp>
      <p:sp>
        <p:nvSpPr>
          <p:cNvPr id="12" name="">
            <a:extLst xmlns:a="http://schemas.openxmlformats.org/drawingml/2006/main">
              <a:ext uri="{FF2B5EF4-FFF2-40B4-BE49-F238E27FC236}">
                <a16:creationId xmlns:a16="http://schemas.microsoft.com/office/drawing/2014/main" id="{6B4B2BFC-66B9-4AAE-A35C-58527BD1B9F1}"/>
              </a:ext>
            </a:extLst>
          </p:cNvPr>
          <p:cNvSpPr>
            <a:spLocks xmlns:a="http://schemas.openxmlformats.org/drawingml/2006/main" noGrp="1"/>
          </p:cNvSpPr>
          <p:nvPr/>
        </p:nvSpPr>
        <p:spPr>
          <a:xfrm xmlns:a="http://schemas.openxmlformats.org/drawingml/2006/main">
            <a:off x="6305550" y="1695450"/>
            <a:ext cx="2381250" cy="1619250"/>
          </a:xfrm>
          <a:prstGeom xmlns:a="http://schemas.openxmlformats.org/drawingml/2006/main" prst="roundRect">
            <a:avLst>
              <a:gd name="adj" fmla="val 4706"/>
            </a:avLst>
          </a:prstGeom>
          <a:solidFill xmlns:a="http://schemas.openxmlformats.org/drawingml/2006/main">
            <a:srgbClr val="FFFFFF"/>
          </a:solidFill>
          <a:ln xmlns:a="http://schemas.openxmlformats.org/drawingml/2006/main" w="9525">
            <a:solidFill>
              <a:srgbClr val="C9D0C7"/>
            </a:solidFill>
            <a:prstDash val="solid"/>
          </a:ln>
        </p:spPr>
      </p:sp>
      <p:sp>
        <p:nvSpPr>
          <p:cNvPr id="13" name="">
            <a:extLst xmlns:a="http://schemas.openxmlformats.org/drawingml/2006/main">
              <a:ext uri="{FF2B5EF4-FFF2-40B4-BE49-F238E27FC236}">
                <a16:creationId xmlns:a16="http://schemas.microsoft.com/office/drawing/2014/main" id="{90AD54EA-A7D5-4DE2-8AA6-AC75451DDB06}"/>
              </a:ext>
            </a:extLst>
          </p:cNvPr>
          <p:cNvSpPr>
            <a:spLocks xmlns:a="http://schemas.openxmlformats.org/drawingml/2006/main" noGrp="1"/>
          </p:cNvSpPr>
          <p:nvPr/>
        </p:nvSpPr>
        <p:spPr>
          <a:xfrm xmlns:a="http://schemas.openxmlformats.org/drawingml/2006/main">
            <a:off x="6305550" y="1695450"/>
            <a:ext cx="66675" cy="1619250"/>
          </a:xfrm>
          <a:prstGeom xmlns:a="http://schemas.openxmlformats.org/drawingml/2006/main" prst="rect">
            <a:avLst/>
          </a:prstGeom>
          <a:solidFill xmlns:a="http://schemas.openxmlformats.org/drawingml/2006/main">
            <a:srgbClr val="B96E3A"/>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77FE312-8EF0-4A38-B805-91194A0F0E94}"/>
              </a:ext>
            </a:extLst>
          </p:cNvPr>
          <p:cNvSpPr>
            <a:spLocks xmlns:a="http://schemas.openxmlformats.org/drawingml/2006/main" noGrp="1"/>
          </p:cNvSpPr>
          <p:nvPr/>
        </p:nvSpPr>
        <p:spPr>
          <a:xfrm xmlns:a="http://schemas.openxmlformats.org/drawingml/2006/main">
            <a:off x="6515100" y="1866900"/>
            <a:ext cx="201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500" b="1">
                <a:solidFill>
                  <a:srgbClr val="17201D"/>
                </a:solidFill>
                <a:latin typeface="Aptos"/>
                <a:ea typeface="Aptos"/>
                <a:cs typeface="Aptos"/>
              </a:defRPr>
            </a:pPr>
            <a:r>
              <a:rPr sz="1500" b="1">
                <a:solidFill>
                  <a:srgbClr val="17201D"/>
                </a:solidFill>
                <a:latin typeface="Aptos"/>
                <a:ea typeface="Aptos"/>
                <a:cs typeface="Aptos"/>
              </a:rPr>
              <a:t>Events</a:t>
            </a:r>
          </a:p>
        </p:txBody>
      </p:sp>
      <p:sp>
        <p:nvSpPr>
          <p:cNvPr id="15" name="">
            <a:extLst xmlns:a="http://schemas.openxmlformats.org/drawingml/2006/main">
              <a:ext uri="{FF2B5EF4-FFF2-40B4-BE49-F238E27FC236}">
                <a16:creationId xmlns:a16="http://schemas.microsoft.com/office/drawing/2014/main" id="{4A796368-F0F6-4AA2-B084-D6EC8A1F36B6}"/>
              </a:ext>
            </a:extLst>
          </p:cNvPr>
          <p:cNvSpPr>
            <a:spLocks xmlns:a="http://schemas.openxmlformats.org/drawingml/2006/main" noGrp="1"/>
          </p:cNvSpPr>
          <p:nvPr/>
        </p:nvSpPr>
        <p:spPr>
          <a:xfrm xmlns:a="http://schemas.openxmlformats.org/drawingml/2006/main">
            <a:off x="6515100" y="2228850"/>
            <a:ext cx="2019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2000"/>
              </a:lnSpc>
              <a:buNone/>
              <a:defRPr sz="1275" b="0">
                <a:solidFill>
                  <a:srgbClr val="5F6B64"/>
                </a:solidFill>
                <a:latin typeface="Aptos"/>
                <a:ea typeface="Aptos"/>
                <a:cs typeface="Aptos"/>
              </a:defRPr>
            </a:pPr>
            <a:r>
              <a:rPr sz="1275" b="0">
                <a:solidFill>
                  <a:srgbClr val="5F6B64"/>
                </a:solidFill>
                <a:latin typeface="Aptos"/>
                <a:ea typeface="Aptos"/>
                <a:cs typeface="Aptos"/>
              </a:rPr>
              <a:t>gold rush, earthquake, forest fire, dials, credit freeze and other notable changes</a:t>
            </a:r>
          </a:p>
        </p:txBody>
      </p:sp>
      <p:sp>
        <p:nvSpPr>
          <p:cNvPr id="16" name="">
            <a:extLst xmlns:a="http://schemas.openxmlformats.org/drawingml/2006/main">
              <a:ext uri="{FF2B5EF4-FFF2-40B4-BE49-F238E27FC236}">
                <a16:creationId xmlns:a16="http://schemas.microsoft.com/office/drawing/2014/main" id="{65D0D3D6-8B61-4DF6-9A96-2417AD4F6172}"/>
              </a:ext>
            </a:extLst>
          </p:cNvPr>
          <p:cNvSpPr>
            <a:spLocks xmlns:a="http://schemas.openxmlformats.org/drawingml/2006/main" noGrp="1"/>
          </p:cNvSpPr>
          <p:nvPr/>
        </p:nvSpPr>
        <p:spPr>
          <a:xfrm xmlns:a="http://schemas.openxmlformats.org/drawingml/2006/main">
            <a:off x="9105900" y="1695450"/>
            <a:ext cx="2381250" cy="1619250"/>
          </a:xfrm>
          <a:prstGeom xmlns:a="http://schemas.openxmlformats.org/drawingml/2006/main" prst="roundRect">
            <a:avLst>
              <a:gd name="adj" fmla="val 4706"/>
            </a:avLst>
          </a:prstGeom>
          <a:solidFill xmlns:a="http://schemas.openxmlformats.org/drawingml/2006/main">
            <a:srgbClr val="FFFDF8"/>
          </a:solidFill>
          <a:ln xmlns:a="http://schemas.openxmlformats.org/drawingml/2006/main" w="9525">
            <a:solidFill>
              <a:srgbClr val="C9D0C7"/>
            </a:solidFill>
            <a:prstDash val="solid"/>
          </a:ln>
        </p:spPr>
      </p:sp>
      <p:sp>
        <p:nvSpPr>
          <p:cNvPr id="17" name="">
            <a:extLst xmlns:a="http://schemas.openxmlformats.org/drawingml/2006/main">
              <a:ext uri="{FF2B5EF4-FFF2-40B4-BE49-F238E27FC236}">
                <a16:creationId xmlns:a16="http://schemas.microsoft.com/office/drawing/2014/main" id="{23DCBCB1-67EF-4143-A6F2-71B004BC051A}"/>
              </a:ext>
            </a:extLst>
          </p:cNvPr>
          <p:cNvSpPr>
            <a:spLocks xmlns:a="http://schemas.openxmlformats.org/drawingml/2006/main" noGrp="1"/>
          </p:cNvSpPr>
          <p:nvPr/>
        </p:nvSpPr>
        <p:spPr>
          <a:xfrm xmlns:a="http://schemas.openxmlformats.org/drawingml/2006/main">
            <a:off x="9105900" y="1695450"/>
            <a:ext cx="66675" cy="1619250"/>
          </a:xfrm>
          <a:prstGeom xmlns:a="http://schemas.openxmlformats.org/drawingml/2006/main" prst="rect">
            <a:avLst/>
          </a:prstGeom>
          <a:solidFill xmlns:a="http://schemas.openxmlformats.org/drawingml/2006/main">
            <a:srgbClr val="0D4D36"/>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7DC1DA81-78C8-454F-A625-A68310435F5C}"/>
              </a:ext>
            </a:extLst>
          </p:cNvPr>
          <p:cNvSpPr>
            <a:spLocks xmlns:a="http://schemas.openxmlformats.org/drawingml/2006/main" noGrp="1"/>
          </p:cNvSpPr>
          <p:nvPr/>
        </p:nvSpPr>
        <p:spPr>
          <a:xfrm xmlns:a="http://schemas.openxmlformats.org/drawingml/2006/main">
            <a:off x="9315450" y="1866900"/>
            <a:ext cx="201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500" b="1">
                <a:solidFill>
                  <a:srgbClr val="17201D"/>
                </a:solidFill>
                <a:latin typeface="Aptos"/>
                <a:ea typeface="Aptos"/>
                <a:cs typeface="Aptos"/>
              </a:defRPr>
            </a:pPr>
            <a:r>
              <a:rPr sz="1500" b="1">
                <a:solidFill>
                  <a:srgbClr val="17201D"/>
                </a:solidFill>
                <a:latin typeface="Aptos"/>
                <a:ea typeface="Aptos"/>
                <a:cs typeface="Aptos"/>
              </a:rPr>
              <a:t>Rule firings</a:t>
            </a:r>
          </a:p>
        </p:txBody>
      </p:sp>
      <p:sp>
        <p:nvSpPr>
          <p:cNvPr id="19" name="">
            <a:extLst xmlns:a="http://schemas.openxmlformats.org/drawingml/2006/main">
              <a:ext uri="{FF2B5EF4-FFF2-40B4-BE49-F238E27FC236}">
                <a16:creationId xmlns:a16="http://schemas.microsoft.com/office/drawing/2014/main" id="{0232D1A3-D165-41AE-9663-D344E402C2D2}"/>
              </a:ext>
            </a:extLst>
          </p:cNvPr>
          <p:cNvSpPr>
            <a:spLocks xmlns:a="http://schemas.openxmlformats.org/drawingml/2006/main" noGrp="1"/>
          </p:cNvSpPr>
          <p:nvPr/>
        </p:nvSpPr>
        <p:spPr>
          <a:xfrm xmlns:a="http://schemas.openxmlformats.org/drawingml/2006/main">
            <a:off x="9315450" y="2228850"/>
            <a:ext cx="2019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2000"/>
              </a:lnSpc>
              <a:buNone/>
              <a:defRPr sz="1275" b="0">
                <a:solidFill>
                  <a:srgbClr val="5F6B64"/>
                </a:solidFill>
                <a:latin typeface="Aptos"/>
                <a:ea typeface="Aptos"/>
                <a:cs typeface="Aptos"/>
              </a:defRPr>
            </a:pPr>
            <a:r>
              <a:rPr sz="1275" b="0">
                <a:solidFill>
                  <a:srgbClr val="5F6B64"/>
                </a:solidFill>
                <a:latin typeface="Aptos"/>
                <a:ea typeface="Aptos"/>
                <a:cs typeface="Aptos"/>
              </a:rPr>
              <a:t>counts of miner rules that fired strongly enough to explain behavior</a:t>
            </a:r>
          </a:p>
        </p:txBody>
      </p:sp>
      <p:sp>
        <p:nvSpPr>
          <p:cNvPr id="20" name="">
            <a:extLst xmlns:a="http://schemas.openxmlformats.org/drawingml/2006/main">
              <a:ext uri="{FF2B5EF4-FFF2-40B4-BE49-F238E27FC236}">
                <a16:creationId xmlns:a16="http://schemas.microsoft.com/office/drawing/2014/main" id="{4953F020-30C5-4899-99F4-F8336E37E37B}"/>
              </a:ext>
            </a:extLst>
          </p:cNvPr>
          <p:cNvSpPr>
            <a:spLocks xmlns:a="http://schemas.openxmlformats.org/drawingml/2006/main" noGrp="1"/>
          </p:cNvSpPr>
          <p:nvPr/>
        </p:nvSpPr>
        <p:spPr>
          <a:xfrm xmlns:a="http://schemas.openxmlformats.org/drawingml/2006/main">
            <a:off x="857250" y="3981450"/>
            <a:ext cx="1038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00" b="1">
                <a:solidFill>
                  <a:srgbClr val="17201D"/>
                </a:solidFill>
                <a:latin typeface="Aptos"/>
                <a:ea typeface="Aptos"/>
                <a:cs typeface="Aptos"/>
              </a:defRPr>
            </a:pPr>
            <a:r>
              <a:rPr sz="1800" b="1">
                <a:solidFill>
                  <a:srgbClr val="17201D"/>
                </a:solidFill>
                <a:latin typeface="Aptos"/>
                <a:ea typeface="Aptos"/>
                <a:cs typeface="Aptos"/>
              </a:rPr>
              <a:t>The live adapter smooths noisy per-shift flows over four shifts, keeps a bounded history, and reruns the gate after rewinds so old cards do not survive a changed timeline.</a:t>
            </a:r>
          </a:p>
        </p:txBody>
      </p:sp>
      <p:sp>
        <p:nvSpPr>
          <p:cNvPr id="21" name="">
            <a:extLst xmlns:a="http://schemas.openxmlformats.org/drawingml/2006/main">
              <a:ext uri="{FF2B5EF4-FFF2-40B4-BE49-F238E27FC236}">
                <a16:creationId xmlns:a16="http://schemas.microsoft.com/office/drawing/2014/main" id="{41572300-3BFC-4349-BAC6-30699C685378}"/>
              </a:ext>
            </a:extLst>
          </p:cNvPr>
          <p:cNvSpPr>
            <a:spLocks xmlns:a="http://schemas.openxmlformats.org/drawingml/2006/main" noGrp="1"/>
          </p:cNvSpPr>
          <p:nvPr/>
        </p:nvSpPr>
        <p:spPr>
          <a:xfrm xmlns:a="http://schemas.openxmlformats.org/drawingml/2006/main">
            <a:off x="1104900" y="5143500"/>
            <a:ext cx="85725" cy="85725"/>
          </a:xfrm>
          <a:prstGeom xmlns:a="http://schemas.openxmlformats.org/drawingml/2006/main" prst="ellipse">
            <a:avLst/>
          </a:prstGeom>
          <a:solidFill xmlns:a="http://schemas.openxmlformats.org/drawingml/2006/main">
            <a:srgbClr val="B96E3A"/>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5E82C0E1-14D6-419A-A8F7-2D62C7827565}"/>
              </a:ext>
            </a:extLst>
          </p:cNvPr>
          <p:cNvSpPr>
            <a:spLocks xmlns:a="http://schemas.openxmlformats.org/drawingml/2006/main" noGrp="1"/>
          </p:cNvSpPr>
          <p:nvPr/>
        </p:nvSpPr>
        <p:spPr>
          <a:xfrm xmlns:a="http://schemas.openxmlformats.org/drawingml/2006/main">
            <a:off x="1314450" y="5067300"/>
            <a:ext cx="93154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350" b="0">
                <a:solidFill>
                  <a:srgbClr val="17201D"/>
                </a:solidFill>
                <a:latin typeface="Aptos"/>
                <a:ea typeface="Aptos"/>
                <a:cs typeface="Aptos"/>
              </a:defRPr>
            </a:pPr>
            <a:r>
              <a:rPr sz="1350" b="0">
                <a:solidFill>
                  <a:srgbClr val="17201D"/>
                </a:solidFill>
                <a:latin typeface="Aptos"/>
                <a:ea typeface="Aptos"/>
                <a:cs typeface="Aptos"/>
              </a:rPr>
              <a:t>A change has a start shift, current shift, baseline window and magnitude next to normal noise.</a:t>
            </a:r>
          </a:p>
        </p:txBody>
      </p:sp>
      <p:sp>
        <p:nvSpPr>
          <p:cNvPr id="23" name="">
            <a:extLst xmlns:a="http://schemas.openxmlformats.org/drawingml/2006/main">
              <a:ext uri="{FF2B5EF4-FFF2-40B4-BE49-F238E27FC236}">
                <a16:creationId xmlns:a16="http://schemas.microsoft.com/office/drawing/2014/main" id="{4280EA59-D094-4A22-B884-6505488F6B6F}"/>
              </a:ext>
            </a:extLst>
          </p:cNvPr>
          <p:cNvSpPr>
            <a:spLocks xmlns:a="http://schemas.openxmlformats.org/drawingml/2006/main" noGrp="1"/>
          </p:cNvSpPr>
          <p:nvPr/>
        </p:nvSpPr>
        <p:spPr>
          <a:xfrm xmlns:a="http://schemas.openxmlformats.org/drawingml/2006/main">
            <a:off x="1104900" y="5476875"/>
            <a:ext cx="85725" cy="85725"/>
          </a:xfrm>
          <a:prstGeom xmlns:a="http://schemas.openxmlformats.org/drawingml/2006/main" prst="ellipse">
            <a:avLst/>
          </a:prstGeom>
          <a:solidFill xmlns:a="http://schemas.openxmlformats.org/drawingml/2006/main">
            <a:srgbClr val="B96E3A"/>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B76948D0-8751-4C3C-9C10-1CC484C90440}"/>
              </a:ext>
            </a:extLst>
          </p:cNvPr>
          <p:cNvSpPr>
            <a:spLocks xmlns:a="http://schemas.openxmlformats.org/drawingml/2006/main" noGrp="1"/>
          </p:cNvSpPr>
          <p:nvPr/>
        </p:nvSpPr>
        <p:spPr>
          <a:xfrm xmlns:a="http://schemas.openxmlformats.org/drawingml/2006/main">
            <a:off x="1314450" y="5400675"/>
            <a:ext cx="93154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350" b="0">
                <a:solidFill>
                  <a:srgbClr val="17201D"/>
                </a:solidFill>
                <a:latin typeface="Aptos"/>
                <a:ea typeface="Aptos"/>
                <a:cs typeface="Aptos"/>
              </a:defRPr>
            </a:pPr>
            <a:r>
              <a:rPr sz="1350" b="0">
                <a:solidFill>
                  <a:srgbClr val="17201D"/>
                </a:solidFill>
                <a:latin typeface="Aptos"/>
                <a:ea typeface="Aptos"/>
                <a:cs typeface="Aptos"/>
              </a:rPr>
              <a:t>Events only count as suspects if they occurred within the configured lookback window before the change.</a:t>
            </a:r>
          </a:p>
        </p:txBody>
      </p:sp>
      <p:sp>
        <p:nvSpPr>
          <p:cNvPr id="25" name="">
            <a:extLst xmlns:a="http://schemas.openxmlformats.org/drawingml/2006/main">
              <a:ext uri="{FF2B5EF4-FFF2-40B4-BE49-F238E27FC236}">
                <a16:creationId xmlns:a16="http://schemas.microsoft.com/office/drawing/2014/main" id="{7B19CCE0-B851-4FBC-8C68-CCC5E32F468A}"/>
              </a:ext>
            </a:extLst>
          </p:cNvPr>
          <p:cNvSpPr>
            <a:spLocks xmlns:a="http://schemas.openxmlformats.org/drawingml/2006/main" noGrp="1"/>
          </p:cNvSpPr>
          <p:nvPr/>
        </p:nvSpPr>
        <p:spPr>
          <a:xfrm xmlns:a="http://schemas.openxmlformats.org/drawingml/2006/main">
            <a:off x="1104900" y="5810250"/>
            <a:ext cx="85725" cy="85725"/>
          </a:xfrm>
          <a:prstGeom xmlns:a="http://schemas.openxmlformats.org/drawingml/2006/main" prst="ellipse">
            <a:avLst/>
          </a:prstGeom>
          <a:solidFill xmlns:a="http://schemas.openxmlformats.org/drawingml/2006/main">
            <a:srgbClr val="B96E3A"/>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08D4AAC8-67A8-43E7-9F13-09FF1A91FFC5}"/>
              </a:ext>
            </a:extLst>
          </p:cNvPr>
          <p:cNvSpPr>
            <a:spLocks xmlns:a="http://schemas.openxmlformats.org/drawingml/2006/main" noGrp="1"/>
          </p:cNvSpPr>
          <p:nvPr/>
        </p:nvSpPr>
        <p:spPr>
          <a:xfrm xmlns:a="http://schemas.openxmlformats.org/drawingml/2006/main">
            <a:off x="1314450" y="5734050"/>
            <a:ext cx="93154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350" b="0">
                <a:solidFill>
                  <a:srgbClr val="17201D"/>
                </a:solidFill>
                <a:latin typeface="Aptos"/>
                <a:ea typeface="Aptos"/>
                <a:cs typeface="Aptos"/>
              </a:defRPr>
            </a:pPr>
            <a:r>
              <a:rPr sz="1350" b="0">
                <a:solidFill>
                  <a:srgbClr val="17201D"/>
                </a:solidFill>
                <a:latin typeface="Aptos"/>
                <a:ea typeface="Aptos"/>
                <a:cs typeface="Aptos"/>
              </a:rPr>
              <a:t>The card can line every claim back to a metric interval, event shift or rule shift.</a:t>
            </a:r>
          </a:p>
        </p:txBody>
      </p:sp>
      <p:sp>
        <p:nvSpPr>
          <p:cNvPr id="27" name="">
            <a:extLst xmlns:a="http://schemas.openxmlformats.org/drawingml/2006/main">
              <a:ext uri="{FF2B5EF4-FFF2-40B4-BE49-F238E27FC236}">
                <a16:creationId xmlns:a16="http://schemas.microsoft.com/office/drawing/2014/main" id="{15EBBDE7-C91F-43FE-A06B-C0C48EBC761A}"/>
              </a:ext>
            </a:extLst>
          </p:cNvPr>
          <p:cNvSpPr>
            <a:spLocks xmlns:a="http://schemas.openxmlformats.org/drawingml/2006/main" noGrp="1"/>
          </p:cNvSpPr>
          <p:nvPr/>
        </p:nvSpPr>
        <p:spPr>
          <a:xfrm xmlns:a="http://schemas.openxmlformats.org/drawingml/2006/main">
            <a:off x="609600" y="649605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7A827C"/>
                </a:solidFill>
                <a:latin typeface="Aptos"/>
                <a:ea typeface="Aptos"/>
                <a:cs typeface="Aptos"/>
              </a:defRPr>
            </a:pPr>
            <a:r>
              <a:rPr sz="900" b="0">
                <a:solidFill>
                  <a:srgbClr val="7A827C"/>
                </a:solidFill>
                <a:latin typeface="Aptos"/>
                <a:ea typeface="Aptos"/>
                <a:cs typeface="Aptos"/>
              </a:rPr>
              <a:t>Motherlode technical background for Woodgrove</a:t>
            </a:r>
          </a:p>
        </p:txBody>
      </p:sp>
      <p:sp>
        <p:nvSpPr>
          <p:cNvPr id="28" name="">
            <a:extLst xmlns:a="http://schemas.openxmlformats.org/drawingml/2006/main">
              <a:ext uri="{FF2B5EF4-FFF2-40B4-BE49-F238E27FC236}">
                <a16:creationId xmlns:a16="http://schemas.microsoft.com/office/drawing/2014/main" id="{8F7C14BE-F1E0-4FF8-8A21-C35E1FF648AA}"/>
              </a:ext>
            </a:extLst>
          </p:cNvPr>
          <p:cNvSpPr>
            <a:spLocks xmlns:a="http://schemas.openxmlformats.org/drawingml/2006/main" noGrp="1"/>
          </p:cNvSpPr>
          <p:nvPr/>
        </p:nvSpPr>
        <p:spPr>
          <a:xfrm xmlns:a="http://schemas.openxmlformats.org/drawingml/2006/main">
            <a:off x="11201400" y="64960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lnSpc>
                <a:spcPct val="108000"/>
              </a:lnSpc>
              <a:buNone/>
              <a:defRPr sz="900" b="0">
                <a:solidFill>
                  <a:srgbClr val="7A827C"/>
                </a:solidFill>
                <a:latin typeface="Aptos"/>
                <a:ea typeface="Aptos"/>
                <a:cs typeface="Aptos"/>
              </a:defRPr>
            </a:pPr>
            <a:r>
              <a:rPr sz="900" b="0">
                <a:solidFill>
                  <a:srgbClr val="7A827C"/>
                </a:solidFill>
                <a:latin typeface="Aptos"/>
                <a:ea typeface="Aptos"/>
                <a:cs typeface="Aptos"/>
              </a:rPr>
              <a:t>04</a:t>
            </a:r>
          </a:p>
        </p:txBody>
      </p:sp>
    </p:spTree>
    <p:extLst>
      <p:ext uri="{BB962C8B-B14F-4D97-AF65-F5344CB8AC3E}">
        <p14:creationId xmlns:p14="http://schemas.microsoft.com/office/powerpoint/2010/main" val="1672848490"/>
      </p:ext>
    </p:extLst>
  </p:cSld>
</p:sld>
</file>

<file path=ppt/slides/slide5.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44FC7D0D-9862-464A-9C9C-79EB1913C859}"/>
              </a:ext>
            </a:extLst>
          </p:cNvPr>
          <p:cNvSpPr>
            <a:spLocks xmlns:a="http://schemas.openxmlformats.org/drawingml/2006/main" noGrp="1"/>
          </p:cNvSpPr>
          <p:nvPr/>
        </p:nvSpPr>
        <p:spPr>
          <a:xfrm xmlns:a="http://schemas.openxmlformats.org/drawingml/2006/main">
            <a:off x="609600" y="476250"/>
            <a:ext cx="723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550" b="1">
                <a:solidFill>
                  <a:srgbClr val="17201D"/>
                </a:solidFill>
                <a:latin typeface="Aptos"/>
                <a:ea typeface="Aptos"/>
                <a:cs typeface="Aptos"/>
              </a:defRPr>
            </a:pPr>
            <a:r>
              <a:rPr sz="2550" b="1">
                <a:solidFill>
                  <a:srgbClr val="17201D"/>
                </a:solidFill>
                <a:latin typeface="Aptos"/>
                <a:ea typeface="Aptos"/>
                <a:cs typeface="Aptos"/>
              </a:rPr>
              <a:t>Causal data layer</a:t>
            </a:r>
          </a:p>
        </p:txBody>
      </p:sp>
      <p:sp>
        <p:nvSpPr>
          <p:cNvPr id="2" name="">
            <a:extLst xmlns:a="http://schemas.openxmlformats.org/drawingml/2006/main">
              <a:ext uri="{FF2B5EF4-FFF2-40B4-BE49-F238E27FC236}">
                <a16:creationId xmlns:a16="http://schemas.microsoft.com/office/drawing/2014/main" id="{09A4127B-8B90-41F4-89A8-7FD93DD03BBF}"/>
              </a:ext>
            </a:extLst>
          </p:cNvPr>
          <p:cNvSpPr>
            <a:spLocks xmlns:a="http://schemas.openxmlformats.org/drawingml/2006/main" noGrp="1"/>
          </p:cNvSpPr>
          <p:nvPr/>
        </p:nvSpPr>
        <p:spPr>
          <a:xfrm xmlns:a="http://schemas.openxmlformats.org/drawingml/2006/main">
            <a:off x="609600" y="942975"/>
            <a:ext cx="885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350" b="0">
                <a:solidFill>
                  <a:srgbClr val="5F6B64"/>
                </a:solidFill>
                <a:latin typeface="Aptos"/>
                <a:ea typeface="Aptos"/>
                <a:cs typeface="Aptos"/>
              </a:defRPr>
            </a:pPr>
            <a:r>
              <a:rPr sz="1350" b="0">
                <a:solidFill>
                  <a:srgbClr val="5F6B64"/>
                </a:solidFill>
                <a:latin typeface="Aptos"/>
                <a:ea typeface="Aptos"/>
                <a:cs typeface="Aptos"/>
              </a:rPr>
              <a:t>The narrator only makes causal claims where the simulation contract supports them.</a:t>
            </a:r>
          </a:p>
        </p:txBody>
      </p:sp>
      <p:sp>
        <p:nvSpPr>
          <p:cNvPr id="3" name="">
            <a:extLst xmlns:a="http://schemas.openxmlformats.org/drawingml/2006/main">
              <a:ext uri="{FF2B5EF4-FFF2-40B4-BE49-F238E27FC236}">
                <a16:creationId xmlns:a16="http://schemas.microsoft.com/office/drawing/2014/main" id="{5EB31BD0-DF1B-4E77-B978-6C40E2580A8A}"/>
              </a:ext>
            </a:extLst>
          </p:cNvPr>
          <p:cNvSpPr>
            <a:spLocks xmlns:a="http://schemas.openxmlformats.org/drawingml/2006/main" noGrp="1"/>
          </p:cNvSpPr>
          <p:nvPr/>
        </p:nvSpPr>
        <p:spPr>
          <a:xfrm xmlns:a="http://schemas.openxmlformats.org/drawingml/2006/main">
            <a:off x="609600" y="1352550"/>
            <a:ext cx="1524000" cy="0"/>
          </a:xfrm>
          <a:prstGeom xmlns:a="http://schemas.openxmlformats.org/drawingml/2006/main" prst="line">
            <a:avLst/>
          </a:prstGeom>
          <a:ln xmlns:a="http://schemas.openxmlformats.org/drawingml/2006/main" w="38100">
            <a:solidFill>
              <a:srgbClr val="1F8A5B"/>
            </a:solidFill>
            <a:prstDash val="solid"/>
          </a:ln>
        </p:spPr>
      </p:sp>
      <p:sp>
        <p:nvSpPr>
          <p:cNvPr id="4" name="">
            <a:extLst xmlns:a="http://schemas.openxmlformats.org/drawingml/2006/main">
              <a:ext uri="{FF2B5EF4-FFF2-40B4-BE49-F238E27FC236}">
                <a16:creationId xmlns:a16="http://schemas.microsoft.com/office/drawing/2014/main" id="{01333A87-D970-4423-9F5B-0548C445C345}"/>
              </a:ext>
            </a:extLst>
          </p:cNvPr>
          <p:cNvSpPr>
            <a:spLocks xmlns:a="http://schemas.openxmlformats.org/drawingml/2006/main" noGrp="1"/>
          </p:cNvSpPr>
          <p:nvPr/>
        </p:nvSpPr>
        <p:spPr>
          <a:xfrm xmlns:a="http://schemas.openxmlformats.org/drawingml/2006/main">
            <a:off x="762000" y="1809750"/>
            <a:ext cx="2952750"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9525">
            <a:solidFill>
              <a:srgbClr val="C9D0C7"/>
            </a:solidFill>
            <a:prstDash val="solid"/>
          </a:ln>
        </p:spPr>
      </p:sp>
      <p:sp>
        <p:nvSpPr>
          <p:cNvPr id="5" name="">
            <a:extLst xmlns:a="http://schemas.openxmlformats.org/drawingml/2006/main">
              <a:ext uri="{FF2B5EF4-FFF2-40B4-BE49-F238E27FC236}">
                <a16:creationId xmlns:a16="http://schemas.microsoft.com/office/drawing/2014/main" id="{4C2073B8-E04F-48D6-B5B7-F4D9839BF866}"/>
              </a:ext>
            </a:extLst>
          </p:cNvPr>
          <p:cNvSpPr>
            <a:spLocks xmlns:a="http://schemas.openxmlformats.org/drawingml/2006/main" noGrp="1"/>
          </p:cNvSpPr>
          <p:nvPr/>
        </p:nvSpPr>
        <p:spPr>
          <a:xfrm xmlns:a="http://schemas.openxmlformats.org/drawingml/2006/main">
            <a:off x="914400" y="1943100"/>
            <a:ext cx="2647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17201D"/>
                </a:solidFill>
                <a:latin typeface="Aptos"/>
                <a:ea typeface="Aptos"/>
                <a:cs typeface="Aptos"/>
              </a:defRPr>
            </a:pPr>
            <a:r>
              <a:rPr sz="1275" b="1">
                <a:solidFill>
                  <a:srgbClr val="17201D"/>
                </a:solidFill>
                <a:latin typeface="Aptos"/>
                <a:ea typeface="Aptos"/>
                <a:cs typeface="Aptos"/>
              </a:rPr>
              <a:t>Known effects</a:t>
            </a:r>
          </a:p>
        </p:txBody>
      </p:sp>
      <p:sp>
        <p:nvSpPr>
          <p:cNvPr id="6" name="">
            <a:extLst xmlns:a="http://schemas.openxmlformats.org/drawingml/2006/main">
              <a:ext uri="{FF2B5EF4-FFF2-40B4-BE49-F238E27FC236}">
                <a16:creationId xmlns:a16="http://schemas.microsoft.com/office/drawing/2014/main" id="{EC5BA83E-2851-43DC-8EED-D641D784EDB4}"/>
              </a:ext>
            </a:extLst>
          </p:cNvPr>
          <p:cNvSpPr>
            <a:spLocks xmlns:a="http://schemas.openxmlformats.org/drawingml/2006/main" noGrp="1"/>
          </p:cNvSpPr>
          <p:nvPr/>
        </p:nvSpPr>
        <p:spPr>
          <a:xfrm xmlns:a="http://schemas.openxmlformats.org/drawingml/2006/main">
            <a:off x="914400" y="2228850"/>
            <a:ext cx="26479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5000"/>
              </a:lnSpc>
              <a:buNone/>
              <a:defRPr sz="1088" b="0">
                <a:solidFill>
                  <a:srgbClr val="5F6B64"/>
                </a:solidFill>
                <a:latin typeface="Aptos"/>
                <a:ea typeface="Aptos"/>
                <a:cs typeface="Aptos"/>
              </a:defRPr>
            </a:pPr>
            <a:r>
              <a:rPr sz="1088" b="0">
                <a:solidFill>
                  <a:srgbClr val="5F6B64"/>
                </a:solidFill>
                <a:latin typeface="Aptos"/>
                <a:ea typeface="Aptos"/>
                <a:cs typeface="Aptos"/>
              </a:rPr>
              <a:t>Events that the sim rules guarantee can move a metric, such as gold rush increasing gold output.</a:t>
            </a:r>
          </a:p>
        </p:txBody>
      </p:sp>
      <p:sp>
        <p:nvSpPr>
          <p:cNvPr id="7" name="">
            <a:extLst xmlns:a="http://schemas.openxmlformats.org/drawingml/2006/main">
              <a:ext uri="{FF2B5EF4-FFF2-40B4-BE49-F238E27FC236}">
                <a16:creationId xmlns:a16="http://schemas.microsoft.com/office/drawing/2014/main" id="{D371002C-3337-4FD6-B43D-2313403F3614}"/>
              </a:ext>
            </a:extLst>
          </p:cNvPr>
          <p:cNvSpPr>
            <a:spLocks xmlns:a="http://schemas.openxmlformats.org/drawingml/2006/main" noGrp="1"/>
          </p:cNvSpPr>
          <p:nvPr/>
        </p:nvSpPr>
        <p:spPr>
          <a:xfrm xmlns:a="http://schemas.openxmlformats.org/drawingml/2006/main">
            <a:off x="4619625" y="1809750"/>
            <a:ext cx="2952750"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9525">
            <a:solidFill>
              <a:srgbClr val="C9D0C7"/>
            </a:solidFill>
            <a:prstDash val="solid"/>
          </a:ln>
        </p:spPr>
      </p:sp>
      <p:sp>
        <p:nvSpPr>
          <p:cNvPr id="8" name="">
            <a:extLst xmlns:a="http://schemas.openxmlformats.org/drawingml/2006/main">
              <a:ext uri="{FF2B5EF4-FFF2-40B4-BE49-F238E27FC236}">
                <a16:creationId xmlns:a16="http://schemas.microsoft.com/office/drawing/2014/main" id="{B9A4C37D-A1F6-4063-94FB-30F33FCB9B2B}"/>
              </a:ext>
            </a:extLst>
          </p:cNvPr>
          <p:cNvSpPr>
            <a:spLocks xmlns:a="http://schemas.openxmlformats.org/drawingml/2006/main" noGrp="1"/>
          </p:cNvSpPr>
          <p:nvPr/>
        </p:nvSpPr>
        <p:spPr>
          <a:xfrm xmlns:a="http://schemas.openxmlformats.org/drawingml/2006/main">
            <a:off x="4772025" y="1943100"/>
            <a:ext cx="2647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17201D"/>
                </a:solidFill>
                <a:latin typeface="Aptos"/>
                <a:ea typeface="Aptos"/>
                <a:cs typeface="Aptos"/>
              </a:defRPr>
            </a:pPr>
            <a:r>
              <a:rPr sz="1275" b="1">
                <a:solidFill>
                  <a:srgbClr val="17201D"/>
                </a:solidFill>
                <a:latin typeface="Aptos"/>
                <a:ea typeface="Aptos"/>
                <a:cs typeface="Aptos"/>
              </a:rPr>
              <a:t>Known links</a:t>
            </a:r>
          </a:p>
        </p:txBody>
      </p:sp>
      <p:sp>
        <p:nvSpPr>
          <p:cNvPr id="9" name="">
            <a:extLst xmlns:a="http://schemas.openxmlformats.org/drawingml/2006/main">
              <a:ext uri="{FF2B5EF4-FFF2-40B4-BE49-F238E27FC236}">
                <a16:creationId xmlns:a16="http://schemas.microsoft.com/office/drawing/2014/main" id="{FC6E74EC-8FAD-4127-BC8C-67F6F2799419}"/>
              </a:ext>
            </a:extLst>
          </p:cNvPr>
          <p:cNvSpPr>
            <a:spLocks xmlns:a="http://schemas.openxmlformats.org/drawingml/2006/main" noGrp="1"/>
          </p:cNvSpPr>
          <p:nvPr/>
        </p:nvSpPr>
        <p:spPr>
          <a:xfrm xmlns:a="http://schemas.openxmlformats.org/drawingml/2006/main">
            <a:off x="4772025" y="2228850"/>
            <a:ext cx="26479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5000"/>
              </a:lnSpc>
              <a:buNone/>
              <a:defRPr sz="1088" b="0">
                <a:solidFill>
                  <a:srgbClr val="5F6B64"/>
                </a:solidFill>
                <a:latin typeface="Aptos"/>
                <a:ea typeface="Aptos"/>
                <a:cs typeface="Aptos"/>
              </a:defRPr>
            </a:pPr>
            <a:r>
              <a:rPr sz="1088" b="0">
                <a:solidFill>
                  <a:srgbClr val="5F6B64"/>
                </a:solidFill>
                <a:latin typeface="Aptos"/>
                <a:ea typeface="Aptos"/>
                <a:cs typeface="Aptos"/>
              </a:rPr>
              <a:t>Metric relationships guaranteed by rules, such as higher gold sold lowering gold price.</a:t>
            </a:r>
          </a:p>
        </p:txBody>
      </p:sp>
      <p:sp>
        <p:nvSpPr>
          <p:cNvPr id="10" name="">
            <a:extLst xmlns:a="http://schemas.openxmlformats.org/drawingml/2006/main">
              <a:ext uri="{FF2B5EF4-FFF2-40B4-BE49-F238E27FC236}">
                <a16:creationId xmlns:a16="http://schemas.microsoft.com/office/drawing/2014/main" id="{859F3057-061F-45B3-894D-0175D44F3B7C}"/>
              </a:ext>
            </a:extLst>
          </p:cNvPr>
          <p:cNvSpPr>
            <a:spLocks xmlns:a="http://schemas.openxmlformats.org/drawingml/2006/main" noGrp="1"/>
          </p:cNvSpPr>
          <p:nvPr/>
        </p:nvSpPr>
        <p:spPr>
          <a:xfrm xmlns:a="http://schemas.openxmlformats.org/drawingml/2006/main">
            <a:off x="8477250" y="1809750"/>
            <a:ext cx="2952750"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9525">
            <a:solidFill>
              <a:srgbClr val="C9D0C7"/>
            </a:solidFill>
            <a:prstDash val="solid"/>
          </a:ln>
        </p:spPr>
      </p:sp>
      <p:sp>
        <p:nvSpPr>
          <p:cNvPr id="11" name="">
            <a:extLst xmlns:a="http://schemas.openxmlformats.org/drawingml/2006/main">
              <a:ext uri="{FF2B5EF4-FFF2-40B4-BE49-F238E27FC236}">
                <a16:creationId xmlns:a16="http://schemas.microsoft.com/office/drawing/2014/main" id="{C365CADE-3FFE-4783-9B90-23402259C61B}"/>
              </a:ext>
            </a:extLst>
          </p:cNvPr>
          <p:cNvSpPr>
            <a:spLocks xmlns:a="http://schemas.openxmlformats.org/drawingml/2006/main" noGrp="1"/>
          </p:cNvSpPr>
          <p:nvPr/>
        </p:nvSpPr>
        <p:spPr>
          <a:xfrm xmlns:a="http://schemas.openxmlformats.org/drawingml/2006/main">
            <a:off x="8629650" y="1943100"/>
            <a:ext cx="2647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17201D"/>
                </a:solidFill>
                <a:latin typeface="Aptos"/>
                <a:ea typeface="Aptos"/>
                <a:cs typeface="Aptos"/>
              </a:defRPr>
            </a:pPr>
            <a:r>
              <a:rPr sz="1275" b="1">
                <a:solidFill>
                  <a:srgbClr val="17201D"/>
                </a:solidFill>
                <a:latin typeface="Aptos"/>
                <a:ea typeface="Aptos"/>
                <a:cs typeface="Aptos"/>
              </a:rPr>
              <a:t>Cause candidates</a:t>
            </a:r>
          </a:p>
        </p:txBody>
      </p:sp>
      <p:sp>
        <p:nvSpPr>
          <p:cNvPr id="12" name="">
            <a:extLst xmlns:a="http://schemas.openxmlformats.org/drawingml/2006/main">
              <a:ext uri="{FF2B5EF4-FFF2-40B4-BE49-F238E27FC236}">
                <a16:creationId xmlns:a16="http://schemas.microsoft.com/office/drawing/2014/main" id="{E29D3BFE-AFCA-4658-94F2-08E80FACA6B6}"/>
              </a:ext>
            </a:extLst>
          </p:cNvPr>
          <p:cNvSpPr>
            <a:spLocks xmlns:a="http://schemas.openxmlformats.org/drawingml/2006/main" noGrp="1"/>
          </p:cNvSpPr>
          <p:nvPr/>
        </p:nvSpPr>
        <p:spPr>
          <a:xfrm xmlns:a="http://schemas.openxmlformats.org/drawingml/2006/main">
            <a:off x="8629650" y="2228850"/>
            <a:ext cx="26479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5000"/>
              </a:lnSpc>
              <a:buNone/>
              <a:defRPr sz="1088" b="0">
                <a:solidFill>
                  <a:srgbClr val="5F6B64"/>
                </a:solidFill>
                <a:latin typeface="Aptos"/>
                <a:ea typeface="Aptos"/>
                <a:cs typeface="Aptos"/>
              </a:defRPr>
            </a:pPr>
            <a:r>
              <a:rPr sz="1088" b="0">
                <a:solidFill>
                  <a:srgbClr val="5F6B64"/>
                </a:solidFill>
                <a:latin typeface="Aptos"/>
                <a:ea typeface="Aptos"/>
                <a:cs typeface="Aptos"/>
              </a:rPr>
              <a:t>The attributor ranks timed events and linked metric changes, then assigns a confidence word.</a:t>
            </a:r>
          </a:p>
        </p:txBody>
      </p:sp>
      <p:cxnSp>
        <p:nvCxnSpPr>
          <p:cNvPr id="37" name=""/>
          <p:cNvCxnSpPr>
            <a:stCxn xmlns:a="http://schemas.openxmlformats.org/drawingml/2006/main" id="4" idx="3"/>
            <a:endCxn xmlns:a="http://schemas.openxmlformats.org/drawingml/2006/main" id="7" idx="1"/>
          </p:cNvCxnSpPr>
          <p:nvPr/>
        </p:nvCxnSpPr>
        <p:spPr>
          <a:xfrm xmlns:a="http://schemas.openxmlformats.org/drawingml/2006/main">
            <a:off x="3714750" y="2428875"/>
            <a:ext cx="904875" cy="0"/>
          </a:xfrm>
          <a:prstGeom xmlns:a="http://schemas.openxmlformats.org/drawingml/2006/main" prst="straightConnector1">
            <a:avLst/>
          </a:prstGeom>
          <a:ln xmlns:a="http://schemas.openxmlformats.org/drawingml/2006/main" w="19050">
            <a:solidFill>
              <a:srgbClr val="B96E3A"/>
            </a:solidFill>
            <a:prstDash val="solid"/>
            <a:headEnd type="triangle" w="sm" len="sm"/>
          </a:ln>
        </p:spPr>
      </p:cxnSp>
      <p:cxnSp>
        <p:nvCxnSpPr>
          <p:cNvPr id="38" name=""/>
          <p:cNvCxnSpPr>
            <a:stCxn xmlns:a="http://schemas.openxmlformats.org/drawingml/2006/main" id="7" idx="3"/>
            <a:endCxn xmlns:a="http://schemas.openxmlformats.org/drawingml/2006/main" id="10" idx="1"/>
          </p:cNvCxnSpPr>
          <p:nvPr/>
        </p:nvCxnSpPr>
        <p:spPr>
          <a:xfrm xmlns:a="http://schemas.openxmlformats.org/drawingml/2006/main">
            <a:off x="7572375" y="2428875"/>
            <a:ext cx="904875" cy="0"/>
          </a:xfrm>
          <a:prstGeom xmlns:a="http://schemas.openxmlformats.org/drawingml/2006/main" prst="straightConnector1">
            <a:avLst/>
          </a:prstGeom>
          <a:ln xmlns:a="http://schemas.openxmlformats.org/drawingml/2006/main" w="19050">
            <a:solidFill>
              <a:srgbClr val="B96E3A"/>
            </a:solidFill>
            <a:prstDash val="solid"/>
            <a:headEnd type="triangle" w="sm" len="sm"/>
          </a:ln>
        </p:spPr>
      </p:cxnSp>
      <p:sp>
        <p:nvSpPr>
          <p:cNvPr id="15" name="">
            <a:extLst xmlns:a="http://schemas.openxmlformats.org/drawingml/2006/main">
              <a:ext uri="{FF2B5EF4-FFF2-40B4-BE49-F238E27FC236}">
                <a16:creationId xmlns:a16="http://schemas.microsoft.com/office/drawing/2014/main" id="{F8953814-4A51-42A8-9386-03E04D9F7226}"/>
              </a:ext>
            </a:extLst>
          </p:cNvPr>
          <p:cNvSpPr>
            <a:spLocks xmlns:a="http://schemas.openxmlformats.org/drawingml/2006/main" noGrp="1"/>
          </p:cNvSpPr>
          <p:nvPr/>
        </p:nvSpPr>
        <p:spPr>
          <a:xfrm xmlns:a="http://schemas.openxmlformats.org/drawingml/2006/main">
            <a:off x="819150" y="3771900"/>
            <a:ext cx="5000625" cy="1428750"/>
          </a:xfrm>
          <a:prstGeom xmlns:a="http://schemas.openxmlformats.org/drawingml/2006/main" prst="roundRect">
            <a:avLst>
              <a:gd name="adj" fmla="val 5333"/>
            </a:avLst>
          </a:prstGeom>
          <a:solidFill xmlns:a="http://schemas.openxmlformats.org/drawingml/2006/main">
            <a:srgbClr val="FFFDF8"/>
          </a:solidFill>
          <a:ln xmlns:a="http://schemas.openxmlformats.org/drawingml/2006/main" w="9525">
            <a:solidFill>
              <a:srgbClr val="C9D0C7"/>
            </a:solidFill>
            <a:prstDash val="solid"/>
          </a:ln>
        </p:spPr>
      </p:sp>
      <p:sp>
        <p:nvSpPr>
          <p:cNvPr id="16" name="">
            <a:extLst xmlns:a="http://schemas.openxmlformats.org/drawingml/2006/main">
              <a:ext uri="{FF2B5EF4-FFF2-40B4-BE49-F238E27FC236}">
                <a16:creationId xmlns:a16="http://schemas.microsoft.com/office/drawing/2014/main" id="{62010D00-E93F-4267-849A-BD197C983195}"/>
              </a:ext>
            </a:extLst>
          </p:cNvPr>
          <p:cNvSpPr>
            <a:spLocks xmlns:a="http://schemas.openxmlformats.org/drawingml/2006/main" noGrp="1"/>
          </p:cNvSpPr>
          <p:nvPr/>
        </p:nvSpPr>
        <p:spPr>
          <a:xfrm xmlns:a="http://schemas.openxmlformats.org/drawingml/2006/main">
            <a:off x="819150" y="3771900"/>
            <a:ext cx="66675" cy="1428750"/>
          </a:xfrm>
          <a:prstGeom xmlns:a="http://schemas.openxmlformats.org/drawingml/2006/main" prst="rect">
            <a:avLst/>
          </a:prstGeom>
          <a:solidFill xmlns:a="http://schemas.openxmlformats.org/drawingml/2006/main">
            <a:srgbClr val="1F8A5B"/>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04511D4-7F7F-435D-85D5-F4911ED22A9A}"/>
              </a:ext>
            </a:extLst>
          </p:cNvPr>
          <p:cNvSpPr>
            <a:spLocks xmlns:a="http://schemas.openxmlformats.org/drawingml/2006/main" noGrp="1"/>
          </p:cNvSpPr>
          <p:nvPr/>
        </p:nvSpPr>
        <p:spPr>
          <a:xfrm xmlns:a="http://schemas.openxmlformats.org/drawingml/2006/main">
            <a:off x="1028700" y="3943350"/>
            <a:ext cx="46386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500" b="1">
                <a:solidFill>
                  <a:srgbClr val="17201D"/>
                </a:solidFill>
                <a:latin typeface="Aptos"/>
                <a:ea typeface="Aptos"/>
                <a:cs typeface="Aptos"/>
              </a:defRPr>
            </a:pPr>
            <a:r>
              <a:rPr sz="1500" b="1">
                <a:solidFill>
                  <a:srgbClr val="17201D"/>
                </a:solidFill>
                <a:latin typeface="Aptos"/>
                <a:ea typeface="Aptos"/>
                <a:cs typeface="Aptos"/>
              </a:rPr>
              <a:t>Confidence rule</a:t>
            </a:r>
          </a:p>
        </p:txBody>
      </p:sp>
      <p:sp>
        <p:nvSpPr>
          <p:cNvPr id="18" name="">
            <a:extLst xmlns:a="http://schemas.openxmlformats.org/drawingml/2006/main">
              <a:ext uri="{FF2B5EF4-FFF2-40B4-BE49-F238E27FC236}">
                <a16:creationId xmlns:a16="http://schemas.microsoft.com/office/drawing/2014/main" id="{D3086664-4B69-40FE-AF57-234737A143C0}"/>
              </a:ext>
            </a:extLst>
          </p:cNvPr>
          <p:cNvSpPr>
            <a:spLocks xmlns:a="http://schemas.openxmlformats.org/drawingml/2006/main" noGrp="1"/>
          </p:cNvSpPr>
          <p:nvPr/>
        </p:nvSpPr>
        <p:spPr>
          <a:xfrm xmlns:a="http://schemas.openxmlformats.org/drawingml/2006/main">
            <a:off x="1028700" y="4305300"/>
            <a:ext cx="46386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2000"/>
              </a:lnSpc>
              <a:buNone/>
              <a:defRPr sz="1275" b="0">
                <a:solidFill>
                  <a:srgbClr val="5F6B64"/>
                </a:solidFill>
                <a:latin typeface="Aptos"/>
                <a:ea typeface="Aptos"/>
                <a:cs typeface="Aptos"/>
              </a:defRPr>
            </a:pPr>
            <a:r>
              <a:rPr sz="1275" b="0">
                <a:solidFill>
                  <a:srgbClr val="5F6B64"/>
                </a:solidFill>
                <a:latin typeface="Aptos"/>
                <a:ea typeface="Aptos"/>
                <a:cs typeface="Aptos"/>
              </a:rPr>
              <a:t>Likely means one known suspect fits the timing and nothing competes. Possibly means competing causes or timing without a known link. Unclear means the data does not support a cause.</a:t>
            </a:r>
          </a:p>
        </p:txBody>
      </p:sp>
      <p:sp>
        <p:nvSpPr>
          <p:cNvPr id="19" name="">
            <a:extLst xmlns:a="http://schemas.openxmlformats.org/drawingml/2006/main">
              <a:ext uri="{FF2B5EF4-FFF2-40B4-BE49-F238E27FC236}">
                <a16:creationId xmlns:a16="http://schemas.microsoft.com/office/drawing/2014/main" id="{D1D153AE-2230-44DA-8B40-73661CB9F5C3}"/>
              </a:ext>
            </a:extLst>
          </p:cNvPr>
          <p:cNvSpPr>
            <a:spLocks xmlns:a="http://schemas.openxmlformats.org/drawingml/2006/main" noGrp="1"/>
          </p:cNvSpPr>
          <p:nvPr/>
        </p:nvSpPr>
        <p:spPr>
          <a:xfrm xmlns:a="http://schemas.openxmlformats.org/drawingml/2006/main">
            <a:off x="6381750" y="3771900"/>
            <a:ext cx="5000625" cy="1428750"/>
          </a:xfrm>
          <a:prstGeom xmlns:a="http://schemas.openxmlformats.org/drawingml/2006/main" prst="roundRect">
            <a:avLst>
              <a:gd name="adj" fmla="val 5333"/>
            </a:avLst>
          </a:prstGeom>
          <a:solidFill xmlns:a="http://schemas.openxmlformats.org/drawingml/2006/main">
            <a:srgbClr val="FFFDF8"/>
          </a:solidFill>
          <a:ln xmlns:a="http://schemas.openxmlformats.org/drawingml/2006/main" w="9525">
            <a:solidFill>
              <a:srgbClr val="C9D0C7"/>
            </a:solidFill>
            <a:prstDash val="solid"/>
          </a:ln>
        </p:spPr>
      </p:sp>
      <p:sp>
        <p:nvSpPr>
          <p:cNvPr id="20" name="">
            <a:extLst xmlns:a="http://schemas.openxmlformats.org/drawingml/2006/main">
              <a:ext uri="{FF2B5EF4-FFF2-40B4-BE49-F238E27FC236}">
                <a16:creationId xmlns:a16="http://schemas.microsoft.com/office/drawing/2014/main" id="{9328F3AD-26C3-47A8-83F5-687A8A9924BB}"/>
              </a:ext>
            </a:extLst>
          </p:cNvPr>
          <p:cNvSpPr>
            <a:spLocks xmlns:a="http://schemas.openxmlformats.org/drawingml/2006/main" noGrp="1"/>
          </p:cNvSpPr>
          <p:nvPr/>
        </p:nvSpPr>
        <p:spPr>
          <a:xfrm xmlns:a="http://schemas.openxmlformats.org/drawingml/2006/main">
            <a:off x="6381750" y="3771900"/>
            <a:ext cx="66675" cy="1428750"/>
          </a:xfrm>
          <a:prstGeom xmlns:a="http://schemas.openxmlformats.org/drawingml/2006/main" prst="rect">
            <a:avLst/>
          </a:prstGeom>
          <a:solidFill xmlns:a="http://schemas.openxmlformats.org/drawingml/2006/main">
            <a:srgbClr val="315D7C"/>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13D494B7-259A-43A1-94CB-3DEB4571D721}"/>
              </a:ext>
            </a:extLst>
          </p:cNvPr>
          <p:cNvSpPr>
            <a:spLocks xmlns:a="http://schemas.openxmlformats.org/drawingml/2006/main" noGrp="1"/>
          </p:cNvSpPr>
          <p:nvPr/>
        </p:nvSpPr>
        <p:spPr>
          <a:xfrm xmlns:a="http://schemas.openxmlformats.org/drawingml/2006/main">
            <a:off x="6591300" y="3943350"/>
            <a:ext cx="46386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500" b="1">
                <a:solidFill>
                  <a:srgbClr val="17201D"/>
                </a:solidFill>
                <a:latin typeface="Aptos"/>
                <a:ea typeface="Aptos"/>
                <a:cs typeface="Aptos"/>
              </a:defRPr>
            </a:pPr>
            <a:r>
              <a:rPr sz="1500" b="1">
                <a:solidFill>
                  <a:srgbClr val="17201D"/>
                </a:solidFill>
                <a:latin typeface="Aptos"/>
                <a:ea typeface="Aptos"/>
                <a:cs typeface="Aptos"/>
              </a:rPr>
              <a:t>Counterfactual path</a:t>
            </a:r>
          </a:p>
        </p:txBody>
      </p:sp>
      <p:sp>
        <p:nvSpPr>
          <p:cNvPr id="22" name="">
            <a:extLst xmlns:a="http://schemas.openxmlformats.org/drawingml/2006/main">
              <a:ext uri="{FF2B5EF4-FFF2-40B4-BE49-F238E27FC236}">
                <a16:creationId xmlns:a16="http://schemas.microsoft.com/office/drawing/2014/main" id="{62377D34-735D-4B61-AFF4-F14496772968}"/>
              </a:ext>
            </a:extLst>
          </p:cNvPr>
          <p:cNvSpPr>
            <a:spLocks xmlns:a="http://schemas.openxmlformats.org/drawingml/2006/main" noGrp="1"/>
          </p:cNvSpPr>
          <p:nvPr/>
        </p:nvSpPr>
        <p:spPr>
          <a:xfrm xmlns:a="http://schemas.openxmlformats.org/drawingml/2006/main">
            <a:off x="6591300" y="4305300"/>
            <a:ext cx="46386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2000"/>
              </a:lnSpc>
              <a:buNone/>
              <a:defRPr sz="1275" b="0">
                <a:solidFill>
                  <a:srgbClr val="5F6B64"/>
                </a:solidFill>
                <a:latin typeface="Aptos"/>
                <a:ea typeface="Aptos"/>
                <a:cs typeface="Aptos"/>
              </a:defRPr>
            </a:pPr>
            <a:r>
              <a:rPr sz="1275" b="0">
                <a:solidFill>
                  <a:srgbClr val="5F6B64"/>
                </a:solidFill>
                <a:latin typeface="Aptos"/>
                <a:ea typeface="Aptos"/>
                <a:cs typeface="Aptos"/>
              </a:rPr>
              <a:t>The simulation is seeded and repeatable. Once the fork removes one cause and measures the difference, the narrator can move from likely to almost certainly.</a:t>
            </a:r>
          </a:p>
        </p:txBody>
      </p:sp>
      <p:sp>
        <p:nvSpPr>
          <p:cNvPr id="23" name="">
            <a:extLst xmlns:a="http://schemas.openxmlformats.org/drawingml/2006/main">
              <a:ext uri="{FF2B5EF4-FFF2-40B4-BE49-F238E27FC236}">
                <a16:creationId xmlns:a16="http://schemas.microsoft.com/office/drawing/2014/main" id="{5D47EA67-DF8B-454F-962E-7A4D7383782A}"/>
              </a:ext>
            </a:extLst>
          </p:cNvPr>
          <p:cNvSpPr>
            <a:spLocks xmlns:a="http://schemas.openxmlformats.org/drawingml/2006/main" noGrp="1"/>
          </p:cNvSpPr>
          <p:nvPr/>
        </p:nvSpPr>
        <p:spPr>
          <a:xfrm xmlns:a="http://schemas.openxmlformats.org/drawingml/2006/main">
            <a:off x="609600" y="649605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7A827C"/>
                </a:solidFill>
                <a:latin typeface="Aptos"/>
                <a:ea typeface="Aptos"/>
                <a:cs typeface="Aptos"/>
              </a:defRPr>
            </a:pPr>
            <a:r>
              <a:rPr sz="900" b="0">
                <a:solidFill>
                  <a:srgbClr val="7A827C"/>
                </a:solidFill>
                <a:latin typeface="Aptos"/>
                <a:ea typeface="Aptos"/>
                <a:cs typeface="Aptos"/>
              </a:rPr>
              <a:t>Motherlode technical background for Woodgrove</a:t>
            </a:r>
          </a:p>
        </p:txBody>
      </p:sp>
      <p:sp>
        <p:nvSpPr>
          <p:cNvPr id="24" name="">
            <a:extLst xmlns:a="http://schemas.openxmlformats.org/drawingml/2006/main">
              <a:ext uri="{FF2B5EF4-FFF2-40B4-BE49-F238E27FC236}">
                <a16:creationId xmlns:a16="http://schemas.microsoft.com/office/drawing/2014/main" id="{C56A901D-D8ED-4636-AA9F-B2D11D605A42}"/>
              </a:ext>
            </a:extLst>
          </p:cNvPr>
          <p:cNvSpPr>
            <a:spLocks xmlns:a="http://schemas.openxmlformats.org/drawingml/2006/main" noGrp="1"/>
          </p:cNvSpPr>
          <p:nvPr/>
        </p:nvSpPr>
        <p:spPr>
          <a:xfrm xmlns:a="http://schemas.openxmlformats.org/drawingml/2006/main">
            <a:off x="11201400" y="64960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lnSpc>
                <a:spcPct val="108000"/>
              </a:lnSpc>
              <a:buNone/>
              <a:defRPr sz="900" b="0">
                <a:solidFill>
                  <a:srgbClr val="7A827C"/>
                </a:solidFill>
                <a:latin typeface="Aptos"/>
                <a:ea typeface="Aptos"/>
                <a:cs typeface="Aptos"/>
              </a:defRPr>
            </a:pPr>
            <a:r>
              <a:rPr sz="900" b="0">
                <a:solidFill>
                  <a:srgbClr val="7A827C"/>
                </a:solidFill>
                <a:latin typeface="Aptos"/>
                <a:ea typeface="Aptos"/>
                <a:cs typeface="Aptos"/>
              </a:rPr>
              <a:t>05</a:t>
            </a:r>
          </a:p>
        </p:txBody>
      </p:sp>
    </p:spTree>
    <p:extLst>
      <p:ext uri="{BB962C8B-B14F-4D97-AF65-F5344CB8AC3E}">
        <p14:creationId xmlns:p14="http://schemas.microsoft.com/office/powerpoint/2010/main" val="1431920534"/>
      </p:ext>
    </p:extLst>
  </p:cSld>
</p:sld>
</file>

<file path=ppt/slides/slide6.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76204EB1-B483-48E8-A76F-47E6FA4A9F5C}"/>
              </a:ext>
            </a:extLst>
          </p:cNvPr>
          <p:cNvSpPr>
            <a:spLocks xmlns:a="http://schemas.openxmlformats.org/drawingml/2006/main" noGrp="1"/>
          </p:cNvSpPr>
          <p:nvPr/>
        </p:nvSpPr>
        <p:spPr>
          <a:xfrm xmlns:a="http://schemas.openxmlformats.org/drawingml/2006/main">
            <a:off x="609600" y="476250"/>
            <a:ext cx="723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550" b="1">
                <a:solidFill>
                  <a:srgbClr val="17201D"/>
                </a:solidFill>
                <a:latin typeface="Aptos"/>
                <a:ea typeface="Aptos"/>
                <a:cs typeface="Aptos"/>
              </a:defRPr>
            </a:pPr>
            <a:r>
              <a:rPr sz="2550" b="1">
                <a:solidFill>
                  <a:srgbClr val="17201D"/>
                </a:solidFill>
                <a:latin typeface="Aptos"/>
                <a:ea typeface="Aptos"/>
                <a:cs typeface="Aptos"/>
              </a:rPr>
              <a:t>Narrator pipeline</a:t>
            </a:r>
          </a:p>
        </p:txBody>
      </p:sp>
      <p:sp>
        <p:nvSpPr>
          <p:cNvPr id="2" name="">
            <a:extLst xmlns:a="http://schemas.openxmlformats.org/drawingml/2006/main">
              <a:ext uri="{FF2B5EF4-FFF2-40B4-BE49-F238E27FC236}">
                <a16:creationId xmlns:a16="http://schemas.microsoft.com/office/drawing/2014/main" id="{D42037C7-AF4D-47F8-A2F4-9B83A92F956D}"/>
              </a:ext>
            </a:extLst>
          </p:cNvPr>
          <p:cNvSpPr>
            <a:spLocks xmlns:a="http://schemas.openxmlformats.org/drawingml/2006/main" noGrp="1"/>
          </p:cNvSpPr>
          <p:nvPr/>
        </p:nvSpPr>
        <p:spPr>
          <a:xfrm xmlns:a="http://schemas.openxmlformats.org/drawingml/2006/main">
            <a:off x="609600" y="942975"/>
            <a:ext cx="885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350" b="0">
                <a:solidFill>
                  <a:srgbClr val="5F6B64"/>
                </a:solidFill>
                <a:latin typeface="Aptos"/>
                <a:ea typeface="Aptos"/>
                <a:cs typeface="Aptos"/>
              </a:defRPr>
            </a:pPr>
            <a:r>
              <a:rPr sz="1350" b="0">
                <a:solidFill>
                  <a:srgbClr val="5F6B64"/>
                </a:solidFill>
                <a:latin typeface="Aptos"/>
                <a:ea typeface="Aptos"/>
                <a:cs typeface="Aptos"/>
              </a:rPr>
              <a:t>Plain code builds evidence. The language model only writes from that evidence.</a:t>
            </a:r>
          </a:p>
        </p:txBody>
      </p:sp>
      <p:sp>
        <p:nvSpPr>
          <p:cNvPr id="3" name="">
            <a:extLst xmlns:a="http://schemas.openxmlformats.org/drawingml/2006/main">
              <a:ext uri="{FF2B5EF4-FFF2-40B4-BE49-F238E27FC236}">
                <a16:creationId xmlns:a16="http://schemas.microsoft.com/office/drawing/2014/main" id="{C71D2F18-F22B-40D3-BF66-C9EAC1187D0D}"/>
              </a:ext>
            </a:extLst>
          </p:cNvPr>
          <p:cNvSpPr>
            <a:spLocks xmlns:a="http://schemas.openxmlformats.org/drawingml/2006/main" noGrp="1"/>
          </p:cNvSpPr>
          <p:nvPr/>
        </p:nvSpPr>
        <p:spPr>
          <a:xfrm xmlns:a="http://schemas.openxmlformats.org/drawingml/2006/main">
            <a:off x="609600" y="1352550"/>
            <a:ext cx="1524000" cy="0"/>
          </a:xfrm>
          <a:prstGeom xmlns:a="http://schemas.openxmlformats.org/drawingml/2006/main" prst="line">
            <a:avLst/>
          </a:prstGeom>
          <a:ln xmlns:a="http://schemas.openxmlformats.org/drawingml/2006/main" w="38100">
            <a:solidFill>
              <a:srgbClr val="1F8A5B"/>
            </a:solidFill>
            <a:prstDash val="solid"/>
          </a:ln>
        </p:spPr>
      </p:sp>
      <p:sp>
        <p:nvSpPr>
          <p:cNvPr id="4" name="">
            <a:extLst xmlns:a="http://schemas.openxmlformats.org/drawingml/2006/main">
              <a:ext uri="{FF2B5EF4-FFF2-40B4-BE49-F238E27FC236}">
                <a16:creationId xmlns:a16="http://schemas.microsoft.com/office/drawing/2014/main" id="{8E7F1C1A-005F-4B0B-BDCD-FA72E7E509A9}"/>
              </a:ext>
            </a:extLst>
          </p:cNvPr>
          <p:cNvSpPr>
            <a:spLocks xmlns:a="http://schemas.openxmlformats.org/drawingml/2006/main" noGrp="1"/>
          </p:cNvSpPr>
          <p:nvPr/>
        </p:nvSpPr>
        <p:spPr>
          <a:xfrm xmlns:a="http://schemas.openxmlformats.org/drawingml/2006/main">
            <a:off x="628650" y="1752600"/>
            <a:ext cx="21526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9D0C7"/>
            </a:solidFill>
            <a:prstDash val="solid"/>
          </a:ln>
        </p:spPr>
      </p:sp>
      <p:sp>
        <p:nvSpPr>
          <p:cNvPr id="5" name="">
            <a:extLst xmlns:a="http://schemas.openxmlformats.org/drawingml/2006/main">
              <a:ext uri="{FF2B5EF4-FFF2-40B4-BE49-F238E27FC236}">
                <a16:creationId xmlns:a16="http://schemas.microsoft.com/office/drawing/2014/main" id="{B633B21A-73EF-415C-ADEC-348298659432}"/>
              </a:ext>
            </a:extLst>
          </p:cNvPr>
          <p:cNvSpPr>
            <a:spLocks xmlns:a="http://schemas.openxmlformats.org/drawingml/2006/main" noGrp="1"/>
          </p:cNvSpPr>
          <p:nvPr/>
        </p:nvSpPr>
        <p:spPr>
          <a:xfrm xmlns:a="http://schemas.openxmlformats.org/drawingml/2006/main">
            <a:off x="781050" y="1885950"/>
            <a:ext cx="1847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17201D"/>
                </a:solidFill>
                <a:latin typeface="Aptos"/>
                <a:ea typeface="Aptos"/>
                <a:cs typeface="Aptos"/>
              </a:defRPr>
            </a:pPr>
            <a:r>
              <a:rPr sz="1275" b="1">
                <a:solidFill>
                  <a:srgbClr val="17201D"/>
                </a:solidFill>
                <a:latin typeface="Aptos"/>
                <a:ea typeface="Aptos"/>
                <a:cs typeface="Aptos"/>
              </a:rPr>
              <a:t>Shift records</a:t>
            </a:r>
          </a:p>
        </p:txBody>
      </p:sp>
      <p:sp>
        <p:nvSpPr>
          <p:cNvPr id="6" name="">
            <a:extLst xmlns:a="http://schemas.openxmlformats.org/drawingml/2006/main">
              <a:ext uri="{FF2B5EF4-FFF2-40B4-BE49-F238E27FC236}">
                <a16:creationId xmlns:a16="http://schemas.microsoft.com/office/drawing/2014/main" id="{E9E1FDA9-99E0-40C4-B244-999B9E8CC052}"/>
              </a:ext>
            </a:extLst>
          </p:cNvPr>
          <p:cNvSpPr>
            <a:spLocks xmlns:a="http://schemas.openxmlformats.org/drawingml/2006/main" noGrp="1"/>
          </p:cNvSpPr>
          <p:nvPr/>
        </p:nvSpPr>
        <p:spPr>
          <a:xfrm xmlns:a="http://schemas.openxmlformats.org/drawingml/2006/main">
            <a:off x="781050" y="2171700"/>
            <a:ext cx="1847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5000"/>
              </a:lnSpc>
              <a:buNone/>
              <a:defRPr sz="1088" b="0">
                <a:solidFill>
                  <a:srgbClr val="5F6B64"/>
                </a:solidFill>
                <a:latin typeface="Aptos"/>
                <a:ea typeface="Aptos"/>
                <a:cs typeface="Aptos"/>
              </a:defRPr>
            </a:pPr>
            <a:r>
              <a:rPr sz="1088" b="0">
                <a:solidFill>
                  <a:srgbClr val="5F6B64"/>
                </a:solidFill>
                <a:latin typeface="Aptos"/>
                <a:ea typeface="Aptos"/>
                <a:cs typeface="Aptos"/>
              </a:rPr>
              <a:t>raw sim state, events and activities</a:t>
            </a:r>
          </a:p>
        </p:txBody>
      </p:sp>
      <p:sp>
        <p:nvSpPr>
          <p:cNvPr id="7" name="">
            <a:extLst xmlns:a="http://schemas.openxmlformats.org/drawingml/2006/main">
              <a:ext uri="{FF2B5EF4-FFF2-40B4-BE49-F238E27FC236}">
                <a16:creationId xmlns:a16="http://schemas.microsoft.com/office/drawing/2014/main" id="{3BFC95E2-9C2D-4801-A18B-3EB6C8CC2E85}"/>
              </a:ext>
            </a:extLst>
          </p:cNvPr>
          <p:cNvSpPr>
            <a:spLocks xmlns:a="http://schemas.openxmlformats.org/drawingml/2006/main" noGrp="1"/>
          </p:cNvSpPr>
          <p:nvPr/>
        </p:nvSpPr>
        <p:spPr>
          <a:xfrm xmlns:a="http://schemas.openxmlformats.org/drawingml/2006/main">
            <a:off x="3505200" y="1752600"/>
            <a:ext cx="21526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9D0C7"/>
            </a:solidFill>
            <a:prstDash val="solid"/>
          </a:ln>
        </p:spPr>
      </p:sp>
      <p:sp>
        <p:nvSpPr>
          <p:cNvPr id="8" name="">
            <a:extLst xmlns:a="http://schemas.openxmlformats.org/drawingml/2006/main">
              <a:ext uri="{FF2B5EF4-FFF2-40B4-BE49-F238E27FC236}">
                <a16:creationId xmlns:a16="http://schemas.microsoft.com/office/drawing/2014/main" id="{B56AA465-24CE-4F60-91CD-384853989EF0}"/>
              </a:ext>
            </a:extLst>
          </p:cNvPr>
          <p:cNvSpPr>
            <a:spLocks xmlns:a="http://schemas.openxmlformats.org/drawingml/2006/main" noGrp="1"/>
          </p:cNvSpPr>
          <p:nvPr/>
        </p:nvSpPr>
        <p:spPr>
          <a:xfrm xmlns:a="http://schemas.openxmlformats.org/drawingml/2006/main">
            <a:off x="3657600" y="1885950"/>
            <a:ext cx="1847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17201D"/>
                </a:solidFill>
                <a:latin typeface="Aptos"/>
                <a:ea typeface="Aptos"/>
                <a:cs typeface="Aptos"/>
              </a:defRPr>
            </a:pPr>
            <a:r>
              <a:rPr sz="1275" b="1">
                <a:solidFill>
                  <a:srgbClr val="17201D"/>
                </a:solidFill>
                <a:latin typeface="Aptos"/>
                <a:ea typeface="Aptos"/>
                <a:cs typeface="Aptos"/>
              </a:rPr>
              <a:t>Signals</a:t>
            </a:r>
          </a:p>
        </p:txBody>
      </p:sp>
      <p:sp>
        <p:nvSpPr>
          <p:cNvPr id="9" name="">
            <a:extLst xmlns:a="http://schemas.openxmlformats.org/drawingml/2006/main">
              <a:ext uri="{FF2B5EF4-FFF2-40B4-BE49-F238E27FC236}">
                <a16:creationId xmlns:a16="http://schemas.microsoft.com/office/drawing/2014/main" id="{826C23AB-BD2E-4848-A885-D0922518C021}"/>
              </a:ext>
            </a:extLst>
          </p:cNvPr>
          <p:cNvSpPr>
            <a:spLocks xmlns:a="http://schemas.openxmlformats.org/drawingml/2006/main" noGrp="1"/>
          </p:cNvSpPr>
          <p:nvPr/>
        </p:nvSpPr>
        <p:spPr>
          <a:xfrm xmlns:a="http://schemas.openxmlformats.org/drawingml/2006/main">
            <a:off x="3657600" y="2171700"/>
            <a:ext cx="1847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5000"/>
              </a:lnSpc>
              <a:buNone/>
              <a:defRPr sz="1088" b="0">
                <a:solidFill>
                  <a:srgbClr val="5F6B64"/>
                </a:solidFill>
                <a:latin typeface="Aptos"/>
                <a:ea typeface="Aptos"/>
                <a:cs typeface="Aptos"/>
              </a:defRPr>
            </a:pPr>
            <a:r>
              <a:rPr sz="1088" b="0">
                <a:solidFill>
                  <a:srgbClr val="5F6B64"/>
                </a:solidFill>
                <a:latin typeface="Aptos"/>
                <a:ea typeface="Aptos"/>
                <a:cs typeface="Aptos"/>
              </a:rPr>
              <a:t>smoothed values and trends</a:t>
            </a:r>
          </a:p>
        </p:txBody>
      </p:sp>
      <p:sp>
        <p:nvSpPr>
          <p:cNvPr id="10" name="">
            <a:extLst xmlns:a="http://schemas.openxmlformats.org/drawingml/2006/main">
              <a:ext uri="{FF2B5EF4-FFF2-40B4-BE49-F238E27FC236}">
                <a16:creationId xmlns:a16="http://schemas.microsoft.com/office/drawing/2014/main" id="{0F666B0C-05D4-4E1C-A4B4-F1682699A9AB}"/>
              </a:ext>
            </a:extLst>
          </p:cNvPr>
          <p:cNvSpPr>
            <a:spLocks xmlns:a="http://schemas.openxmlformats.org/drawingml/2006/main" noGrp="1"/>
          </p:cNvSpPr>
          <p:nvPr/>
        </p:nvSpPr>
        <p:spPr>
          <a:xfrm xmlns:a="http://schemas.openxmlformats.org/drawingml/2006/main">
            <a:off x="6381750" y="1752600"/>
            <a:ext cx="21526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9D0C7"/>
            </a:solidFill>
            <a:prstDash val="solid"/>
          </a:ln>
        </p:spPr>
      </p:sp>
      <p:sp>
        <p:nvSpPr>
          <p:cNvPr id="11" name="">
            <a:extLst xmlns:a="http://schemas.openxmlformats.org/drawingml/2006/main">
              <a:ext uri="{FF2B5EF4-FFF2-40B4-BE49-F238E27FC236}">
                <a16:creationId xmlns:a16="http://schemas.microsoft.com/office/drawing/2014/main" id="{08116115-4037-4A2C-9E7D-5D1222542D51}"/>
              </a:ext>
            </a:extLst>
          </p:cNvPr>
          <p:cNvSpPr>
            <a:spLocks xmlns:a="http://schemas.openxmlformats.org/drawingml/2006/main" noGrp="1"/>
          </p:cNvSpPr>
          <p:nvPr/>
        </p:nvSpPr>
        <p:spPr>
          <a:xfrm xmlns:a="http://schemas.openxmlformats.org/drawingml/2006/main">
            <a:off x="6534150" y="1885950"/>
            <a:ext cx="1847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17201D"/>
                </a:solidFill>
                <a:latin typeface="Aptos"/>
                <a:ea typeface="Aptos"/>
                <a:cs typeface="Aptos"/>
              </a:defRPr>
            </a:pPr>
            <a:r>
              <a:rPr sz="1275" b="1">
                <a:solidFill>
                  <a:srgbClr val="17201D"/>
                </a:solidFill>
                <a:latin typeface="Aptos"/>
                <a:ea typeface="Aptos"/>
                <a:cs typeface="Aptos"/>
              </a:rPr>
              <a:t>Detection</a:t>
            </a:r>
          </a:p>
        </p:txBody>
      </p:sp>
      <p:sp>
        <p:nvSpPr>
          <p:cNvPr id="12" name="">
            <a:extLst xmlns:a="http://schemas.openxmlformats.org/drawingml/2006/main">
              <a:ext uri="{FF2B5EF4-FFF2-40B4-BE49-F238E27FC236}">
                <a16:creationId xmlns:a16="http://schemas.microsoft.com/office/drawing/2014/main" id="{734E4B6C-CB82-479F-878A-39900D66D7A9}"/>
              </a:ext>
            </a:extLst>
          </p:cNvPr>
          <p:cNvSpPr>
            <a:spLocks xmlns:a="http://schemas.openxmlformats.org/drawingml/2006/main" noGrp="1"/>
          </p:cNvSpPr>
          <p:nvPr/>
        </p:nvSpPr>
        <p:spPr>
          <a:xfrm xmlns:a="http://schemas.openxmlformats.org/drawingml/2006/main">
            <a:off x="6534150" y="2171700"/>
            <a:ext cx="1847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5000"/>
              </a:lnSpc>
              <a:buNone/>
              <a:defRPr sz="1088" b="0">
                <a:solidFill>
                  <a:srgbClr val="5F6B64"/>
                </a:solidFill>
                <a:latin typeface="Aptos"/>
                <a:ea typeface="Aptos"/>
                <a:cs typeface="Aptos"/>
              </a:defRPr>
            </a:pPr>
            <a:r>
              <a:rPr sz="1088" b="0">
                <a:solidFill>
                  <a:srgbClr val="5F6B64"/>
                </a:solidFill>
                <a:latin typeface="Aptos"/>
                <a:ea typeface="Aptos"/>
                <a:cs typeface="Aptos"/>
              </a:rPr>
              <a:t>notable changes above noise</a:t>
            </a:r>
          </a:p>
        </p:txBody>
      </p:sp>
      <p:sp>
        <p:nvSpPr>
          <p:cNvPr id="13" name="">
            <a:extLst xmlns:a="http://schemas.openxmlformats.org/drawingml/2006/main">
              <a:ext uri="{FF2B5EF4-FFF2-40B4-BE49-F238E27FC236}">
                <a16:creationId xmlns:a16="http://schemas.microsoft.com/office/drawing/2014/main" id="{5C01F5F3-7D37-4D9D-AE7E-B5F07B1489EC}"/>
              </a:ext>
            </a:extLst>
          </p:cNvPr>
          <p:cNvSpPr>
            <a:spLocks xmlns:a="http://schemas.openxmlformats.org/drawingml/2006/main" noGrp="1"/>
          </p:cNvSpPr>
          <p:nvPr/>
        </p:nvSpPr>
        <p:spPr>
          <a:xfrm xmlns:a="http://schemas.openxmlformats.org/drawingml/2006/main">
            <a:off x="9258300" y="1752600"/>
            <a:ext cx="21526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9D0C7"/>
            </a:solidFill>
            <a:prstDash val="solid"/>
          </a:ln>
        </p:spPr>
      </p:sp>
      <p:sp>
        <p:nvSpPr>
          <p:cNvPr id="14" name="">
            <a:extLst xmlns:a="http://schemas.openxmlformats.org/drawingml/2006/main">
              <a:ext uri="{FF2B5EF4-FFF2-40B4-BE49-F238E27FC236}">
                <a16:creationId xmlns:a16="http://schemas.microsoft.com/office/drawing/2014/main" id="{3FC7C4D3-5E5C-4A2A-ABCC-E9A292DD0FC5}"/>
              </a:ext>
            </a:extLst>
          </p:cNvPr>
          <p:cNvSpPr>
            <a:spLocks xmlns:a="http://schemas.openxmlformats.org/drawingml/2006/main" noGrp="1"/>
          </p:cNvSpPr>
          <p:nvPr/>
        </p:nvSpPr>
        <p:spPr>
          <a:xfrm xmlns:a="http://schemas.openxmlformats.org/drawingml/2006/main">
            <a:off x="9410700" y="1885950"/>
            <a:ext cx="1847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17201D"/>
                </a:solidFill>
                <a:latin typeface="Aptos"/>
                <a:ea typeface="Aptos"/>
                <a:cs typeface="Aptos"/>
              </a:defRPr>
            </a:pPr>
            <a:r>
              <a:rPr sz="1275" b="1">
                <a:solidFill>
                  <a:srgbClr val="17201D"/>
                </a:solidFill>
                <a:latin typeface="Aptos"/>
                <a:ea typeface="Aptos"/>
                <a:cs typeface="Aptos"/>
              </a:rPr>
              <a:t>Attribution</a:t>
            </a:r>
          </a:p>
        </p:txBody>
      </p:sp>
      <p:sp>
        <p:nvSpPr>
          <p:cNvPr id="15" name="">
            <a:extLst xmlns:a="http://schemas.openxmlformats.org/drawingml/2006/main">
              <a:ext uri="{FF2B5EF4-FFF2-40B4-BE49-F238E27FC236}">
                <a16:creationId xmlns:a16="http://schemas.microsoft.com/office/drawing/2014/main" id="{4165E0E5-445A-4B9E-A0B3-F2FA9836AD7A}"/>
              </a:ext>
            </a:extLst>
          </p:cNvPr>
          <p:cNvSpPr>
            <a:spLocks xmlns:a="http://schemas.openxmlformats.org/drawingml/2006/main" noGrp="1"/>
          </p:cNvSpPr>
          <p:nvPr/>
        </p:nvSpPr>
        <p:spPr>
          <a:xfrm xmlns:a="http://schemas.openxmlformats.org/drawingml/2006/main">
            <a:off x="9410700" y="2171700"/>
            <a:ext cx="1847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5000"/>
              </a:lnSpc>
              <a:buNone/>
              <a:defRPr sz="1088" b="0">
                <a:solidFill>
                  <a:srgbClr val="5F6B64"/>
                </a:solidFill>
                <a:latin typeface="Aptos"/>
                <a:ea typeface="Aptos"/>
                <a:cs typeface="Aptos"/>
              </a:defRPr>
            </a:pPr>
            <a:r>
              <a:rPr sz="1088" b="0">
                <a:solidFill>
                  <a:srgbClr val="5F6B64"/>
                </a:solidFill>
                <a:latin typeface="Aptos"/>
                <a:ea typeface="Aptos"/>
                <a:cs typeface="Aptos"/>
              </a:rPr>
              <a:t>timed suspects and known links</a:t>
            </a:r>
          </a:p>
        </p:txBody>
      </p:sp>
      <p:sp>
        <p:nvSpPr>
          <p:cNvPr id="16" name="">
            <a:extLst xmlns:a="http://schemas.openxmlformats.org/drawingml/2006/main">
              <a:ext uri="{FF2B5EF4-FFF2-40B4-BE49-F238E27FC236}">
                <a16:creationId xmlns:a16="http://schemas.microsoft.com/office/drawing/2014/main" id="{1BF69F3B-2B06-446A-9176-50C9590AAA04}"/>
              </a:ext>
            </a:extLst>
          </p:cNvPr>
          <p:cNvSpPr>
            <a:spLocks xmlns:a="http://schemas.openxmlformats.org/drawingml/2006/main" noGrp="1"/>
          </p:cNvSpPr>
          <p:nvPr/>
        </p:nvSpPr>
        <p:spPr>
          <a:xfrm xmlns:a="http://schemas.openxmlformats.org/drawingml/2006/main">
            <a:off x="628650" y="4095750"/>
            <a:ext cx="21526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9D0C7"/>
            </a:solidFill>
            <a:prstDash val="solid"/>
          </a:ln>
        </p:spPr>
      </p:sp>
      <p:sp>
        <p:nvSpPr>
          <p:cNvPr id="17" name="">
            <a:extLst xmlns:a="http://schemas.openxmlformats.org/drawingml/2006/main">
              <a:ext uri="{FF2B5EF4-FFF2-40B4-BE49-F238E27FC236}">
                <a16:creationId xmlns:a16="http://schemas.microsoft.com/office/drawing/2014/main" id="{824EE649-25A8-4F01-98BD-73B0D1768B5C}"/>
              </a:ext>
            </a:extLst>
          </p:cNvPr>
          <p:cNvSpPr>
            <a:spLocks xmlns:a="http://schemas.openxmlformats.org/drawingml/2006/main" noGrp="1"/>
          </p:cNvSpPr>
          <p:nvPr/>
        </p:nvSpPr>
        <p:spPr>
          <a:xfrm xmlns:a="http://schemas.openxmlformats.org/drawingml/2006/main">
            <a:off x="781050" y="4229100"/>
            <a:ext cx="1847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17201D"/>
                </a:solidFill>
                <a:latin typeface="Aptos"/>
                <a:ea typeface="Aptos"/>
                <a:cs typeface="Aptos"/>
              </a:defRPr>
            </a:pPr>
            <a:r>
              <a:rPr sz="1275" b="1">
                <a:solidFill>
                  <a:srgbClr val="17201D"/>
                </a:solidFill>
                <a:latin typeface="Aptos"/>
                <a:ea typeface="Aptos"/>
                <a:cs typeface="Aptos"/>
              </a:rPr>
              <a:t>Gate</a:t>
            </a:r>
          </a:p>
        </p:txBody>
      </p:sp>
      <p:sp>
        <p:nvSpPr>
          <p:cNvPr id="18" name="">
            <a:extLst xmlns:a="http://schemas.openxmlformats.org/drawingml/2006/main">
              <a:ext uri="{FF2B5EF4-FFF2-40B4-BE49-F238E27FC236}">
                <a16:creationId xmlns:a16="http://schemas.microsoft.com/office/drawing/2014/main" id="{3CF88815-2F99-4944-B653-7195BE20A3F3}"/>
              </a:ext>
            </a:extLst>
          </p:cNvPr>
          <p:cNvSpPr>
            <a:spLocks xmlns:a="http://schemas.openxmlformats.org/drawingml/2006/main" noGrp="1"/>
          </p:cNvSpPr>
          <p:nvPr/>
        </p:nvSpPr>
        <p:spPr>
          <a:xfrm xmlns:a="http://schemas.openxmlformats.org/drawingml/2006/main">
            <a:off x="781050" y="4514850"/>
            <a:ext cx="1847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5000"/>
              </a:lnSpc>
              <a:buNone/>
              <a:defRPr sz="1088" b="0">
                <a:solidFill>
                  <a:srgbClr val="5F6B64"/>
                </a:solidFill>
                <a:latin typeface="Aptos"/>
                <a:ea typeface="Aptos"/>
                <a:cs typeface="Aptos"/>
              </a:defRPr>
            </a:pPr>
            <a:r>
              <a:rPr sz="1088" b="0">
                <a:solidFill>
                  <a:srgbClr val="5F6B64"/>
                </a:solidFill>
                <a:latin typeface="Aptos"/>
                <a:ea typeface="Aptos"/>
                <a:cs typeface="Aptos"/>
              </a:rPr>
              <a:t>few cards, no alert spam</a:t>
            </a:r>
          </a:p>
        </p:txBody>
      </p:sp>
      <p:sp>
        <p:nvSpPr>
          <p:cNvPr id="19" name="">
            <a:extLst xmlns:a="http://schemas.openxmlformats.org/drawingml/2006/main">
              <a:ext uri="{FF2B5EF4-FFF2-40B4-BE49-F238E27FC236}">
                <a16:creationId xmlns:a16="http://schemas.microsoft.com/office/drawing/2014/main" id="{2442D8D5-E962-4054-A61B-D347039CE130}"/>
              </a:ext>
            </a:extLst>
          </p:cNvPr>
          <p:cNvSpPr>
            <a:spLocks xmlns:a="http://schemas.openxmlformats.org/drawingml/2006/main" noGrp="1"/>
          </p:cNvSpPr>
          <p:nvPr/>
        </p:nvSpPr>
        <p:spPr>
          <a:xfrm xmlns:a="http://schemas.openxmlformats.org/drawingml/2006/main">
            <a:off x="3505200" y="4095750"/>
            <a:ext cx="2152650" cy="1066800"/>
          </a:xfrm>
          <a:prstGeom xmlns:a="http://schemas.openxmlformats.org/drawingml/2006/main" prst="roundRect">
            <a:avLst>
              <a:gd name="adj" fmla="val 7143"/>
            </a:avLst>
          </a:prstGeom>
          <a:solidFill xmlns:a="http://schemas.openxmlformats.org/drawingml/2006/main">
            <a:srgbClr val="DDEFE6"/>
          </a:solidFill>
          <a:ln xmlns:a="http://schemas.openxmlformats.org/drawingml/2006/main" w="9525">
            <a:solidFill>
              <a:srgbClr val="C9D0C7"/>
            </a:solidFill>
            <a:prstDash val="solid"/>
          </a:ln>
        </p:spPr>
      </p:sp>
      <p:sp>
        <p:nvSpPr>
          <p:cNvPr id="20" name="">
            <a:extLst xmlns:a="http://schemas.openxmlformats.org/drawingml/2006/main">
              <a:ext uri="{FF2B5EF4-FFF2-40B4-BE49-F238E27FC236}">
                <a16:creationId xmlns:a16="http://schemas.microsoft.com/office/drawing/2014/main" id="{0465BBE5-92DB-49D4-9ECC-5A61346C3DC8}"/>
              </a:ext>
            </a:extLst>
          </p:cNvPr>
          <p:cNvSpPr>
            <a:spLocks xmlns:a="http://schemas.openxmlformats.org/drawingml/2006/main" noGrp="1"/>
          </p:cNvSpPr>
          <p:nvPr/>
        </p:nvSpPr>
        <p:spPr>
          <a:xfrm xmlns:a="http://schemas.openxmlformats.org/drawingml/2006/main">
            <a:off x="3657600" y="4229100"/>
            <a:ext cx="1847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17201D"/>
                </a:solidFill>
                <a:latin typeface="Aptos"/>
                <a:ea typeface="Aptos"/>
                <a:cs typeface="Aptos"/>
              </a:defRPr>
            </a:pPr>
            <a:r>
              <a:rPr sz="1275" b="1">
                <a:solidFill>
                  <a:srgbClr val="17201D"/>
                </a:solidFill>
                <a:latin typeface="Aptos"/>
                <a:ea typeface="Aptos"/>
                <a:cs typeface="Aptos"/>
              </a:rPr>
              <a:t>Evidence package</a:t>
            </a:r>
          </a:p>
        </p:txBody>
      </p:sp>
      <p:sp>
        <p:nvSpPr>
          <p:cNvPr id="21" name="">
            <a:extLst xmlns:a="http://schemas.openxmlformats.org/drawingml/2006/main">
              <a:ext uri="{FF2B5EF4-FFF2-40B4-BE49-F238E27FC236}">
                <a16:creationId xmlns:a16="http://schemas.microsoft.com/office/drawing/2014/main" id="{79493384-763F-42D5-A659-20F6291B3C9F}"/>
              </a:ext>
            </a:extLst>
          </p:cNvPr>
          <p:cNvSpPr>
            <a:spLocks xmlns:a="http://schemas.openxmlformats.org/drawingml/2006/main" noGrp="1"/>
          </p:cNvSpPr>
          <p:nvPr/>
        </p:nvSpPr>
        <p:spPr>
          <a:xfrm xmlns:a="http://schemas.openxmlformats.org/drawingml/2006/main">
            <a:off x="3657600" y="4514850"/>
            <a:ext cx="1847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5000"/>
              </a:lnSpc>
              <a:buNone/>
              <a:defRPr sz="1088" b="0">
                <a:solidFill>
                  <a:srgbClr val="5F6B64"/>
                </a:solidFill>
                <a:latin typeface="Aptos"/>
                <a:ea typeface="Aptos"/>
                <a:cs typeface="Aptos"/>
              </a:defRPr>
            </a:pPr>
            <a:r>
              <a:rPr sz="1088" b="0">
                <a:solidFill>
                  <a:srgbClr val="5F6B64"/>
                </a:solidFill>
                <a:latin typeface="Aptos"/>
                <a:ea typeface="Aptos"/>
                <a:cs typeface="Aptos"/>
              </a:rPr>
              <a:t>slots, statements and refs</a:t>
            </a:r>
          </a:p>
        </p:txBody>
      </p:sp>
      <p:sp>
        <p:nvSpPr>
          <p:cNvPr id="22" name="">
            <a:extLst xmlns:a="http://schemas.openxmlformats.org/drawingml/2006/main">
              <a:ext uri="{FF2B5EF4-FFF2-40B4-BE49-F238E27FC236}">
                <a16:creationId xmlns:a16="http://schemas.microsoft.com/office/drawing/2014/main" id="{7D73720B-7581-4858-B5B3-9A29D6DD0365}"/>
              </a:ext>
            </a:extLst>
          </p:cNvPr>
          <p:cNvSpPr>
            <a:spLocks xmlns:a="http://schemas.openxmlformats.org/drawingml/2006/main" noGrp="1"/>
          </p:cNvSpPr>
          <p:nvPr/>
        </p:nvSpPr>
        <p:spPr>
          <a:xfrm xmlns:a="http://schemas.openxmlformats.org/drawingml/2006/main">
            <a:off x="6381750" y="4095750"/>
            <a:ext cx="21526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9D0C7"/>
            </a:solidFill>
            <a:prstDash val="solid"/>
          </a:ln>
        </p:spPr>
      </p:sp>
      <p:sp>
        <p:nvSpPr>
          <p:cNvPr id="23" name="">
            <a:extLst xmlns:a="http://schemas.openxmlformats.org/drawingml/2006/main">
              <a:ext uri="{FF2B5EF4-FFF2-40B4-BE49-F238E27FC236}">
                <a16:creationId xmlns:a16="http://schemas.microsoft.com/office/drawing/2014/main" id="{4FF49BE7-B07A-4859-AE79-B2CFF76DE6EB}"/>
              </a:ext>
            </a:extLst>
          </p:cNvPr>
          <p:cNvSpPr>
            <a:spLocks xmlns:a="http://schemas.openxmlformats.org/drawingml/2006/main" noGrp="1"/>
          </p:cNvSpPr>
          <p:nvPr/>
        </p:nvSpPr>
        <p:spPr>
          <a:xfrm xmlns:a="http://schemas.openxmlformats.org/drawingml/2006/main">
            <a:off x="6534150" y="4229100"/>
            <a:ext cx="1847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17201D"/>
                </a:solidFill>
                <a:latin typeface="Aptos"/>
                <a:ea typeface="Aptos"/>
                <a:cs typeface="Aptos"/>
              </a:defRPr>
            </a:pPr>
            <a:r>
              <a:rPr sz="1275" b="1">
                <a:solidFill>
                  <a:srgbClr val="17201D"/>
                </a:solidFill>
                <a:latin typeface="Aptos"/>
                <a:ea typeface="Aptos"/>
                <a:cs typeface="Aptos"/>
              </a:rPr>
              <a:t>Writer</a:t>
            </a:r>
          </a:p>
        </p:txBody>
      </p:sp>
      <p:sp>
        <p:nvSpPr>
          <p:cNvPr id="24" name="">
            <a:extLst xmlns:a="http://schemas.openxmlformats.org/drawingml/2006/main">
              <a:ext uri="{FF2B5EF4-FFF2-40B4-BE49-F238E27FC236}">
                <a16:creationId xmlns:a16="http://schemas.microsoft.com/office/drawing/2014/main" id="{7724C5D7-3F1D-4E7D-BE4D-BF38EEB9E2B2}"/>
              </a:ext>
            </a:extLst>
          </p:cNvPr>
          <p:cNvSpPr>
            <a:spLocks xmlns:a="http://schemas.openxmlformats.org/drawingml/2006/main" noGrp="1"/>
          </p:cNvSpPr>
          <p:nvPr/>
        </p:nvSpPr>
        <p:spPr>
          <a:xfrm xmlns:a="http://schemas.openxmlformats.org/drawingml/2006/main">
            <a:off x="6534150" y="4514850"/>
            <a:ext cx="1847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5000"/>
              </a:lnSpc>
              <a:buNone/>
              <a:defRPr sz="1088" b="0">
                <a:solidFill>
                  <a:srgbClr val="5F6B64"/>
                </a:solidFill>
                <a:latin typeface="Aptos"/>
                <a:ea typeface="Aptos"/>
                <a:cs typeface="Aptos"/>
              </a:defRPr>
            </a:pPr>
            <a:r>
              <a:rPr sz="1088" b="0">
                <a:solidFill>
                  <a:srgbClr val="5F6B64"/>
                </a:solidFill>
                <a:latin typeface="Aptos"/>
                <a:ea typeface="Aptos"/>
                <a:cs typeface="Aptos"/>
              </a:rPr>
              <a:t>template first, Gemini optional</a:t>
            </a:r>
          </a:p>
        </p:txBody>
      </p:sp>
      <p:sp>
        <p:nvSpPr>
          <p:cNvPr id="25" name="">
            <a:extLst xmlns:a="http://schemas.openxmlformats.org/drawingml/2006/main">
              <a:ext uri="{FF2B5EF4-FFF2-40B4-BE49-F238E27FC236}">
                <a16:creationId xmlns:a16="http://schemas.microsoft.com/office/drawing/2014/main" id="{6E593A42-86DC-43EA-97AC-1FA475FE25DF}"/>
              </a:ext>
            </a:extLst>
          </p:cNvPr>
          <p:cNvSpPr>
            <a:spLocks xmlns:a="http://schemas.openxmlformats.org/drawingml/2006/main" noGrp="1"/>
          </p:cNvSpPr>
          <p:nvPr/>
        </p:nvSpPr>
        <p:spPr>
          <a:xfrm xmlns:a="http://schemas.openxmlformats.org/drawingml/2006/main">
            <a:off x="9258300" y="4095750"/>
            <a:ext cx="21526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9D0C7"/>
            </a:solidFill>
            <a:prstDash val="solid"/>
          </a:ln>
        </p:spPr>
      </p:sp>
      <p:sp>
        <p:nvSpPr>
          <p:cNvPr id="26" name="">
            <a:extLst xmlns:a="http://schemas.openxmlformats.org/drawingml/2006/main">
              <a:ext uri="{FF2B5EF4-FFF2-40B4-BE49-F238E27FC236}">
                <a16:creationId xmlns:a16="http://schemas.microsoft.com/office/drawing/2014/main" id="{C4C14473-82F0-4ED1-9B38-31E62D431FF2}"/>
              </a:ext>
            </a:extLst>
          </p:cNvPr>
          <p:cNvSpPr>
            <a:spLocks xmlns:a="http://schemas.openxmlformats.org/drawingml/2006/main" noGrp="1"/>
          </p:cNvSpPr>
          <p:nvPr/>
        </p:nvSpPr>
        <p:spPr>
          <a:xfrm xmlns:a="http://schemas.openxmlformats.org/drawingml/2006/main">
            <a:off x="9410700" y="4229100"/>
            <a:ext cx="1847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17201D"/>
                </a:solidFill>
                <a:latin typeface="Aptos"/>
                <a:ea typeface="Aptos"/>
                <a:cs typeface="Aptos"/>
              </a:defRPr>
            </a:pPr>
            <a:r>
              <a:rPr sz="1275" b="1">
                <a:solidFill>
                  <a:srgbClr val="17201D"/>
                </a:solidFill>
                <a:latin typeface="Aptos"/>
                <a:ea typeface="Aptos"/>
                <a:cs typeface="Aptos"/>
              </a:rPr>
              <a:t>Verifier</a:t>
            </a:r>
          </a:p>
        </p:txBody>
      </p:sp>
      <p:sp>
        <p:nvSpPr>
          <p:cNvPr id="27" name="">
            <a:extLst xmlns:a="http://schemas.openxmlformats.org/drawingml/2006/main">
              <a:ext uri="{FF2B5EF4-FFF2-40B4-BE49-F238E27FC236}">
                <a16:creationId xmlns:a16="http://schemas.microsoft.com/office/drawing/2014/main" id="{2E6ABE9A-C71A-4571-B360-1617E67748F1}"/>
              </a:ext>
            </a:extLst>
          </p:cNvPr>
          <p:cNvSpPr>
            <a:spLocks xmlns:a="http://schemas.openxmlformats.org/drawingml/2006/main" noGrp="1"/>
          </p:cNvSpPr>
          <p:nvPr/>
        </p:nvSpPr>
        <p:spPr>
          <a:xfrm xmlns:a="http://schemas.openxmlformats.org/drawingml/2006/main">
            <a:off x="9410700" y="4514850"/>
            <a:ext cx="1847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5000"/>
              </a:lnSpc>
              <a:buNone/>
              <a:defRPr sz="1088" b="0">
                <a:solidFill>
                  <a:srgbClr val="5F6B64"/>
                </a:solidFill>
                <a:latin typeface="Aptos"/>
                <a:ea typeface="Aptos"/>
                <a:cs typeface="Aptos"/>
              </a:defRPr>
            </a:pPr>
            <a:r>
              <a:rPr sz="1088" b="0">
                <a:solidFill>
                  <a:srgbClr val="5F6B64"/>
                </a:solidFill>
                <a:latin typeface="Aptos"/>
                <a:ea typeface="Aptos"/>
                <a:cs typeface="Aptos"/>
              </a:rPr>
              <a:t>rejects unsupported wording</a:t>
            </a:r>
          </a:p>
        </p:txBody>
      </p:sp>
      <p:cxnSp>
        <p:nvCxnSpPr>
          <p:cNvPr id="66" name=""/>
          <p:cNvCxnSpPr>
            <a:stCxn xmlns:a="http://schemas.openxmlformats.org/drawingml/2006/main" id="4" idx="3"/>
            <a:endCxn xmlns:a="http://schemas.openxmlformats.org/drawingml/2006/main" id="7" idx="1"/>
          </p:cNvCxnSpPr>
          <p:nvPr/>
        </p:nvCxnSpPr>
        <p:spPr>
          <a:xfrm xmlns:a="http://schemas.openxmlformats.org/drawingml/2006/main">
            <a:off x="2781300" y="2286000"/>
            <a:ext cx="723900" cy="0"/>
          </a:xfrm>
          <a:prstGeom xmlns:a="http://schemas.openxmlformats.org/drawingml/2006/main" prst="straightConnector1">
            <a:avLst/>
          </a:prstGeom>
          <a:ln xmlns:a="http://schemas.openxmlformats.org/drawingml/2006/main" w="19050">
            <a:solidFill>
              <a:srgbClr val="1F8A5B"/>
            </a:solidFill>
            <a:prstDash val="solid"/>
            <a:headEnd type="triangle" w="sm" len="sm"/>
          </a:ln>
        </p:spPr>
      </p:cxnSp>
      <p:cxnSp>
        <p:nvCxnSpPr>
          <p:cNvPr id="67" name=""/>
          <p:cNvCxnSpPr>
            <a:stCxn xmlns:a="http://schemas.openxmlformats.org/drawingml/2006/main" id="7" idx="3"/>
            <a:endCxn xmlns:a="http://schemas.openxmlformats.org/drawingml/2006/main" id="10" idx="1"/>
          </p:cNvCxnSpPr>
          <p:nvPr/>
        </p:nvCxnSpPr>
        <p:spPr>
          <a:xfrm xmlns:a="http://schemas.openxmlformats.org/drawingml/2006/main">
            <a:off x="5657850" y="2286000"/>
            <a:ext cx="723900" cy="0"/>
          </a:xfrm>
          <a:prstGeom xmlns:a="http://schemas.openxmlformats.org/drawingml/2006/main" prst="straightConnector1">
            <a:avLst/>
          </a:prstGeom>
          <a:ln xmlns:a="http://schemas.openxmlformats.org/drawingml/2006/main" w="19050">
            <a:solidFill>
              <a:srgbClr val="1F8A5B"/>
            </a:solidFill>
            <a:prstDash val="solid"/>
            <a:headEnd type="triangle" w="sm" len="sm"/>
          </a:ln>
        </p:spPr>
      </p:cxnSp>
      <p:cxnSp>
        <p:nvCxnSpPr>
          <p:cNvPr id="68" name=""/>
          <p:cNvCxnSpPr>
            <a:stCxn xmlns:a="http://schemas.openxmlformats.org/drawingml/2006/main" id="10" idx="3"/>
            <a:endCxn xmlns:a="http://schemas.openxmlformats.org/drawingml/2006/main" id="13" idx="1"/>
          </p:cNvCxnSpPr>
          <p:nvPr/>
        </p:nvCxnSpPr>
        <p:spPr>
          <a:xfrm xmlns:a="http://schemas.openxmlformats.org/drawingml/2006/main">
            <a:off x="8534400" y="2286000"/>
            <a:ext cx="723900" cy="0"/>
          </a:xfrm>
          <a:prstGeom xmlns:a="http://schemas.openxmlformats.org/drawingml/2006/main" prst="straightConnector1">
            <a:avLst/>
          </a:prstGeom>
          <a:ln xmlns:a="http://schemas.openxmlformats.org/drawingml/2006/main" w="19050">
            <a:solidFill>
              <a:srgbClr val="1F8A5B"/>
            </a:solidFill>
            <a:prstDash val="solid"/>
            <a:headEnd type="triangle" w="sm" len="sm"/>
          </a:ln>
        </p:spPr>
      </p:cxnSp>
      <p:cxnSp>
        <p:nvCxnSpPr>
          <p:cNvPr id="69" name=""/>
          <p:cNvCxnSpPr>
            <a:stCxn xmlns:a="http://schemas.openxmlformats.org/drawingml/2006/main" id="16" idx="3"/>
            <a:endCxn xmlns:a="http://schemas.openxmlformats.org/drawingml/2006/main" id="19" idx="1"/>
          </p:cNvCxnSpPr>
          <p:nvPr/>
        </p:nvCxnSpPr>
        <p:spPr>
          <a:xfrm xmlns:a="http://schemas.openxmlformats.org/drawingml/2006/main">
            <a:off x="2781300" y="4629150"/>
            <a:ext cx="723900" cy="0"/>
          </a:xfrm>
          <a:prstGeom xmlns:a="http://schemas.openxmlformats.org/drawingml/2006/main" prst="straightConnector1">
            <a:avLst/>
          </a:prstGeom>
          <a:ln xmlns:a="http://schemas.openxmlformats.org/drawingml/2006/main" w="19050">
            <a:solidFill>
              <a:srgbClr val="1F8A5B"/>
            </a:solidFill>
            <a:prstDash val="solid"/>
            <a:headEnd type="triangle" w="sm" len="sm"/>
          </a:ln>
        </p:spPr>
      </p:cxnSp>
      <p:cxnSp>
        <p:nvCxnSpPr>
          <p:cNvPr id="70" name=""/>
          <p:cNvCxnSpPr>
            <a:stCxn xmlns:a="http://schemas.openxmlformats.org/drawingml/2006/main" id="19" idx="3"/>
            <a:endCxn xmlns:a="http://schemas.openxmlformats.org/drawingml/2006/main" id="22" idx="1"/>
          </p:cNvCxnSpPr>
          <p:nvPr/>
        </p:nvCxnSpPr>
        <p:spPr>
          <a:xfrm xmlns:a="http://schemas.openxmlformats.org/drawingml/2006/main">
            <a:off x="5657850" y="4629150"/>
            <a:ext cx="723900" cy="0"/>
          </a:xfrm>
          <a:prstGeom xmlns:a="http://schemas.openxmlformats.org/drawingml/2006/main" prst="straightConnector1">
            <a:avLst/>
          </a:prstGeom>
          <a:ln xmlns:a="http://schemas.openxmlformats.org/drawingml/2006/main" w="19050">
            <a:solidFill>
              <a:srgbClr val="1F8A5B"/>
            </a:solidFill>
            <a:prstDash val="solid"/>
            <a:headEnd type="triangle" w="sm" len="sm"/>
          </a:ln>
        </p:spPr>
      </p:cxnSp>
      <p:cxnSp>
        <p:nvCxnSpPr>
          <p:cNvPr id="71" name=""/>
          <p:cNvCxnSpPr>
            <a:stCxn xmlns:a="http://schemas.openxmlformats.org/drawingml/2006/main" id="22" idx="3"/>
            <a:endCxn xmlns:a="http://schemas.openxmlformats.org/drawingml/2006/main" id="25" idx="1"/>
          </p:cNvCxnSpPr>
          <p:nvPr/>
        </p:nvCxnSpPr>
        <p:spPr>
          <a:xfrm xmlns:a="http://schemas.openxmlformats.org/drawingml/2006/main">
            <a:off x="8534400" y="4629150"/>
            <a:ext cx="723900" cy="0"/>
          </a:xfrm>
          <a:prstGeom xmlns:a="http://schemas.openxmlformats.org/drawingml/2006/main" prst="straightConnector1">
            <a:avLst/>
          </a:prstGeom>
          <a:ln xmlns:a="http://schemas.openxmlformats.org/drawingml/2006/main" w="19050">
            <a:solidFill>
              <a:srgbClr val="1F8A5B"/>
            </a:solidFill>
            <a:prstDash val="solid"/>
            <a:headEnd type="triangle" w="sm" len="sm"/>
          </a:ln>
        </p:spPr>
      </p:cxnSp>
      <p:cxnSp>
        <p:nvCxnSpPr>
          <p:cNvPr id="72" name=""/>
          <p:cNvCxnSpPr>
            <a:stCxn xmlns:a="http://schemas.openxmlformats.org/drawingml/2006/main" id="13" idx="2"/>
            <a:endCxn xmlns:a="http://schemas.openxmlformats.org/drawingml/2006/main" id="16" idx="0"/>
          </p:cNvCxnSpPr>
          <p:nvPr/>
        </p:nvCxnSpPr>
        <p:spPr>
          <a:xfrm xmlns:a="http://schemas.openxmlformats.org/drawingml/2006/main" flipH="1">
            <a:off x="1704975" y="2819400"/>
            <a:ext cx="9153525" cy="1276350"/>
          </a:xfrm>
          <a:prstGeom xmlns:a="http://schemas.openxmlformats.org/drawingml/2006/main" prst="bentConnector4">
            <a:avLst/>
          </a:prstGeom>
          <a:ln xmlns:a="http://schemas.openxmlformats.org/drawingml/2006/main" w="19050">
            <a:solidFill>
              <a:srgbClr val="1F8A5B"/>
            </a:solidFill>
            <a:prstDash val="solid"/>
            <a:headEnd type="triangle" w="sm" len="sm"/>
          </a:ln>
        </p:spPr>
      </p:cxnSp>
      <p:sp>
        <p:nvSpPr>
          <p:cNvPr id="35" name="">
            <a:extLst xmlns:a="http://schemas.openxmlformats.org/drawingml/2006/main">
              <a:ext uri="{FF2B5EF4-FFF2-40B4-BE49-F238E27FC236}">
                <a16:creationId xmlns:a16="http://schemas.microsoft.com/office/drawing/2014/main" id="{5C06BC79-36B5-4324-B26B-8D55AD39F994}"/>
              </a:ext>
            </a:extLst>
          </p:cNvPr>
          <p:cNvSpPr>
            <a:spLocks xmlns:a="http://schemas.openxmlformats.org/drawingml/2006/main" noGrp="1"/>
          </p:cNvSpPr>
          <p:nvPr/>
        </p:nvSpPr>
        <p:spPr>
          <a:xfrm xmlns:a="http://schemas.openxmlformats.org/drawingml/2006/main">
            <a:off x="762000" y="331470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350" b="1">
                <a:solidFill>
                  <a:srgbClr val="B96E3A"/>
                </a:solidFill>
                <a:latin typeface="Aptos"/>
                <a:ea typeface="Aptos"/>
                <a:cs typeface="Aptos"/>
              </a:defRPr>
            </a:pPr>
            <a:r>
              <a:rPr sz="1350" b="1">
                <a:solidFill>
                  <a:srgbClr val="B96E3A"/>
                </a:solidFill>
                <a:latin typeface="Aptos"/>
                <a:ea typeface="Aptos"/>
                <a:cs typeface="Aptos"/>
              </a:rPr>
              <a:t>Model boundary</a:t>
            </a:r>
          </a:p>
        </p:txBody>
      </p:sp>
      <p:sp>
        <p:nvSpPr>
          <p:cNvPr id="36" name="">
            <a:extLst xmlns:a="http://schemas.openxmlformats.org/drawingml/2006/main">
              <a:ext uri="{FF2B5EF4-FFF2-40B4-BE49-F238E27FC236}">
                <a16:creationId xmlns:a16="http://schemas.microsoft.com/office/drawing/2014/main" id="{AC0C308A-6923-42F5-9C6B-BB7298F1186D}"/>
              </a:ext>
            </a:extLst>
          </p:cNvPr>
          <p:cNvSpPr>
            <a:spLocks xmlns:a="http://schemas.openxmlformats.org/drawingml/2006/main" noGrp="1"/>
          </p:cNvSpPr>
          <p:nvPr/>
        </p:nvSpPr>
        <p:spPr>
          <a:xfrm xmlns:a="http://schemas.openxmlformats.org/drawingml/2006/main">
            <a:off x="2362200" y="3314700"/>
            <a:ext cx="838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0">
                <a:solidFill>
                  <a:srgbClr val="5F6B64"/>
                </a:solidFill>
                <a:latin typeface="Aptos"/>
                <a:ea typeface="Aptos"/>
                <a:cs typeface="Aptos"/>
              </a:defRPr>
            </a:pPr>
            <a:r>
              <a:rPr sz="1275" b="0">
                <a:solidFill>
                  <a:srgbClr val="5F6B64"/>
                </a:solidFill>
                <a:latin typeface="Aptos"/>
                <a:ea typeface="Aptos"/>
                <a:cs typeface="Aptos"/>
              </a:rPr>
              <a:t>The model never sees raw data and never invents numbers. It receives a package with approved slots and statements, then the verifier checks the final card.</a:t>
            </a:r>
          </a:p>
        </p:txBody>
      </p:sp>
      <p:sp>
        <p:nvSpPr>
          <p:cNvPr id="37" name="">
            <a:extLst xmlns:a="http://schemas.openxmlformats.org/drawingml/2006/main">
              <a:ext uri="{FF2B5EF4-FFF2-40B4-BE49-F238E27FC236}">
                <a16:creationId xmlns:a16="http://schemas.microsoft.com/office/drawing/2014/main" id="{A789D4F7-C05C-4219-81FF-4169B6F5CBCC}"/>
              </a:ext>
            </a:extLst>
          </p:cNvPr>
          <p:cNvSpPr>
            <a:spLocks xmlns:a="http://schemas.openxmlformats.org/drawingml/2006/main" noGrp="1"/>
          </p:cNvSpPr>
          <p:nvPr/>
        </p:nvSpPr>
        <p:spPr>
          <a:xfrm xmlns:a="http://schemas.openxmlformats.org/drawingml/2006/main">
            <a:off x="609600" y="649605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7A827C"/>
                </a:solidFill>
                <a:latin typeface="Aptos"/>
                <a:ea typeface="Aptos"/>
                <a:cs typeface="Aptos"/>
              </a:defRPr>
            </a:pPr>
            <a:r>
              <a:rPr sz="900" b="0">
                <a:solidFill>
                  <a:srgbClr val="7A827C"/>
                </a:solidFill>
                <a:latin typeface="Aptos"/>
                <a:ea typeface="Aptos"/>
                <a:cs typeface="Aptos"/>
              </a:rPr>
              <a:t>Motherlode technical background for Woodgrove</a:t>
            </a:r>
          </a:p>
        </p:txBody>
      </p:sp>
      <p:sp>
        <p:nvSpPr>
          <p:cNvPr id="38" name="">
            <a:extLst xmlns:a="http://schemas.openxmlformats.org/drawingml/2006/main">
              <a:ext uri="{FF2B5EF4-FFF2-40B4-BE49-F238E27FC236}">
                <a16:creationId xmlns:a16="http://schemas.microsoft.com/office/drawing/2014/main" id="{41CD4EF7-1F57-4431-A1DE-5FDAAE11C043}"/>
              </a:ext>
            </a:extLst>
          </p:cNvPr>
          <p:cNvSpPr>
            <a:spLocks xmlns:a="http://schemas.openxmlformats.org/drawingml/2006/main" noGrp="1"/>
          </p:cNvSpPr>
          <p:nvPr/>
        </p:nvSpPr>
        <p:spPr>
          <a:xfrm xmlns:a="http://schemas.openxmlformats.org/drawingml/2006/main">
            <a:off x="11201400" y="64960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lnSpc>
                <a:spcPct val="108000"/>
              </a:lnSpc>
              <a:buNone/>
              <a:defRPr sz="900" b="0">
                <a:solidFill>
                  <a:srgbClr val="7A827C"/>
                </a:solidFill>
                <a:latin typeface="Aptos"/>
                <a:ea typeface="Aptos"/>
                <a:cs typeface="Aptos"/>
              </a:defRPr>
            </a:pPr>
            <a:r>
              <a:rPr sz="900" b="0">
                <a:solidFill>
                  <a:srgbClr val="7A827C"/>
                </a:solidFill>
                <a:latin typeface="Aptos"/>
                <a:ea typeface="Aptos"/>
                <a:cs typeface="Aptos"/>
              </a:rPr>
              <a:t>06</a:t>
            </a:r>
          </a:p>
        </p:txBody>
      </p:sp>
    </p:spTree>
    <p:extLst>
      <p:ext uri="{BB962C8B-B14F-4D97-AF65-F5344CB8AC3E}">
        <p14:creationId xmlns:p14="http://schemas.microsoft.com/office/powerpoint/2010/main" val="1757282491"/>
      </p:ext>
    </p:extLst>
  </p:cSld>
</p:sld>
</file>

<file path=ppt/slides/slide7.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3ACB609-D0C8-4BF5-BB4C-83B28AA8986E}"/>
              </a:ext>
            </a:extLst>
          </p:cNvPr>
          <p:cNvSpPr>
            <a:spLocks xmlns:a="http://schemas.openxmlformats.org/drawingml/2006/main" noGrp="1"/>
          </p:cNvSpPr>
          <p:nvPr/>
        </p:nvSpPr>
        <p:spPr>
          <a:xfrm xmlns:a="http://schemas.openxmlformats.org/drawingml/2006/main">
            <a:off x="609600" y="476250"/>
            <a:ext cx="723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550" b="1">
                <a:solidFill>
                  <a:srgbClr val="17201D"/>
                </a:solidFill>
                <a:latin typeface="Aptos"/>
                <a:ea typeface="Aptos"/>
                <a:cs typeface="Aptos"/>
              </a:defRPr>
            </a:pPr>
            <a:r>
              <a:rPr sz="2550" b="1">
                <a:solidFill>
                  <a:srgbClr val="17201D"/>
                </a:solidFill>
                <a:latin typeface="Aptos"/>
                <a:ea typeface="Aptos"/>
                <a:cs typeface="Aptos"/>
              </a:rPr>
              <a:t>Evidence package</a:t>
            </a:r>
          </a:p>
        </p:txBody>
      </p:sp>
      <p:sp>
        <p:nvSpPr>
          <p:cNvPr id="2" name="">
            <a:extLst xmlns:a="http://schemas.openxmlformats.org/drawingml/2006/main">
              <a:ext uri="{FF2B5EF4-FFF2-40B4-BE49-F238E27FC236}">
                <a16:creationId xmlns:a16="http://schemas.microsoft.com/office/drawing/2014/main" id="{4A4D7989-BD3C-461F-8A6C-E0700F171584}"/>
              </a:ext>
            </a:extLst>
          </p:cNvPr>
          <p:cNvSpPr>
            <a:spLocks xmlns:a="http://schemas.openxmlformats.org/drawingml/2006/main" noGrp="1"/>
          </p:cNvSpPr>
          <p:nvPr/>
        </p:nvSpPr>
        <p:spPr>
          <a:xfrm xmlns:a="http://schemas.openxmlformats.org/drawingml/2006/main">
            <a:off x="609600" y="942975"/>
            <a:ext cx="885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350" b="0">
                <a:solidFill>
                  <a:srgbClr val="5F6B64"/>
                </a:solidFill>
                <a:latin typeface="Aptos"/>
                <a:ea typeface="Aptos"/>
                <a:cs typeface="Aptos"/>
              </a:defRPr>
            </a:pPr>
            <a:r>
              <a:rPr sz="1350" b="0">
                <a:solidFill>
                  <a:srgbClr val="5F6B64"/>
                </a:solidFill>
                <a:latin typeface="Aptos"/>
                <a:ea typeface="Aptos"/>
                <a:cs typeface="Aptos"/>
              </a:rPr>
              <a:t>One JSON object defines what a card may say.</a:t>
            </a:r>
          </a:p>
        </p:txBody>
      </p:sp>
      <p:sp>
        <p:nvSpPr>
          <p:cNvPr id="3" name="">
            <a:extLst xmlns:a="http://schemas.openxmlformats.org/drawingml/2006/main">
              <a:ext uri="{FF2B5EF4-FFF2-40B4-BE49-F238E27FC236}">
                <a16:creationId xmlns:a16="http://schemas.microsoft.com/office/drawing/2014/main" id="{E8333085-2B91-4E7B-A24A-AE5BD16928C0}"/>
              </a:ext>
            </a:extLst>
          </p:cNvPr>
          <p:cNvSpPr>
            <a:spLocks xmlns:a="http://schemas.openxmlformats.org/drawingml/2006/main" noGrp="1"/>
          </p:cNvSpPr>
          <p:nvPr/>
        </p:nvSpPr>
        <p:spPr>
          <a:xfrm xmlns:a="http://schemas.openxmlformats.org/drawingml/2006/main">
            <a:off x="609600" y="1352550"/>
            <a:ext cx="1524000" cy="0"/>
          </a:xfrm>
          <a:prstGeom xmlns:a="http://schemas.openxmlformats.org/drawingml/2006/main" prst="line">
            <a:avLst/>
          </a:prstGeom>
          <a:ln xmlns:a="http://schemas.openxmlformats.org/drawingml/2006/main" w="38100">
            <a:solidFill>
              <a:srgbClr val="1F8A5B"/>
            </a:solidFill>
            <a:prstDash val="solid"/>
          </a:ln>
        </p:spPr>
      </p:sp>
      <p:sp>
        <p:nvSpPr>
          <p:cNvPr id="4" name="">
            <a:extLst xmlns:a="http://schemas.openxmlformats.org/drawingml/2006/main">
              <a:ext uri="{FF2B5EF4-FFF2-40B4-BE49-F238E27FC236}">
                <a16:creationId xmlns:a16="http://schemas.microsoft.com/office/drawing/2014/main" id="{5C772A1A-473F-41D4-8A9E-4093C69142DC}"/>
              </a:ext>
            </a:extLst>
          </p:cNvPr>
          <p:cNvSpPr>
            <a:spLocks xmlns:a="http://schemas.openxmlformats.org/drawingml/2006/main" noGrp="1"/>
          </p:cNvSpPr>
          <p:nvPr/>
        </p:nvSpPr>
        <p:spPr>
          <a:xfrm xmlns:a="http://schemas.openxmlformats.org/drawingml/2006/main">
            <a:off x="723900" y="1714500"/>
            <a:ext cx="4000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0C7"/>
            </a:solidFill>
            <a:prstDash val="solid"/>
          </a:ln>
        </p:spPr>
      </p:sp>
      <p:sp>
        <p:nvSpPr>
          <p:cNvPr id="5" name="">
            <a:extLst xmlns:a="http://schemas.openxmlformats.org/drawingml/2006/main">
              <a:ext uri="{FF2B5EF4-FFF2-40B4-BE49-F238E27FC236}">
                <a16:creationId xmlns:a16="http://schemas.microsoft.com/office/drawing/2014/main" id="{858C2041-FD8B-47A3-B608-CDAB34E15B41}"/>
              </a:ext>
            </a:extLst>
          </p:cNvPr>
          <p:cNvSpPr>
            <a:spLocks xmlns:a="http://schemas.openxmlformats.org/drawingml/2006/main" noGrp="1"/>
          </p:cNvSpPr>
          <p:nvPr/>
        </p:nvSpPr>
        <p:spPr>
          <a:xfrm xmlns:a="http://schemas.openxmlformats.org/drawingml/2006/main">
            <a:off x="723900" y="1714500"/>
            <a:ext cx="66675" cy="1428750"/>
          </a:xfrm>
          <a:prstGeom xmlns:a="http://schemas.openxmlformats.org/drawingml/2006/main" prst="rect">
            <a:avLst/>
          </a:prstGeom>
          <a:solidFill xmlns:a="http://schemas.openxmlformats.org/drawingml/2006/main">
            <a:srgbClr val="1F8A5B"/>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4CD70B1-4F39-41E3-AA87-1D3F5F009636}"/>
              </a:ext>
            </a:extLst>
          </p:cNvPr>
          <p:cNvSpPr>
            <a:spLocks xmlns:a="http://schemas.openxmlformats.org/drawingml/2006/main" noGrp="1"/>
          </p:cNvSpPr>
          <p:nvPr/>
        </p:nvSpPr>
        <p:spPr>
          <a:xfrm xmlns:a="http://schemas.openxmlformats.org/drawingml/2006/main">
            <a:off x="933450" y="1885950"/>
            <a:ext cx="3638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500" b="1">
                <a:solidFill>
                  <a:srgbClr val="17201D"/>
                </a:solidFill>
                <a:latin typeface="Aptos"/>
                <a:ea typeface="Aptos"/>
                <a:cs typeface="Aptos"/>
              </a:defRPr>
            </a:pPr>
            <a:r>
              <a:rPr sz="1500" b="1">
                <a:solidFill>
                  <a:srgbClr val="17201D"/>
                </a:solidFill>
                <a:latin typeface="Aptos"/>
                <a:ea typeface="Aptos"/>
                <a:cs typeface="Aptos"/>
              </a:rPr>
              <a:t>Statement groups</a:t>
            </a:r>
          </a:p>
        </p:txBody>
      </p:sp>
      <p:sp>
        <p:nvSpPr>
          <p:cNvPr id="7" name="">
            <a:extLst xmlns:a="http://schemas.openxmlformats.org/drawingml/2006/main">
              <a:ext uri="{FF2B5EF4-FFF2-40B4-BE49-F238E27FC236}">
                <a16:creationId xmlns:a16="http://schemas.microsoft.com/office/drawing/2014/main" id="{183FBC95-4975-48AE-98E1-785157A64EFE}"/>
              </a:ext>
            </a:extLst>
          </p:cNvPr>
          <p:cNvSpPr>
            <a:spLocks xmlns:a="http://schemas.openxmlformats.org/drawingml/2006/main" noGrp="1"/>
          </p:cNvSpPr>
          <p:nvPr/>
        </p:nvSpPr>
        <p:spPr>
          <a:xfrm xmlns:a="http://schemas.openxmlformats.org/drawingml/2006/main">
            <a:off x="933450" y="2247900"/>
            <a:ext cx="36385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2000"/>
              </a:lnSpc>
              <a:buNone/>
              <a:defRPr sz="1275" b="0">
                <a:solidFill>
                  <a:srgbClr val="5F6B64"/>
                </a:solidFill>
                <a:latin typeface="Aptos"/>
                <a:ea typeface="Aptos"/>
                <a:cs typeface="Aptos"/>
              </a:defRPr>
            </a:pPr>
            <a:r>
              <a:rPr sz="1275" b="0">
                <a:solidFill>
                  <a:srgbClr val="5F6B64"/>
                </a:solidFill>
                <a:latin typeface="Aptos"/>
                <a:ea typeface="Aptos"/>
                <a:cs typeface="Aptos"/>
              </a:rPr>
              <a:t>Observed facts, known rules, inferred causes, uncertainty and suggested levers stay separate so the viewer can tell measurement from recommendation.</a:t>
            </a:r>
          </a:p>
        </p:txBody>
      </p:sp>
      <p:sp>
        <p:nvSpPr>
          <p:cNvPr id="8" name="">
            <a:extLst xmlns:a="http://schemas.openxmlformats.org/drawingml/2006/main">
              <a:ext uri="{FF2B5EF4-FFF2-40B4-BE49-F238E27FC236}">
                <a16:creationId xmlns:a16="http://schemas.microsoft.com/office/drawing/2014/main" id="{0F331A16-7619-4F53-B1A0-DA653C1A9870}"/>
              </a:ext>
            </a:extLst>
          </p:cNvPr>
          <p:cNvSpPr>
            <a:spLocks xmlns:a="http://schemas.openxmlformats.org/drawingml/2006/main" noGrp="1"/>
          </p:cNvSpPr>
          <p:nvPr/>
        </p:nvSpPr>
        <p:spPr>
          <a:xfrm xmlns:a="http://schemas.openxmlformats.org/drawingml/2006/main">
            <a:off x="723900" y="3505200"/>
            <a:ext cx="4000500" cy="12573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C9D0C7"/>
            </a:solidFill>
            <a:prstDash val="solid"/>
          </a:ln>
        </p:spPr>
      </p:sp>
      <p:sp>
        <p:nvSpPr>
          <p:cNvPr id="9" name="">
            <a:extLst xmlns:a="http://schemas.openxmlformats.org/drawingml/2006/main">
              <a:ext uri="{FF2B5EF4-FFF2-40B4-BE49-F238E27FC236}">
                <a16:creationId xmlns:a16="http://schemas.microsoft.com/office/drawing/2014/main" id="{63925F42-F765-4BB2-B35C-EE743AE4A4A0}"/>
              </a:ext>
            </a:extLst>
          </p:cNvPr>
          <p:cNvSpPr>
            <a:spLocks xmlns:a="http://schemas.openxmlformats.org/drawingml/2006/main" noGrp="1"/>
          </p:cNvSpPr>
          <p:nvPr/>
        </p:nvSpPr>
        <p:spPr>
          <a:xfrm xmlns:a="http://schemas.openxmlformats.org/drawingml/2006/main">
            <a:off x="723900" y="3505200"/>
            <a:ext cx="66675" cy="1257300"/>
          </a:xfrm>
          <a:prstGeom xmlns:a="http://schemas.openxmlformats.org/drawingml/2006/main" prst="rect">
            <a:avLst/>
          </a:prstGeom>
          <a:solidFill xmlns:a="http://schemas.openxmlformats.org/drawingml/2006/main">
            <a:srgbClr val="B96E3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F6C9710-51B5-4A63-8204-C5FAD8B7C997}"/>
              </a:ext>
            </a:extLst>
          </p:cNvPr>
          <p:cNvSpPr>
            <a:spLocks xmlns:a="http://schemas.openxmlformats.org/drawingml/2006/main" noGrp="1"/>
          </p:cNvSpPr>
          <p:nvPr/>
        </p:nvSpPr>
        <p:spPr>
          <a:xfrm xmlns:a="http://schemas.openxmlformats.org/drawingml/2006/main">
            <a:off x="933450" y="3676650"/>
            <a:ext cx="3638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500" b="1">
                <a:solidFill>
                  <a:srgbClr val="17201D"/>
                </a:solidFill>
                <a:latin typeface="Aptos"/>
                <a:ea typeface="Aptos"/>
                <a:cs typeface="Aptos"/>
              </a:defRPr>
            </a:pPr>
            <a:r>
              <a:rPr sz="1500" b="1">
                <a:solidFill>
                  <a:srgbClr val="17201D"/>
                </a:solidFill>
                <a:latin typeface="Aptos"/>
                <a:ea typeface="Aptos"/>
                <a:cs typeface="Aptos"/>
              </a:rPr>
              <a:t>Slots</a:t>
            </a:r>
          </a:p>
        </p:txBody>
      </p:sp>
      <p:sp>
        <p:nvSpPr>
          <p:cNvPr id="11" name="">
            <a:extLst xmlns:a="http://schemas.openxmlformats.org/drawingml/2006/main">
              <a:ext uri="{FF2B5EF4-FFF2-40B4-BE49-F238E27FC236}">
                <a16:creationId xmlns:a16="http://schemas.microsoft.com/office/drawing/2014/main" id="{C17BF734-0723-4087-9A38-A2BC15C7BB21}"/>
              </a:ext>
            </a:extLst>
          </p:cNvPr>
          <p:cNvSpPr>
            <a:spLocks xmlns:a="http://schemas.openxmlformats.org/drawingml/2006/main" noGrp="1"/>
          </p:cNvSpPr>
          <p:nvPr/>
        </p:nvSpPr>
        <p:spPr>
          <a:xfrm xmlns:a="http://schemas.openxmlformats.org/drawingml/2006/main">
            <a:off x="933450" y="4038600"/>
            <a:ext cx="3638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2000"/>
              </a:lnSpc>
              <a:buNone/>
              <a:defRPr sz="1275" b="0">
                <a:solidFill>
                  <a:srgbClr val="5F6B64"/>
                </a:solidFill>
                <a:latin typeface="Aptos"/>
                <a:ea typeface="Aptos"/>
                <a:cs typeface="Aptos"/>
              </a:defRPr>
            </a:pPr>
            <a:r>
              <a:rPr sz="1275" b="0">
                <a:solidFill>
                  <a:srgbClr val="5F6B64"/>
                </a:solidFill>
                <a:latin typeface="Aptos"/>
                <a:ea typeface="Aptos"/>
                <a:cs typeface="Aptos"/>
              </a:rPr>
              <a:t>Every number enters the card through a named slot with a format. The writer cannot add a number outside the package.</a:t>
            </a:r>
          </a:p>
        </p:txBody>
      </p:sp>
      <p:sp>
        <p:nvSpPr>
          <p:cNvPr id="12" name="">
            <a:extLst xmlns:a="http://schemas.openxmlformats.org/drawingml/2006/main">
              <a:ext uri="{FF2B5EF4-FFF2-40B4-BE49-F238E27FC236}">
                <a16:creationId xmlns:a16="http://schemas.microsoft.com/office/drawing/2014/main" id="{582F53BE-84DB-4F0B-BC27-F256618BDD96}"/>
              </a:ext>
            </a:extLst>
          </p:cNvPr>
          <p:cNvSpPr>
            <a:spLocks xmlns:a="http://schemas.openxmlformats.org/drawingml/2006/main" noGrp="1"/>
          </p:cNvSpPr>
          <p:nvPr/>
        </p:nvSpPr>
        <p:spPr>
          <a:xfrm xmlns:a="http://schemas.openxmlformats.org/drawingml/2006/main">
            <a:off x="5334000" y="1657350"/>
            <a:ext cx="5829300" cy="3524250"/>
          </a:xfrm>
          <a:prstGeom xmlns:a="http://schemas.openxmlformats.org/drawingml/2006/main" prst="roundRect">
            <a:avLst>
              <a:gd name="adj" fmla="val 2162"/>
            </a:avLst>
          </a:prstGeom>
          <a:solidFill xmlns:a="http://schemas.openxmlformats.org/drawingml/2006/main">
            <a:srgbClr val="111817"/>
          </a:solidFill>
          <a:ln xmlns:a="http://schemas.openxmlformats.org/drawingml/2006/main" w="9525">
            <a:solidFill>
              <a:srgbClr val="111817"/>
            </a:solidFill>
            <a:prstDash val="solid"/>
          </a:ln>
        </p:spPr>
      </p:sp>
      <p:sp>
        <p:nvSpPr>
          <p:cNvPr id="13" name="">
            <a:extLst xmlns:a="http://schemas.openxmlformats.org/drawingml/2006/main">
              <a:ext uri="{FF2B5EF4-FFF2-40B4-BE49-F238E27FC236}">
                <a16:creationId xmlns:a16="http://schemas.microsoft.com/office/drawing/2014/main" id="{1E08DBD9-F6CB-4316-91AD-9B6FACB37B3F}"/>
              </a:ext>
            </a:extLst>
          </p:cNvPr>
          <p:cNvSpPr>
            <a:spLocks xmlns:a="http://schemas.openxmlformats.org/drawingml/2006/main" noGrp="1"/>
          </p:cNvSpPr>
          <p:nvPr/>
        </p:nvSpPr>
        <p:spPr>
          <a:xfrm xmlns:a="http://schemas.openxmlformats.org/drawingml/2006/main">
            <a:off x="5581650" y="1924050"/>
            <a:ext cx="5334000" cy="3028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4000"/>
              </a:lnSpc>
              <a:buNone/>
              <a:defRPr sz="1200" b="0">
                <a:solidFill>
                  <a:srgbClr val="E6EFE9"/>
                </a:solidFill>
                <a:latin typeface="Consolas"/>
                <a:ea typeface="Consolas"/>
                <a:cs typeface="Consolas"/>
              </a:defRPr>
            </a:pPr>
            <a:r>
              <a:rPr sz="1200" b="0">
                <a:solidFill>
                  <a:srgbClr val="E6EFE9"/>
                </a:solidFill>
                <a:latin typeface="Consolas"/>
                <a:ea typeface="Consolas"/>
                <a:cs typeface="Consolas"/>
              </a:rPr>
              <a:t>{</a:t>
            </a:r>
          </a:p>
          <a:p xmlns:a="http://schemas.openxmlformats.org/drawingml/2006/main">
            <a:pPr>
              <a:lnSpc>
                <a:spcPct val="104000"/>
              </a:lnSpc>
              <a:buNone/>
              <a:defRPr sz="1200" b="0">
                <a:solidFill>
                  <a:srgbClr val="E6EFE9"/>
                </a:solidFill>
                <a:latin typeface="Consolas"/>
                <a:ea typeface="Consolas"/>
                <a:cs typeface="Consolas"/>
              </a:defRPr>
            </a:pPr>
            <a:r>
              <a:rPr sz="1200" b="0">
                <a:solidFill>
                  <a:srgbClr val="E6EFE9"/>
                </a:solidFill>
                <a:latin typeface="Consolas"/>
                <a:ea typeface="Consolas"/>
                <a:cs typeface="Consolas"/>
              </a:rPr>
              <a:t>  "topic": "goldPrice",</a:t>
            </a:r>
          </a:p>
          <a:p xmlns:a="http://schemas.openxmlformats.org/drawingml/2006/main">
            <a:pPr>
              <a:lnSpc>
                <a:spcPct val="104000"/>
              </a:lnSpc>
              <a:buNone/>
              <a:defRPr sz="1200" b="0">
                <a:solidFill>
                  <a:srgbClr val="E6EFE9"/>
                </a:solidFill>
                <a:latin typeface="Consolas"/>
                <a:ea typeface="Consolas"/>
                <a:cs typeface="Consolas"/>
              </a:defRPr>
            </a:pPr>
            <a:r>
              <a:rPr sz="1200" b="0">
                <a:solidFill>
                  <a:srgbClr val="E6EFE9"/>
                </a:solidFill>
                <a:latin typeface="Consolas"/>
                <a:ea typeface="Consolas"/>
                <a:cs typeface="Consolas"/>
              </a:rPr>
              <a:t>  "startRound": 21,</a:t>
            </a:r>
          </a:p>
          <a:p xmlns:a="http://schemas.openxmlformats.org/drawingml/2006/main">
            <a:pPr>
              <a:lnSpc>
                <a:spcPct val="104000"/>
              </a:lnSpc>
              <a:buNone/>
              <a:defRPr sz="1200" b="0">
                <a:solidFill>
                  <a:srgbClr val="E6EFE9"/>
                </a:solidFill>
                <a:latin typeface="Consolas"/>
                <a:ea typeface="Consolas"/>
                <a:cs typeface="Consolas"/>
              </a:defRPr>
            </a:pPr>
            <a:r>
              <a:rPr sz="1200" b="0">
                <a:solidFill>
                  <a:srgbClr val="E6EFE9"/>
                </a:solidFill>
                <a:latin typeface="Consolas"/>
                <a:ea typeface="Consolas"/>
                <a:cs typeface="Consolas"/>
              </a:rPr>
              <a:t>  "confidence": "likely",</a:t>
            </a:r>
          </a:p>
          <a:p xmlns:a="http://schemas.openxmlformats.org/drawingml/2006/main">
            <a:pPr>
              <a:lnSpc>
                <a:spcPct val="104000"/>
              </a:lnSpc>
              <a:buNone/>
              <a:defRPr sz="1200" b="0">
                <a:solidFill>
                  <a:srgbClr val="E6EFE9"/>
                </a:solidFill>
                <a:latin typeface="Consolas"/>
                <a:ea typeface="Consolas"/>
                <a:cs typeface="Consolas"/>
              </a:defRPr>
            </a:pPr>
            <a:r>
              <a:rPr sz="1200" b="0">
                <a:solidFill>
                  <a:srgbClr val="E6EFE9"/>
                </a:solidFill>
                <a:latin typeface="Consolas"/>
                <a:ea typeface="Consolas"/>
                <a:cs typeface="Consolas"/>
              </a:rPr>
              <a:t>  "headline": "{{metric}} is falling",</a:t>
            </a:r>
          </a:p>
          <a:p xmlns:a="http://schemas.openxmlformats.org/drawingml/2006/main">
            <a:pPr>
              <a:lnSpc>
                <a:spcPct val="104000"/>
              </a:lnSpc>
              <a:buNone/>
              <a:defRPr sz="1200" b="0">
                <a:solidFill>
                  <a:srgbClr val="E6EFE9"/>
                </a:solidFill>
                <a:latin typeface="Consolas"/>
                <a:ea typeface="Consolas"/>
                <a:cs typeface="Consolas"/>
              </a:defRPr>
            </a:pPr>
            <a:r>
              <a:rPr sz="1200" b="0">
                <a:solidFill>
                  <a:srgbClr val="E6EFE9"/>
                </a:solidFill>
                <a:latin typeface="Consolas"/>
                <a:ea typeface="Consolas"/>
                <a:cs typeface="Consolas"/>
              </a:rPr>
              <a:t>  "slots": {</a:t>
            </a:r>
          </a:p>
          <a:p xmlns:a="http://schemas.openxmlformats.org/drawingml/2006/main">
            <a:pPr>
              <a:lnSpc>
                <a:spcPct val="104000"/>
              </a:lnSpc>
              <a:buNone/>
              <a:defRPr sz="1200" b="0">
                <a:solidFill>
                  <a:srgbClr val="E6EFE9"/>
                </a:solidFill>
                <a:latin typeface="Consolas"/>
                <a:ea typeface="Consolas"/>
                <a:cs typeface="Consolas"/>
              </a:defRPr>
            </a:pPr>
            <a:r>
              <a:rPr sz="1200" b="0">
                <a:solidFill>
                  <a:srgbClr val="E6EFE9"/>
                </a:solidFill>
                <a:latin typeface="Consolas"/>
                <a:ea typeface="Consolas"/>
                <a:cs typeface="Consolas"/>
              </a:rPr>
              <a:t>    "usual": "12.0 coins",</a:t>
            </a:r>
          </a:p>
          <a:p xmlns:a="http://schemas.openxmlformats.org/drawingml/2006/main">
            <a:pPr>
              <a:lnSpc>
                <a:spcPct val="104000"/>
              </a:lnSpc>
              <a:buNone/>
              <a:defRPr sz="1200" b="0">
                <a:solidFill>
                  <a:srgbClr val="E6EFE9"/>
                </a:solidFill>
                <a:latin typeface="Consolas"/>
                <a:ea typeface="Consolas"/>
                <a:cs typeface="Consolas"/>
              </a:defRPr>
            </a:pPr>
            <a:r>
              <a:rPr sz="1200" b="0">
                <a:solidFill>
                  <a:srgbClr val="E6EFE9"/>
                </a:solidFill>
                <a:latin typeface="Consolas"/>
                <a:ea typeface="Consolas"/>
                <a:cs typeface="Consolas"/>
              </a:rPr>
              <a:t>    "now": "9.8 coins",</a:t>
            </a:r>
          </a:p>
          <a:p xmlns:a="http://schemas.openxmlformats.org/drawingml/2006/main">
            <a:pPr>
              <a:lnSpc>
                <a:spcPct val="104000"/>
              </a:lnSpc>
              <a:buNone/>
              <a:defRPr sz="1200" b="0">
                <a:solidFill>
                  <a:srgbClr val="E6EFE9"/>
                </a:solidFill>
                <a:latin typeface="Consolas"/>
                <a:ea typeface="Consolas"/>
                <a:cs typeface="Consolas"/>
              </a:defRPr>
            </a:pPr>
            <a:r>
              <a:rPr sz="1200" b="0">
                <a:solidFill>
                  <a:srgbClr val="E6EFE9"/>
                </a:solidFill>
                <a:latin typeface="Consolas"/>
                <a:ea typeface="Consolas"/>
                <a:cs typeface="Consolas"/>
              </a:rPr>
              <a:t>    "change": "-18%"</a:t>
            </a:r>
          </a:p>
          <a:p xmlns:a="http://schemas.openxmlformats.org/drawingml/2006/main">
            <a:pPr>
              <a:lnSpc>
                <a:spcPct val="104000"/>
              </a:lnSpc>
              <a:buNone/>
              <a:defRPr sz="1200" b="0">
                <a:solidFill>
                  <a:srgbClr val="E6EFE9"/>
                </a:solidFill>
                <a:latin typeface="Consolas"/>
                <a:ea typeface="Consolas"/>
                <a:cs typeface="Consolas"/>
              </a:defRPr>
            </a:pPr>
            <a:r>
              <a:rPr sz="1200" b="0">
                <a:solidFill>
                  <a:srgbClr val="E6EFE9"/>
                </a:solidFill>
                <a:latin typeface="Consolas"/>
                <a:ea typeface="Consolas"/>
                <a:cs typeface="Consolas"/>
              </a:rPr>
              <a:t>  },</a:t>
            </a:r>
          </a:p>
          <a:p xmlns:a="http://schemas.openxmlformats.org/drawingml/2006/main">
            <a:pPr>
              <a:lnSpc>
                <a:spcPct val="104000"/>
              </a:lnSpc>
              <a:buNone/>
              <a:defRPr sz="1200" b="0">
                <a:solidFill>
                  <a:srgbClr val="E6EFE9"/>
                </a:solidFill>
                <a:latin typeface="Consolas"/>
                <a:ea typeface="Consolas"/>
                <a:cs typeface="Consolas"/>
              </a:defRPr>
            </a:pPr>
            <a:r>
              <a:rPr sz="1200" b="0">
                <a:solidFill>
                  <a:srgbClr val="E6EFE9"/>
                </a:solidFill>
                <a:latin typeface="Consolas"/>
                <a:ea typeface="Consolas"/>
                <a:cs typeface="Consolas"/>
              </a:rPr>
              <a:t>  "evidence": [</a:t>
            </a:r>
          </a:p>
          <a:p xmlns:a="http://schemas.openxmlformats.org/drawingml/2006/main">
            <a:pPr>
              <a:lnSpc>
                <a:spcPct val="104000"/>
              </a:lnSpc>
              <a:buNone/>
              <a:defRPr sz="1200" b="0">
                <a:solidFill>
                  <a:srgbClr val="E6EFE9"/>
                </a:solidFill>
                <a:latin typeface="Consolas"/>
                <a:ea typeface="Consolas"/>
                <a:cs typeface="Consolas"/>
              </a:defRPr>
            </a:pPr>
            <a:r>
              <a:rPr sz="1200" b="0">
                <a:solidFill>
                  <a:srgbClr val="E6EFE9"/>
                </a:solidFill>
                <a:latin typeface="Consolas"/>
                <a:ea typeface="Consolas"/>
                <a:cs typeface="Consolas"/>
              </a:rPr>
              <a:t>    "metric: goldPrice, shifts 5 to 23",</a:t>
            </a:r>
          </a:p>
          <a:p xmlns:a="http://schemas.openxmlformats.org/drawingml/2006/main">
            <a:pPr>
              <a:lnSpc>
                <a:spcPct val="104000"/>
              </a:lnSpc>
              <a:buNone/>
              <a:defRPr sz="1200" b="0">
                <a:solidFill>
                  <a:srgbClr val="E6EFE9"/>
                </a:solidFill>
                <a:latin typeface="Consolas"/>
                <a:ea typeface="Consolas"/>
                <a:cs typeface="Consolas"/>
              </a:defRPr>
            </a:pPr>
            <a:r>
              <a:rPr sz="1200" b="0">
                <a:solidFill>
                  <a:srgbClr val="E6EFE9"/>
                </a:solidFill>
                <a:latin typeface="Consolas"/>
                <a:ea typeface="Consolas"/>
                <a:cs typeface="Consolas"/>
              </a:rPr>
              <a:t>    "event: goldRush, shift 20"</a:t>
            </a:r>
          </a:p>
          <a:p xmlns:a="http://schemas.openxmlformats.org/drawingml/2006/main">
            <a:pPr>
              <a:lnSpc>
                <a:spcPct val="104000"/>
              </a:lnSpc>
              <a:buNone/>
              <a:defRPr sz="1200" b="0">
                <a:solidFill>
                  <a:srgbClr val="E6EFE9"/>
                </a:solidFill>
                <a:latin typeface="Consolas"/>
                <a:ea typeface="Consolas"/>
                <a:cs typeface="Consolas"/>
              </a:defRPr>
            </a:pPr>
            <a:r>
              <a:rPr sz="1200" b="0">
                <a:solidFill>
                  <a:srgbClr val="E6EFE9"/>
                </a:solidFill>
                <a:latin typeface="Consolas"/>
                <a:ea typeface="Consolas"/>
                <a:cs typeface="Consolas"/>
              </a:rPr>
              <a:t>  ]</a:t>
            </a:r>
          </a:p>
          <a:p xmlns:a="http://schemas.openxmlformats.org/drawingml/2006/main">
            <a:pPr>
              <a:lnSpc>
                <a:spcPct val="104000"/>
              </a:lnSpc>
              <a:buNone/>
              <a:defRPr sz="1200" b="0">
                <a:solidFill>
                  <a:srgbClr val="E6EFE9"/>
                </a:solidFill>
                <a:latin typeface="Consolas"/>
                <a:ea typeface="Consolas"/>
                <a:cs typeface="Consolas"/>
              </a:defRPr>
            </a:pPr>
            <a:r>
              <a:rPr sz="1200" b="0">
                <a:solidFill>
                  <a:srgbClr val="E6EFE9"/>
                </a:solidFill>
                <a:latin typeface="Consolas"/>
                <a:ea typeface="Consolas"/>
                <a:cs typeface="Consolas"/>
              </a:rPr>
              <a:t>}</a:t>
            </a:r>
          </a:p>
        </p:txBody>
      </p:sp>
      <p:sp>
        <p:nvSpPr>
          <p:cNvPr id="14" name="">
            <a:extLst xmlns:a="http://schemas.openxmlformats.org/drawingml/2006/main">
              <a:ext uri="{FF2B5EF4-FFF2-40B4-BE49-F238E27FC236}">
                <a16:creationId xmlns:a16="http://schemas.microsoft.com/office/drawing/2014/main" id="{22C1FAA3-F7E9-4685-817A-F18B0575304C}"/>
              </a:ext>
            </a:extLst>
          </p:cNvPr>
          <p:cNvSpPr>
            <a:spLocks xmlns:a="http://schemas.openxmlformats.org/drawingml/2006/main" noGrp="1"/>
          </p:cNvSpPr>
          <p:nvPr/>
        </p:nvSpPr>
        <p:spPr>
          <a:xfrm xmlns:a="http://schemas.openxmlformats.org/drawingml/2006/main">
            <a:off x="723900" y="5410200"/>
            <a:ext cx="1009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650" b="1">
                <a:solidFill>
                  <a:srgbClr val="17201D"/>
                </a:solidFill>
                <a:latin typeface="Aptos"/>
                <a:ea typeface="Aptos"/>
                <a:cs typeface="Aptos"/>
              </a:defRPr>
            </a:pPr>
            <a:r>
              <a:rPr sz="1650" b="1">
                <a:solidFill>
                  <a:srgbClr val="17201D"/>
                </a:solidFill>
                <a:latin typeface="Aptos"/>
                <a:ea typeface="Aptos"/>
                <a:cs typeface="Aptos"/>
              </a:rPr>
              <a:t>This is the main transferable artifact for Woodgrove: a traceable explanation contract that can move from the simulation to plant data.</a:t>
            </a:r>
          </a:p>
        </p:txBody>
      </p:sp>
      <p:sp>
        <p:nvSpPr>
          <p:cNvPr id="15" name="">
            <a:extLst xmlns:a="http://schemas.openxmlformats.org/drawingml/2006/main">
              <a:ext uri="{FF2B5EF4-FFF2-40B4-BE49-F238E27FC236}">
                <a16:creationId xmlns:a16="http://schemas.microsoft.com/office/drawing/2014/main" id="{BDD0DCD0-CF33-4711-9BB7-BE2AEC42D619}"/>
              </a:ext>
            </a:extLst>
          </p:cNvPr>
          <p:cNvSpPr>
            <a:spLocks xmlns:a="http://schemas.openxmlformats.org/drawingml/2006/main" noGrp="1"/>
          </p:cNvSpPr>
          <p:nvPr/>
        </p:nvSpPr>
        <p:spPr>
          <a:xfrm xmlns:a="http://schemas.openxmlformats.org/drawingml/2006/main">
            <a:off x="609600" y="649605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7A827C"/>
                </a:solidFill>
                <a:latin typeface="Aptos"/>
                <a:ea typeface="Aptos"/>
                <a:cs typeface="Aptos"/>
              </a:defRPr>
            </a:pPr>
            <a:r>
              <a:rPr sz="900" b="0">
                <a:solidFill>
                  <a:srgbClr val="7A827C"/>
                </a:solidFill>
                <a:latin typeface="Aptos"/>
                <a:ea typeface="Aptos"/>
                <a:cs typeface="Aptos"/>
              </a:rPr>
              <a:t>Motherlode technical background for Woodgrove</a:t>
            </a:r>
          </a:p>
        </p:txBody>
      </p:sp>
      <p:sp>
        <p:nvSpPr>
          <p:cNvPr id="16" name="">
            <a:extLst xmlns:a="http://schemas.openxmlformats.org/drawingml/2006/main">
              <a:ext uri="{FF2B5EF4-FFF2-40B4-BE49-F238E27FC236}">
                <a16:creationId xmlns:a16="http://schemas.microsoft.com/office/drawing/2014/main" id="{94F65A3B-02A4-4605-ABB6-CE7E2F443347}"/>
              </a:ext>
            </a:extLst>
          </p:cNvPr>
          <p:cNvSpPr>
            <a:spLocks xmlns:a="http://schemas.openxmlformats.org/drawingml/2006/main" noGrp="1"/>
          </p:cNvSpPr>
          <p:nvPr/>
        </p:nvSpPr>
        <p:spPr>
          <a:xfrm xmlns:a="http://schemas.openxmlformats.org/drawingml/2006/main">
            <a:off x="11201400" y="64960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lnSpc>
                <a:spcPct val="108000"/>
              </a:lnSpc>
              <a:buNone/>
              <a:defRPr sz="900" b="0">
                <a:solidFill>
                  <a:srgbClr val="7A827C"/>
                </a:solidFill>
                <a:latin typeface="Aptos"/>
                <a:ea typeface="Aptos"/>
                <a:cs typeface="Aptos"/>
              </a:defRPr>
            </a:pPr>
            <a:r>
              <a:rPr sz="900" b="0">
                <a:solidFill>
                  <a:srgbClr val="7A827C"/>
                </a:solidFill>
                <a:latin typeface="Aptos"/>
                <a:ea typeface="Aptos"/>
                <a:cs typeface="Aptos"/>
              </a:rPr>
              <a:t>07</a:t>
            </a:r>
          </a:p>
        </p:txBody>
      </p:sp>
    </p:spTree>
    <p:extLst>
      <p:ext uri="{BB962C8B-B14F-4D97-AF65-F5344CB8AC3E}">
        <p14:creationId xmlns:p14="http://schemas.microsoft.com/office/powerpoint/2010/main" val="1545935554"/>
      </p:ext>
    </p:extLst>
  </p:cSld>
</p:sld>
</file>

<file path=ppt/slides/slide8.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CE089D61-2311-4FBA-896F-C0EE1CFDAD2B}"/>
              </a:ext>
            </a:extLst>
          </p:cNvPr>
          <p:cNvSpPr>
            <a:spLocks xmlns:a="http://schemas.openxmlformats.org/drawingml/2006/main" noGrp="1"/>
          </p:cNvSpPr>
          <p:nvPr/>
        </p:nvSpPr>
        <p:spPr>
          <a:xfrm xmlns:a="http://schemas.openxmlformats.org/drawingml/2006/main">
            <a:off x="609600" y="476250"/>
            <a:ext cx="723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550" b="1">
                <a:solidFill>
                  <a:srgbClr val="17201D"/>
                </a:solidFill>
                <a:latin typeface="Aptos"/>
                <a:ea typeface="Aptos"/>
                <a:cs typeface="Aptos"/>
              </a:defRPr>
            </a:pPr>
            <a:r>
              <a:rPr sz="2550" b="1">
                <a:solidFill>
                  <a:srgbClr val="17201D"/>
                </a:solidFill>
                <a:latin typeface="Aptos"/>
                <a:ea typeface="Aptos"/>
                <a:cs typeface="Aptos"/>
              </a:rPr>
              <a:t>Showcase card</a:t>
            </a:r>
          </a:p>
        </p:txBody>
      </p:sp>
      <p:sp>
        <p:nvSpPr>
          <p:cNvPr id="2" name="">
            <a:extLst xmlns:a="http://schemas.openxmlformats.org/drawingml/2006/main">
              <a:ext uri="{FF2B5EF4-FFF2-40B4-BE49-F238E27FC236}">
                <a16:creationId xmlns:a16="http://schemas.microsoft.com/office/drawing/2014/main" id="{707BD618-5771-4947-8605-1D44A7FA1597}"/>
              </a:ext>
            </a:extLst>
          </p:cNvPr>
          <p:cNvSpPr>
            <a:spLocks xmlns:a="http://schemas.openxmlformats.org/drawingml/2006/main" noGrp="1"/>
          </p:cNvSpPr>
          <p:nvPr/>
        </p:nvSpPr>
        <p:spPr>
          <a:xfrm xmlns:a="http://schemas.openxmlformats.org/drawingml/2006/main">
            <a:off x="609600" y="942975"/>
            <a:ext cx="885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350" b="0">
                <a:solidFill>
                  <a:srgbClr val="5F6B64"/>
                </a:solidFill>
                <a:latin typeface="Aptos"/>
                <a:ea typeface="Aptos"/>
                <a:cs typeface="Aptos"/>
              </a:defRPr>
            </a:pPr>
            <a:r>
              <a:rPr sz="1350" b="0">
                <a:solidFill>
                  <a:srgbClr val="5F6B64"/>
                </a:solidFill>
                <a:latin typeface="Aptos"/>
                <a:ea typeface="Aptos"/>
                <a:cs typeface="Aptos"/>
              </a:rPr>
              <a:t>A planted gold rush produces a timed, evidence-backed explanation.</a:t>
            </a:r>
          </a:p>
        </p:txBody>
      </p:sp>
      <p:sp>
        <p:nvSpPr>
          <p:cNvPr id="3" name="">
            <a:extLst xmlns:a="http://schemas.openxmlformats.org/drawingml/2006/main">
              <a:ext uri="{FF2B5EF4-FFF2-40B4-BE49-F238E27FC236}">
                <a16:creationId xmlns:a16="http://schemas.microsoft.com/office/drawing/2014/main" id="{ED2D55BD-419E-4385-A6C6-1DF14288EAC2}"/>
              </a:ext>
            </a:extLst>
          </p:cNvPr>
          <p:cNvSpPr>
            <a:spLocks xmlns:a="http://schemas.openxmlformats.org/drawingml/2006/main" noGrp="1"/>
          </p:cNvSpPr>
          <p:nvPr/>
        </p:nvSpPr>
        <p:spPr>
          <a:xfrm xmlns:a="http://schemas.openxmlformats.org/drawingml/2006/main">
            <a:off x="609600" y="1352550"/>
            <a:ext cx="1524000" cy="0"/>
          </a:xfrm>
          <a:prstGeom xmlns:a="http://schemas.openxmlformats.org/drawingml/2006/main" prst="line">
            <a:avLst/>
          </a:prstGeom>
          <a:ln xmlns:a="http://schemas.openxmlformats.org/drawingml/2006/main" w="38100">
            <a:solidFill>
              <a:srgbClr val="1F8A5B"/>
            </a:solidFill>
            <a:prstDash val="solid"/>
          </a:ln>
        </p:spPr>
      </p:sp>
      <p:sp>
        <p:nvSpPr>
          <p:cNvPr id="4" name="">
            <a:extLst xmlns:a="http://schemas.openxmlformats.org/drawingml/2006/main">
              <a:ext uri="{FF2B5EF4-FFF2-40B4-BE49-F238E27FC236}">
                <a16:creationId xmlns:a16="http://schemas.microsoft.com/office/drawing/2014/main" id="{4225FF23-48E0-49F0-96AA-0E886BFDA974}"/>
              </a:ext>
            </a:extLst>
          </p:cNvPr>
          <p:cNvSpPr>
            <a:spLocks xmlns:a="http://schemas.openxmlformats.org/drawingml/2006/main" noGrp="1"/>
          </p:cNvSpPr>
          <p:nvPr/>
        </p:nvSpPr>
        <p:spPr>
          <a:xfrm xmlns:a="http://schemas.openxmlformats.org/drawingml/2006/main">
            <a:off x="800100" y="1714500"/>
            <a:ext cx="4953000" cy="3657600"/>
          </a:xfrm>
          <a:prstGeom xmlns:a="http://schemas.openxmlformats.org/drawingml/2006/main" prst="roundRect">
            <a:avLst>
              <a:gd name="adj" fmla="val 2083"/>
            </a:avLst>
          </a:prstGeom>
          <a:solidFill xmlns:a="http://schemas.openxmlformats.org/drawingml/2006/main">
            <a:srgbClr val="FFFFFF"/>
          </a:solidFill>
          <a:ln xmlns:a="http://schemas.openxmlformats.org/drawingml/2006/main" w="9525">
            <a:solidFill>
              <a:srgbClr val="C9D0C7"/>
            </a:solidFill>
            <a:prstDash val="solid"/>
          </a:ln>
        </p:spPr>
      </p:sp>
      <p:sp>
        <p:nvSpPr>
          <p:cNvPr id="5" name="">
            <a:extLst xmlns:a="http://schemas.openxmlformats.org/drawingml/2006/main">
              <a:ext uri="{FF2B5EF4-FFF2-40B4-BE49-F238E27FC236}">
                <a16:creationId xmlns:a16="http://schemas.microsoft.com/office/drawing/2014/main" id="{D30E1C62-028E-411B-A5C4-4FFFAC03ABE9}"/>
              </a:ext>
            </a:extLst>
          </p:cNvPr>
          <p:cNvSpPr>
            <a:spLocks xmlns:a="http://schemas.openxmlformats.org/drawingml/2006/main" noGrp="1"/>
          </p:cNvSpPr>
          <p:nvPr/>
        </p:nvSpPr>
        <p:spPr>
          <a:xfrm xmlns:a="http://schemas.openxmlformats.org/drawingml/2006/main">
            <a:off x="1066800" y="2000250"/>
            <a:ext cx="1371600" cy="285750"/>
          </a:xfrm>
          <a:prstGeom xmlns:a="http://schemas.openxmlformats.org/drawingml/2006/main" prst="roundRect">
            <a:avLst>
              <a:gd name="adj" fmla="val 26667"/>
            </a:avLst>
          </a:prstGeom>
          <a:solidFill xmlns:a="http://schemas.openxmlformats.org/drawingml/2006/main">
            <a:srgbClr val="1F8A5B"/>
          </a:solidFill>
          <a:ln xmlns:a="http://schemas.openxmlformats.org/drawingml/2006/main" w="9525">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latin typeface="Aptos"/>
                <a:ea typeface="Aptos"/>
                <a:cs typeface="Aptos"/>
              </a:defRPr>
            </a:pPr>
            <a:r>
              <a:rPr sz="975" b="1">
                <a:solidFill>
                  <a:srgbClr val="FFFFFF"/>
                </a:solidFill>
                <a:latin typeface="Aptos"/>
                <a:ea typeface="Aptos"/>
                <a:cs typeface="Aptos"/>
              </a:rPr>
              <a:t>NARRATOR CARD</a:t>
            </a:r>
          </a:p>
        </p:txBody>
      </p:sp>
      <p:sp>
        <p:nvSpPr>
          <p:cNvPr id="6" name="">
            <a:extLst xmlns:a="http://schemas.openxmlformats.org/drawingml/2006/main">
              <a:ext uri="{FF2B5EF4-FFF2-40B4-BE49-F238E27FC236}">
                <a16:creationId xmlns:a16="http://schemas.microsoft.com/office/drawing/2014/main" id="{45F19C5A-F395-4042-82B5-E3ADE41DCD47}"/>
              </a:ext>
            </a:extLst>
          </p:cNvPr>
          <p:cNvSpPr>
            <a:spLocks xmlns:a="http://schemas.openxmlformats.org/drawingml/2006/main" noGrp="1"/>
          </p:cNvSpPr>
          <p:nvPr/>
        </p:nvSpPr>
        <p:spPr>
          <a:xfrm xmlns:a="http://schemas.openxmlformats.org/drawingml/2006/main">
            <a:off x="1066800" y="2457450"/>
            <a:ext cx="409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250" b="1">
                <a:solidFill>
                  <a:srgbClr val="17201D"/>
                </a:solidFill>
                <a:latin typeface="Aptos"/>
                <a:ea typeface="Aptos"/>
                <a:cs typeface="Aptos"/>
              </a:defRPr>
            </a:pPr>
            <a:r>
              <a:rPr sz="2250" b="1">
                <a:solidFill>
                  <a:srgbClr val="17201D"/>
                </a:solidFill>
                <a:latin typeface="Aptos"/>
                <a:ea typeface="Aptos"/>
                <a:cs typeface="Aptos"/>
              </a:rPr>
              <a:t>The gold price is falling</a:t>
            </a:r>
          </a:p>
        </p:txBody>
      </p:sp>
      <p:sp>
        <p:nvSpPr>
          <p:cNvPr id="7" name="">
            <a:extLst xmlns:a="http://schemas.openxmlformats.org/drawingml/2006/main">
              <a:ext uri="{FF2B5EF4-FFF2-40B4-BE49-F238E27FC236}">
                <a16:creationId xmlns:a16="http://schemas.microsoft.com/office/drawing/2014/main" id="{B787D05A-086C-43A5-9F43-A8C5A976A4DD}"/>
              </a:ext>
            </a:extLst>
          </p:cNvPr>
          <p:cNvSpPr>
            <a:spLocks xmlns:a="http://schemas.openxmlformats.org/drawingml/2006/main" noGrp="1"/>
          </p:cNvSpPr>
          <p:nvPr/>
        </p:nvSpPr>
        <p:spPr>
          <a:xfrm xmlns:a="http://schemas.openxmlformats.org/drawingml/2006/main">
            <a:off x="1066800" y="2933700"/>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650" b="1">
                <a:solidFill>
                  <a:srgbClr val="0D4D36"/>
                </a:solidFill>
                <a:latin typeface="Aptos"/>
                <a:ea typeface="Aptos"/>
                <a:cs typeface="Aptos"/>
              </a:defRPr>
            </a:pPr>
            <a:r>
              <a:rPr sz="1650" b="1">
                <a:solidFill>
                  <a:srgbClr val="0D4D36"/>
                </a:solidFill>
                <a:latin typeface="Aptos"/>
                <a:ea typeface="Aptos"/>
                <a:cs typeface="Aptos"/>
              </a:rPr>
              <a:t>Down 18% since shift 21. Likely due to your gold rush at shift 20.</a:t>
            </a:r>
          </a:p>
        </p:txBody>
      </p:sp>
      <p:sp>
        <p:nvSpPr>
          <p:cNvPr id="8" name="">
            <a:extLst xmlns:a="http://schemas.openxmlformats.org/drawingml/2006/main">
              <a:ext uri="{FF2B5EF4-FFF2-40B4-BE49-F238E27FC236}">
                <a16:creationId xmlns:a16="http://schemas.microsoft.com/office/drawing/2014/main" id="{46FCC9DC-4558-4FF3-9F91-C080D5B78E4D}"/>
              </a:ext>
            </a:extLst>
          </p:cNvPr>
          <p:cNvSpPr>
            <a:spLocks xmlns:a="http://schemas.openxmlformats.org/drawingml/2006/main" noGrp="1"/>
          </p:cNvSpPr>
          <p:nvPr/>
        </p:nvSpPr>
        <p:spPr>
          <a:xfrm xmlns:a="http://schemas.openxmlformats.org/drawingml/2006/main">
            <a:off x="1066800" y="3733800"/>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00" b="1">
                <a:solidFill>
                  <a:srgbClr val="315D7C"/>
                </a:solidFill>
                <a:latin typeface="Aptos"/>
                <a:ea typeface="Aptos"/>
                <a:cs typeface="Aptos"/>
              </a:defRPr>
            </a:pPr>
            <a:r>
              <a:rPr sz="1200" b="1">
                <a:solidFill>
                  <a:srgbClr val="315D7C"/>
                </a:solidFill>
                <a:latin typeface="Aptos"/>
                <a:ea typeface="Aptos"/>
                <a:cs typeface="Aptos"/>
              </a:rPr>
              <a:t>Observed</a:t>
            </a:r>
          </a:p>
        </p:txBody>
      </p:sp>
      <p:sp>
        <p:nvSpPr>
          <p:cNvPr id="9" name="">
            <a:extLst xmlns:a="http://schemas.openxmlformats.org/drawingml/2006/main">
              <a:ext uri="{FF2B5EF4-FFF2-40B4-BE49-F238E27FC236}">
                <a16:creationId xmlns:a16="http://schemas.microsoft.com/office/drawing/2014/main" id="{7CB40EEA-647F-4C77-82ED-CDD5298D1CBA}"/>
              </a:ext>
            </a:extLst>
          </p:cNvPr>
          <p:cNvSpPr>
            <a:spLocks xmlns:a="http://schemas.openxmlformats.org/drawingml/2006/main" noGrp="1"/>
          </p:cNvSpPr>
          <p:nvPr/>
        </p:nvSpPr>
        <p:spPr>
          <a:xfrm xmlns:a="http://schemas.openxmlformats.org/drawingml/2006/main">
            <a:off x="1066800" y="3981450"/>
            <a:ext cx="4000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0">
                <a:solidFill>
                  <a:srgbClr val="5F6B64"/>
                </a:solidFill>
                <a:latin typeface="Aptos"/>
                <a:ea typeface="Aptos"/>
                <a:cs typeface="Aptos"/>
              </a:defRPr>
            </a:pPr>
            <a:r>
              <a:rPr sz="1275" b="0">
                <a:solidFill>
                  <a:srgbClr val="5F6B64"/>
                </a:solidFill>
                <a:latin typeface="Aptos"/>
                <a:ea typeface="Aptos"/>
                <a:cs typeface="Aptos"/>
              </a:rPr>
              <a:t>The gold price moved from a usual 12.0 coins to 9.8 coins. The change sat far outside the previous 16-shift baseline.</a:t>
            </a:r>
          </a:p>
        </p:txBody>
      </p:sp>
      <p:sp>
        <p:nvSpPr>
          <p:cNvPr id="10" name="">
            <a:extLst xmlns:a="http://schemas.openxmlformats.org/drawingml/2006/main">
              <a:ext uri="{FF2B5EF4-FFF2-40B4-BE49-F238E27FC236}">
                <a16:creationId xmlns:a16="http://schemas.microsoft.com/office/drawing/2014/main" id="{77A1F0D9-9AE4-4D60-A0A7-E239FF3FE97B}"/>
              </a:ext>
            </a:extLst>
          </p:cNvPr>
          <p:cNvSpPr>
            <a:spLocks xmlns:a="http://schemas.openxmlformats.org/drawingml/2006/main" noGrp="1"/>
          </p:cNvSpPr>
          <p:nvPr/>
        </p:nvSpPr>
        <p:spPr>
          <a:xfrm xmlns:a="http://schemas.openxmlformats.org/drawingml/2006/main">
            <a:off x="1066800" y="4705350"/>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00" b="1">
                <a:solidFill>
                  <a:srgbClr val="B96E3A"/>
                </a:solidFill>
                <a:latin typeface="Aptos"/>
                <a:ea typeface="Aptos"/>
                <a:cs typeface="Aptos"/>
              </a:defRPr>
            </a:pPr>
            <a:r>
              <a:rPr sz="1200" b="1">
                <a:solidFill>
                  <a:srgbClr val="B96E3A"/>
                </a:solidFill>
                <a:latin typeface="Aptos"/>
                <a:ea typeface="Aptos"/>
                <a:cs typeface="Aptos"/>
              </a:rPr>
              <a:t>Uncertain</a:t>
            </a:r>
          </a:p>
        </p:txBody>
      </p:sp>
      <p:sp>
        <p:nvSpPr>
          <p:cNvPr id="11" name="">
            <a:extLst xmlns:a="http://schemas.openxmlformats.org/drawingml/2006/main">
              <a:ext uri="{FF2B5EF4-FFF2-40B4-BE49-F238E27FC236}">
                <a16:creationId xmlns:a16="http://schemas.microsoft.com/office/drawing/2014/main" id="{3AA56D21-8E71-4AAA-A7E0-C1FBFAE1BAC9}"/>
              </a:ext>
            </a:extLst>
          </p:cNvPr>
          <p:cNvSpPr>
            <a:spLocks xmlns:a="http://schemas.openxmlformats.org/drawingml/2006/main" noGrp="1"/>
          </p:cNvSpPr>
          <p:nvPr/>
        </p:nvSpPr>
        <p:spPr>
          <a:xfrm xmlns:a="http://schemas.openxmlformats.org/drawingml/2006/main">
            <a:off x="1066800" y="4953000"/>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0">
                <a:solidFill>
                  <a:srgbClr val="5F6B64"/>
                </a:solidFill>
                <a:latin typeface="Aptos"/>
                <a:ea typeface="Aptos"/>
                <a:cs typeface="Aptos"/>
              </a:defRPr>
            </a:pPr>
            <a:r>
              <a:rPr sz="1275" b="0">
                <a:solidFill>
                  <a:srgbClr val="5F6B64"/>
                </a:solidFill>
                <a:latin typeface="Aptos"/>
                <a:ea typeface="Aptos"/>
                <a:cs typeface="Aptos"/>
              </a:rPr>
              <a:t>The timing and known link support the cause. A re-run without the rush would be needed for stronger confidence.</a:t>
            </a:r>
          </a:p>
        </p:txBody>
      </p:sp>
      <p:sp>
        <p:nvSpPr>
          <p:cNvPr id="12" name="">
            <a:extLst xmlns:a="http://schemas.openxmlformats.org/drawingml/2006/main">
              <a:ext uri="{FF2B5EF4-FFF2-40B4-BE49-F238E27FC236}">
                <a16:creationId xmlns:a16="http://schemas.microsoft.com/office/drawing/2014/main" id="{B8671DD1-BB6E-4835-88B6-6A9936D7AF9A}"/>
              </a:ext>
            </a:extLst>
          </p:cNvPr>
          <p:cNvSpPr>
            <a:spLocks xmlns:a="http://schemas.openxmlformats.org/drawingml/2006/main" noGrp="1"/>
          </p:cNvSpPr>
          <p:nvPr/>
        </p:nvSpPr>
        <p:spPr>
          <a:xfrm xmlns:a="http://schemas.openxmlformats.org/drawingml/2006/main">
            <a:off x="6400800" y="1885950"/>
            <a:ext cx="4476750" cy="1504950"/>
          </a:xfrm>
          <a:prstGeom xmlns:a="http://schemas.openxmlformats.org/drawingml/2006/main" prst="roundRect">
            <a:avLst>
              <a:gd name="adj" fmla="val 5063"/>
            </a:avLst>
          </a:prstGeom>
          <a:solidFill xmlns:a="http://schemas.openxmlformats.org/drawingml/2006/main">
            <a:srgbClr val="FFFDF8"/>
          </a:solidFill>
          <a:ln xmlns:a="http://schemas.openxmlformats.org/drawingml/2006/main" w="9525">
            <a:solidFill>
              <a:srgbClr val="C9D0C7"/>
            </a:solidFill>
            <a:prstDash val="solid"/>
          </a:ln>
        </p:spPr>
      </p:sp>
      <p:sp>
        <p:nvSpPr>
          <p:cNvPr id="13" name="">
            <a:extLst xmlns:a="http://schemas.openxmlformats.org/drawingml/2006/main">
              <a:ext uri="{FF2B5EF4-FFF2-40B4-BE49-F238E27FC236}">
                <a16:creationId xmlns:a16="http://schemas.microsoft.com/office/drawing/2014/main" id="{3EA21DF1-1F53-43F1-B99C-D3F7FC638B27}"/>
              </a:ext>
            </a:extLst>
          </p:cNvPr>
          <p:cNvSpPr>
            <a:spLocks xmlns:a="http://schemas.openxmlformats.org/drawingml/2006/main" noGrp="1"/>
          </p:cNvSpPr>
          <p:nvPr/>
        </p:nvSpPr>
        <p:spPr>
          <a:xfrm xmlns:a="http://schemas.openxmlformats.org/drawingml/2006/main">
            <a:off x="6400800" y="1885950"/>
            <a:ext cx="66675" cy="1504950"/>
          </a:xfrm>
          <a:prstGeom xmlns:a="http://schemas.openxmlformats.org/drawingml/2006/main" prst="rect">
            <a:avLst/>
          </a:prstGeom>
          <a:solidFill xmlns:a="http://schemas.openxmlformats.org/drawingml/2006/main">
            <a:srgbClr val="1F8A5B"/>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0B78544-5355-4BC1-87A8-574146E3562D}"/>
              </a:ext>
            </a:extLst>
          </p:cNvPr>
          <p:cNvSpPr>
            <a:spLocks xmlns:a="http://schemas.openxmlformats.org/drawingml/2006/main" noGrp="1"/>
          </p:cNvSpPr>
          <p:nvPr/>
        </p:nvSpPr>
        <p:spPr>
          <a:xfrm xmlns:a="http://schemas.openxmlformats.org/drawingml/2006/main">
            <a:off x="6610350" y="2057400"/>
            <a:ext cx="4114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500" b="1">
                <a:solidFill>
                  <a:srgbClr val="17201D"/>
                </a:solidFill>
                <a:latin typeface="Aptos"/>
                <a:ea typeface="Aptos"/>
                <a:cs typeface="Aptos"/>
              </a:defRPr>
            </a:pPr>
            <a:r>
              <a:rPr sz="1500" b="1">
                <a:solidFill>
                  <a:srgbClr val="17201D"/>
                </a:solidFill>
                <a:latin typeface="Aptos"/>
                <a:ea typeface="Aptos"/>
                <a:cs typeface="Aptos"/>
              </a:rPr>
              <a:t>What Woodgrove sees</a:t>
            </a:r>
          </a:p>
        </p:txBody>
      </p:sp>
      <p:sp>
        <p:nvSpPr>
          <p:cNvPr id="15" name="">
            <a:extLst xmlns:a="http://schemas.openxmlformats.org/drawingml/2006/main">
              <a:ext uri="{FF2B5EF4-FFF2-40B4-BE49-F238E27FC236}">
                <a16:creationId xmlns:a16="http://schemas.microsoft.com/office/drawing/2014/main" id="{C4C9C3CA-6127-41E7-A9F5-10BB1757A36A}"/>
              </a:ext>
            </a:extLst>
          </p:cNvPr>
          <p:cNvSpPr>
            <a:spLocks xmlns:a="http://schemas.openxmlformats.org/drawingml/2006/main" noGrp="1"/>
          </p:cNvSpPr>
          <p:nvPr/>
        </p:nvSpPr>
        <p:spPr>
          <a:xfrm xmlns:a="http://schemas.openxmlformats.org/drawingml/2006/main">
            <a:off x="6610350" y="2419350"/>
            <a:ext cx="4114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2000"/>
              </a:lnSpc>
              <a:buNone/>
              <a:defRPr sz="1275" b="0">
                <a:solidFill>
                  <a:srgbClr val="5F6B64"/>
                </a:solidFill>
                <a:latin typeface="Aptos"/>
                <a:ea typeface="Aptos"/>
                <a:cs typeface="Aptos"/>
              </a:defRPr>
            </a:pPr>
            <a:r>
              <a:rPr sz="1275" b="0">
                <a:solidFill>
                  <a:srgbClr val="5F6B64"/>
                </a:solidFill>
                <a:latin typeface="Aptos"/>
                <a:ea typeface="Aptos"/>
                <a:cs typeface="Aptos"/>
              </a:rPr>
              <a:t>A controller-facing explanation style: the observed change, causal claim, timing, confidence limit and evidence references appear together, with recommendations kept separate.</a:t>
            </a:r>
          </a:p>
        </p:txBody>
      </p:sp>
      <p:sp>
        <p:nvSpPr>
          <p:cNvPr id="16" name="">
            <a:extLst xmlns:a="http://schemas.openxmlformats.org/drawingml/2006/main">
              <a:ext uri="{FF2B5EF4-FFF2-40B4-BE49-F238E27FC236}">
                <a16:creationId xmlns:a16="http://schemas.microsoft.com/office/drawing/2014/main" id="{B0BC3AB0-858C-4870-A06C-0CCCD4DC552F}"/>
              </a:ext>
            </a:extLst>
          </p:cNvPr>
          <p:cNvSpPr>
            <a:spLocks xmlns:a="http://schemas.openxmlformats.org/drawingml/2006/main" noGrp="1"/>
          </p:cNvSpPr>
          <p:nvPr/>
        </p:nvSpPr>
        <p:spPr>
          <a:xfrm xmlns:a="http://schemas.openxmlformats.org/drawingml/2006/main">
            <a:off x="6400800" y="3848100"/>
            <a:ext cx="4476750" cy="1314450"/>
          </a:xfrm>
          <a:prstGeom xmlns:a="http://schemas.openxmlformats.org/drawingml/2006/main" prst="roundRect">
            <a:avLst>
              <a:gd name="adj" fmla="val 5797"/>
            </a:avLst>
          </a:prstGeom>
          <a:solidFill xmlns:a="http://schemas.openxmlformats.org/drawingml/2006/main">
            <a:srgbClr val="FFFDF8"/>
          </a:solidFill>
          <a:ln xmlns:a="http://schemas.openxmlformats.org/drawingml/2006/main" w="9525">
            <a:solidFill>
              <a:srgbClr val="C9D0C7"/>
            </a:solidFill>
            <a:prstDash val="solid"/>
          </a:ln>
        </p:spPr>
      </p:sp>
      <p:sp>
        <p:nvSpPr>
          <p:cNvPr id="17" name="">
            <a:extLst xmlns:a="http://schemas.openxmlformats.org/drawingml/2006/main">
              <a:ext uri="{FF2B5EF4-FFF2-40B4-BE49-F238E27FC236}">
                <a16:creationId xmlns:a16="http://schemas.microsoft.com/office/drawing/2014/main" id="{97B88294-BEF9-42CC-9173-0BF03EB48684}"/>
              </a:ext>
            </a:extLst>
          </p:cNvPr>
          <p:cNvSpPr>
            <a:spLocks xmlns:a="http://schemas.openxmlformats.org/drawingml/2006/main" noGrp="1"/>
          </p:cNvSpPr>
          <p:nvPr/>
        </p:nvSpPr>
        <p:spPr>
          <a:xfrm xmlns:a="http://schemas.openxmlformats.org/drawingml/2006/main">
            <a:off x="6400800" y="3848100"/>
            <a:ext cx="66675" cy="1314450"/>
          </a:xfrm>
          <a:prstGeom xmlns:a="http://schemas.openxmlformats.org/drawingml/2006/main" prst="rect">
            <a:avLst/>
          </a:prstGeom>
          <a:solidFill xmlns:a="http://schemas.openxmlformats.org/drawingml/2006/main">
            <a:srgbClr val="315D7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98565267-AEA7-4491-BF15-152D536C1CDE}"/>
              </a:ext>
            </a:extLst>
          </p:cNvPr>
          <p:cNvSpPr>
            <a:spLocks xmlns:a="http://schemas.openxmlformats.org/drawingml/2006/main" noGrp="1"/>
          </p:cNvSpPr>
          <p:nvPr/>
        </p:nvSpPr>
        <p:spPr>
          <a:xfrm xmlns:a="http://schemas.openxmlformats.org/drawingml/2006/main">
            <a:off x="6610350" y="4019550"/>
            <a:ext cx="4114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500" b="1">
                <a:solidFill>
                  <a:srgbClr val="17201D"/>
                </a:solidFill>
                <a:latin typeface="Aptos"/>
                <a:ea typeface="Aptos"/>
                <a:cs typeface="Aptos"/>
              </a:defRPr>
            </a:pPr>
            <a:r>
              <a:rPr sz="1500" b="1">
                <a:solidFill>
                  <a:srgbClr val="17201D"/>
                </a:solidFill>
                <a:latin typeface="Aptos"/>
                <a:ea typeface="Aptos"/>
                <a:cs typeface="Aptos"/>
              </a:rPr>
              <a:t>Why this matters</a:t>
            </a:r>
          </a:p>
        </p:txBody>
      </p:sp>
      <p:sp>
        <p:nvSpPr>
          <p:cNvPr id="19" name="">
            <a:extLst xmlns:a="http://schemas.openxmlformats.org/drawingml/2006/main">
              <a:ext uri="{FF2B5EF4-FFF2-40B4-BE49-F238E27FC236}">
                <a16:creationId xmlns:a16="http://schemas.microsoft.com/office/drawing/2014/main" id="{9C979CCF-52F9-4E18-BE7D-7BBD79F258F6}"/>
              </a:ext>
            </a:extLst>
          </p:cNvPr>
          <p:cNvSpPr>
            <a:spLocks xmlns:a="http://schemas.openxmlformats.org/drawingml/2006/main" noGrp="1"/>
          </p:cNvSpPr>
          <p:nvPr/>
        </p:nvSpPr>
        <p:spPr>
          <a:xfrm xmlns:a="http://schemas.openxmlformats.org/drawingml/2006/main">
            <a:off x="6610350" y="4381500"/>
            <a:ext cx="4114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2000"/>
              </a:lnSpc>
              <a:buNone/>
              <a:defRPr sz="1275" b="0">
                <a:solidFill>
                  <a:srgbClr val="5F6B64"/>
                </a:solidFill>
                <a:latin typeface="Aptos"/>
                <a:ea typeface="Aptos"/>
                <a:cs typeface="Aptos"/>
              </a:defRPr>
            </a:pPr>
            <a:r>
              <a:rPr sz="1275" b="0">
                <a:solidFill>
                  <a:srgbClr val="5F6B64"/>
                </a:solidFill>
                <a:latin typeface="Aptos"/>
                <a:ea typeface="Aptos"/>
                <a:cs typeface="Aptos"/>
              </a:rPr>
              <a:t>The demo shows the narrator explaining the consequence of a god action without letting the language model infer the cause or invent the numbers.</a:t>
            </a:r>
          </a:p>
        </p:txBody>
      </p:sp>
      <p:sp>
        <p:nvSpPr>
          <p:cNvPr id="20" name="">
            <a:extLst xmlns:a="http://schemas.openxmlformats.org/drawingml/2006/main">
              <a:ext uri="{FF2B5EF4-FFF2-40B4-BE49-F238E27FC236}">
                <a16:creationId xmlns:a16="http://schemas.microsoft.com/office/drawing/2014/main" id="{28C96FC7-D304-441D-8138-2ECA6ED1DC53}"/>
              </a:ext>
            </a:extLst>
          </p:cNvPr>
          <p:cNvSpPr>
            <a:spLocks xmlns:a="http://schemas.openxmlformats.org/drawingml/2006/main" noGrp="1"/>
          </p:cNvSpPr>
          <p:nvPr/>
        </p:nvSpPr>
        <p:spPr>
          <a:xfrm xmlns:a="http://schemas.openxmlformats.org/drawingml/2006/main">
            <a:off x="609600" y="649605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7A827C"/>
                </a:solidFill>
                <a:latin typeface="Aptos"/>
                <a:ea typeface="Aptos"/>
                <a:cs typeface="Aptos"/>
              </a:defRPr>
            </a:pPr>
            <a:r>
              <a:rPr sz="900" b="0">
                <a:solidFill>
                  <a:srgbClr val="7A827C"/>
                </a:solidFill>
                <a:latin typeface="Aptos"/>
                <a:ea typeface="Aptos"/>
                <a:cs typeface="Aptos"/>
              </a:rPr>
              <a:t>Motherlode technical background for Woodgrove</a:t>
            </a:r>
          </a:p>
        </p:txBody>
      </p:sp>
      <p:sp>
        <p:nvSpPr>
          <p:cNvPr id="21" name="">
            <a:extLst xmlns:a="http://schemas.openxmlformats.org/drawingml/2006/main">
              <a:ext uri="{FF2B5EF4-FFF2-40B4-BE49-F238E27FC236}">
                <a16:creationId xmlns:a16="http://schemas.microsoft.com/office/drawing/2014/main" id="{3F22DF94-0ADE-46A1-844C-685B7E4644B0}"/>
              </a:ext>
            </a:extLst>
          </p:cNvPr>
          <p:cNvSpPr>
            <a:spLocks xmlns:a="http://schemas.openxmlformats.org/drawingml/2006/main" noGrp="1"/>
          </p:cNvSpPr>
          <p:nvPr/>
        </p:nvSpPr>
        <p:spPr>
          <a:xfrm xmlns:a="http://schemas.openxmlformats.org/drawingml/2006/main">
            <a:off x="11201400" y="64960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lnSpc>
                <a:spcPct val="108000"/>
              </a:lnSpc>
              <a:buNone/>
              <a:defRPr sz="900" b="0">
                <a:solidFill>
                  <a:srgbClr val="7A827C"/>
                </a:solidFill>
                <a:latin typeface="Aptos"/>
                <a:ea typeface="Aptos"/>
                <a:cs typeface="Aptos"/>
              </a:defRPr>
            </a:pPr>
            <a:r>
              <a:rPr sz="900" b="0">
                <a:solidFill>
                  <a:srgbClr val="7A827C"/>
                </a:solidFill>
                <a:latin typeface="Aptos"/>
                <a:ea typeface="Aptos"/>
                <a:cs typeface="Aptos"/>
              </a:rPr>
              <a:t>08</a:t>
            </a:r>
          </a:p>
        </p:txBody>
      </p:sp>
    </p:spTree>
    <p:extLst>
      <p:ext uri="{BB962C8B-B14F-4D97-AF65-F5344CB8AC3E}">
        <p14:creationId xmlns:p14="http://schemas.microsoft.com/office/powerpoint/2010/main" val="775614772"/>
      </p:ext>
    </p:extLst>
  </p:cSld>
</p:sld>
</file>

<file path=ppt/slides/slide9.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FB8A6D1-3B74-4753-83FC-1CD6D170F14E}"/>
              </a:ext>
            </a:extLst>
          </p:cNvPr>
          <p:cNvSpPr>
            <a:spLocks xmlns:a="http://schemas.openxmlformats.org/drawingml/2006/main" noGrp="1"/>
          </p:cNvSpPr>
          <p:nvPr/>
        </p:nvSpPr>
        <p:spPr>
          <a:xfrm xmlns:a="http://schemas.openxmlformats.org/drawingml/2006/main">
            <a:off x="609600" y="476250"/>
            <a:ext cx="723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550" b="1">
                <a:solidFill>
                  <a:srgbClr val="17201D"/>
                </a:solidFill>
                <a:latin typeface="Aptos"/>
                <a:ea typeface="Aptos"/>
                <a:cs typeface="Aptos"/>
              </a:defRPr>
            </a:pPr>
            <a:r>
              <a:rPr sz="2550" b="1">
                <a:solidFill>
                  <a:srgbClr val="17201D"/>
                </a:solidFill>
                <a:latin typeface="Aptos"/>
                <a:ea typeface="Aptos"/>
                <a:cs typeface="Aptos"/>
              </a:rPr>
              <a:t>Scenario validation</a:t>
            </a:r>
          </a:p>
        </p:txBody>
      </p:sp>
      <p:sp>
        <p:nvSpPr>
          <p:cNvPr id="2" name="">
            <a:extLst xmlns:a="http://schemas.openxmlformats.org/drawingml/2006/main">
              <a:ext uri="{FF2B5EF4-FFF2-40B4-BE49-F238E27FC236}">
                <a16:creationId xmlns:a16="http://schemas.microsoft.com/office/drawing/2014/main" id="{3A406735-0DFD-42FE-B2FF-632E2C2E8628}"/>
              </a:ext>
            </a:extLst>
          </p:cNvPr>
          <p:cNvSpPr>
            <a:spLocks xmlns:a="http://schemas.openxmlformats.org/drawingml/2006/main" noGrp="1"/>
          </p:cNvSpPr>
          <p:nvPr/>
        </p:nvSpPr>
        <p:spPr>
          <a:xfrm xmlns:a="http://schemas.openxmlformats.org/drawingml/2006/main">
            <a:off x="609600" y="942975"/>
            <a:ext cx="885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350" b="0">
                <a:solidFill>
                  <a:srgbClr val="5F6B64"/>
                </a:solidFill>
                <a:latin typeface="Aptos"/>
                <a:ea typeface="Aptos"/>
                <a:cs typeface="Aptos"/>
              </a:defRPr>
            </a:pPr>
            <a:r>
              <a:rPr sz="1350" b="0">
                <a:solidFill>
                  <a:srgbClr val="5F6B64"/>
                </a:solidFill>
                <a:latin typeface="Aptos"/>
                <a:ea typeface="Aptos"/>
                <a:cs typeface="Aptos"/>
              </a:rPr>
              <a:t>Scripted causes let the team score explanation quality before plant data exists.</a:t>
            </a:r>
          </a:p>
        </p:txBody>
      </p:sp>
      <p:sp>
        <p:nvSpPr>
          <p:cNvPr id="3" name="">
            <a:extLst xmlns:a="http://schemas.openxmlformats.org/drawingml/2006/main">
              <a:ext uri="{FF2B5EF4-FFF2-40B4-BE49-F238E27FC236}">
                <a16:creationId xmlns:a16="http://schemas.microsoft.com/office/drawing/2014/main" id="{51278FEC-5DEE-40BC-8ADE-5F94C8939308}"/>
              </a:ext>
            </a:extLst>
          </p:cNvPr>
          <p:cNvSpPr>
            <a:spLocks xmlns:a="http://schemas.openxmlformats.org/drawingml/2006/main" noGrp="1"/>
          </p:cNvSpPr>
          <p:nvPr/>
        </p:nvSpPr>
        <p:spPr>
          <a:xfrm xmlns:a="http://schemas.openxmlformats.org/drawingml/2006/main">
            <a:off x="609600" y="1352550"/>
            <a:ext cx="1524000" cy="0"/>
          </a:xfrm>
          <a:prstGeom xmlns:a="http://schemas.openxmlformats.org/drawingml/2006/main" prst="line">
            <a:avLst/>
          </a:prstGeom>
          <a:ln xmlns:a="http://schemas.openxmlformats.org/drawingml/2006/main" w="38100">
            <a:solidFill>
              <a:srgbClr val="1F8A5B"/>
            </a:solidFill>
            <a:prstDash val="solid"/>
          </a:ln>
        </p:spPr>
      </p:sp>
      <p:graphicFrame>
        <p:nvGraphicFramePr>
          <p:cNvPr id="18" name=""/>
          <p:cNvGraphicFramePr/>
          <p:nvPr/>
        </p:nvGraphicFramePr>
        <p:xfrm>
          <a:off xmlns:a="http://schemas.openxmlformats.org/drawingml/2006/main" x="781050" y="1752600"/>
          <a:ext xmlns:a="http://schemas.openxmlformats.org/drawingml/2006/main" cx="7239000" cy="3124200"/>
        </p:xfrm>
        <a:graphic xmlns:a="http://schemas.openxmlformats.org/drawingml/2006/main">
          <a:graphicData uri="http://schemas.openxmlformats.org/drawingml/2006/table">
            <a:tbl>
              <a:tblPr firstRow="1" bandRow="1"/>
              <a:tblGrid>
                <a:gridCol w="1984887"/>
                <a:gridCol w="1167581"/>
                <a:gridCol w="1167581"/>
                <a:gridCol w="1459476"/>
                <a:gridCol w="1459476"/>
              </a:tblGrid>
              <a:tr h="446314">
                <a:tc>
                  <a:txBody>
                    <a:bodyPr/>
                    <a:lstStyle/>
                    <a:p>
                      <a:r>
                        <a:rPr sz="1050" b="1">
                          <a:solidFill>
                            <a:srgbClr val="FFFFFF"/>
                          </a:solidFill>
                          <a:latin typeface="Aptos"/>
                          <a:ea typeface="Aptos"/>
                          <a:cs typeface="Aptos"/>
                        </a:rPr>
                        <a:t>Scenario</a:t>
                      </a:r>
                    </a:p>
                  </a:txBody>
                  <a:tcPr marL="91440" marR="91440" marT="45720" marB="45720">
                    <a:solidFill>
                      <a:srgbClr val="0D4D36"/>
                    </a:solidFill>
                  </a:tcPr>
                </a:tc>
                <a:tc>
                  <a:txBody>
                    <a:bodyPr/>
                    <a:lstStyle/>
                    <a:p>
                      <a:r>
                        <a:rPr sz="1050" b="1">
                          <a:solidFill>
                            <a:srgbClr val="FFFFFF"/>
                          </a:solidFill>
                          <a:latin typeface="Aptos"/>
                          <a:ea typeface="Aptos"/>
                          <a:cs typeface="Aptos"/>
                        </a:rPr>
                        <a:t>Right</a:t>
                      </a:r>
                    </a:p>
                  </a:txBody>
                  <a:tcPr marL="91440" marR="91440" marT="45720" marB="45720">
                    <a:solidFill>
                      <a:srgbClr val="0D4D36"/>
                    </a:solidFill>
                  </a:tcPr>
                </a:tc>
                <a:tc>
                  <a:txBody>
                    <a:bodyPr/>
                    <a:lstStyle/>
                    <a:p>
                      <a:r>
                        <a:rPr sz="1050" b="1">
                          <a:solidFill>
                            <a:srgbClr val="FFFFFF"/>
                          </a:solidFill>
                          <a:latin typeface="Aptos"/>
                          <a:ea typeface="Aptos"/>
                          <a:cs typeface="Aptos"/>
                        </a:rPr>
                        <a:t>Missed</a:t>
                      </a:r>
                    </a:p>
                  </a:txBody>
                  <a:tcPr marL="91440" marR="91440" marT="45720" marB="45720">
                    <a:solidFill>
                      <a:srgbClr val="0D4D36"/>
                    </a:solidFill>
                  </a:tcPr>
                </a:tc>
                <a:tc>
                  <a:txBody>
                    <a:bodyPr/>
                    <a:lstStyle/>
                    <a:p>
                      <a:r>
                        <a:rPr sz="1050" b="1">
                          <a:solidFill>
                            <a:srgbClr val="FFFFFF"/>
                          </a:solidFill>
                          <a:latin typeface="Aptos"/>
                          <a:ea typeface="Aptos"/>
                          <a:cs typeface="Aptos"/>
                        </a:rPr>
                        <a:t>Overclaimed</a:t>
                      </a:r>
                    </a:p>
                  </a:txBody>
                  <a:tcPr marL="91440" marR="91440" marT="45720" marB="45720">
                    <a:solidFill>
                      <a:srgbClr val="0D4D36"/>
                    </a:solidFill>
                  </a:tcPr>
                </a:tc>
                <a:tc>
                  <a:txBody>
                    <a:bodyPr/>
                    <a:lstStyle/>
                    <a:p>
                      <a:r>
                        <a:rPr sz="1050" b="1">
                          <a:solidFill>
                            <a:srgbClr val="FFFFFF"/>
                          </a:solidFill>
                          <a:latin typeface="Aptos"/>
                          <a:ea typeface="Aptos"/>
                          <a:cs typeface="Aptos"/>
                        </a:rPr>
                        <a:t>False alarms</a:t>
                      </a:r>
                    </a:p>
                  </a:txBody>
                  <a:tcPr marL="91440" marR="91440" marT="45720" marB="45720">
                    <a:solidFill>
                      <a:srgbClr val="0D4D36"/>
                    </a:solidFill>
                  </a:tcPr>
                </a:tc>
              </a:tr>
              <a:tr h="446314">
                <a:tc>
                  <a:txBody>
                    <a:bodyPr/>
                    <a:lstStyle/>
                    <a:p>
                      <a:r>
                        <a:rPr sz="1013">
                          <a:solidFill>
                            <a:srgbClr val="17201D"/>
                          </a:solidFill>
                          <a:latin typeface="Aptos"/>
                          <a:ea typeface="Aptos"/>
                          <a:cs typeface="Aptos"/>
                        </a:rPr>
                        <a:t>gold-rush</a:t>
                      </a:r>
                    </a:p>
                  </a:txBody>
                  <a:tcPr marL="91440" marR="91440" marT="45720" marB="45720"/>
                </a:tc>
                <a:tc>
                  <a:txBody>
                    <a:bodyPr/>
                    <a:lstStyle/>
                    <a:p>
                      <a:r>
                        <a:rPr sz="1013">
                          <a:solidFill>
                            <a:srgbClr val="17201D"/>
                          </a:solidFill>
                          <a:latin typeface="Aptos"/>
                          <a:ea typeface="Aptos"/>
                          <a:cs typeface="Aptos"/>
                        </a:rPr>
                        <a:t>99.0%</a:t>
                      </a:r>
                    </a:p>
                  </a:txBody>
                  <a:tcPr marL="91440" marR="91440" marT="45720" marB="45720"/>
                </a:tc>
                <a:tc>
                  <a:txBody>
                    <a:bodyPr/>
                    <a:lstStyle/>
                    <a:p>
                      <a:r>
                        <a:rPr sz="1013">
                          <a:solidFill>
                            <a:srgbClr val="17201D"/>
                          </a:solidFill>
                          <a:latin typeface="Aptos"/>
                          <a:ea typeface="Aptos"/>
                          <a:cs typeface="Aptos"/>
                        </a:rPr>
                        <a:t>0.0%</a:t>
                      </a:r>
                    </a:p>
                  </a:txBody>
                  <a:tcPr marL="91440" marR="91440" marT="45720" marB="45720"/>
                </a:tc>
                <a:tc>
                  <a:txBody>
                    <a:bodyPr/>
                    <a:lstStyle/>
                    <a:p>
                      <a:r>
                        <a:rPr sz="1013">
                          <a:solidFill>
                            <a:srgbClr val="17201D"/>
                          </a:solidFill>
                          <a:latin typeface="Aptos"/>
                          <a:ea typeface="Aptos"/>
                          <a:cs typeface="Aptos"/>
                        </a:rPr>
                        <a:t>0.0%</a:t>
                      </a:r>
                    </a:p>
                  </a:txBody>
                  <a:tcPr marL="91440" marR="91440" marT="45720" marB="45720"/>
                </a:tc>
                <a:tc>
                  <a:txBody>
                    <a:bodyPr/>
                    <a:lstStyle/>
                    <a:p>
                      <a:r>
                        <a:rPr sz="1013">
                          <a:solidFill>
                            <a:srgbClr val="17201D"/>
                          </a:solidFill>
                          <a:latin typeface="Aptos"/>
                          <a:ea typeface="Aptos"/>
                          <a:cs typeface="Aptos"/>
                        </a:rPr>
                        <a:t>0.5%</a:t>
                      </a:r>
                    </a:p>
                  </a:txBody>
                  <a:tcPr marL="91440" marR="91440" marT="45720" marB="45720"/>
                </a:tc>
              </a:tr>
              <a:tr h="446314">
                <a:tc>
                  <a:txBody>
                    <a:bodyPr/>
                    <a:lstStyle/>
                    <a:p>
                      <a:r>
                        <a:rPr sz="1013">
                          <a:solidFill>
                            <a:srgbClr val="17201D"/>
                          </a:solidFill>
                          <a:latin typeface="Aptos"/>
                          <a:ea typeface="Aptos"/>
                          <a:cs typeface="Aptos"/>
                        </a:rPr>
                        <a:t>two-suspects</a:t>
                      </a:r>
                    </a:p>
                  </a:txBody>
                  <a:tcPr marL="91440" marR="91440" marT="45720" marB="45720"/>
                </a:tc>
                <a:tc>
                  <a:txBody>
                    <a:bodyPr/>
                    <a:lstStyle/>
                    <a:p>
                      <a:r>
                        <a:rPr sz="1013">
                          <a:solidFill>
                            <a:srgbClr val="17201D"/>
                          </a:solidFill>
                          <a:latin typeface="Aptos"/>
                          <a:ea typeface="Aptos"/>
                          <a:cs typeface="Aptos"/>
                        </a:rPr>
                        <a:t>98.5%</a:t>
                      </a:r>
                    </a:p>
                  </a:txBody>
                  <a:tcPr marL="91440" marR="91440" marT="45720" marB="45720"/>
                </a:tc>
                <a:tc>
                  <a:txBody>
                    <a:bodyPr/>
                    <a:lstStyle/>
                    <a:p>
                      <a:r>
                        <a:rPr sz="1013">
                          <a:solidFill>
                            <a:srgbClr val="17201D"/>
                          </a:solidFill>
                          <a:latin typeface="Aptos"/>
                          <a:ea typeface="Aptos"/>
                          <a:cs typeface="Aptos"/>
                        </a:rPr>
                        <a:t>0.0%</a:t>
                      </a:r>
                    </a:p>
                  </a:txBody>
                  <a:tcPr marL="91440" marR="91440" marT="45720" marB="45720"/>
                </a:tc>
                <a:tc>
                  <a:txBody>
                    <a:bodyPr/>
                    <a:lstStyle/>
                    <a:p>
                      <a:r>
                        <a:rPr sz="1013">
                          <a:solidFill>
                            <a:srgbClr val="17201D"/>
                          </a:solidFill>
                          <a:latin typeface="Aptos"/>
                          <a:ea typeface="Aptos"/>
                          <a:cs typeface="Aptos"/>
                        </a:rPr>
                        <a:t>0.0%</a:t>
                      </a:r>
                    </a:p>
                  </a:txBody>
                  <a:tcPr marL="91440" marR="91440" marT="45720" marB="45720"/>
                </a:tc>
                <a:tc>
                  <a:txBody>
                    <a:bodyPr/>
                    <a:lstStyle/>
                    <a:p>
                      <a:r>
                        <a:rPr sz="1013">
                          <a:solidFill>
                            <a:srgbClr val="17201D"/>
                          </a:solidFill>
                          <a:latin typeface="Aptos"/>
                          <a:ea typeface="Aptos"/>
                          <a:cs typeface="Aptos"/>
                        </a:rPr>
                        <a:t>1.5%</a:t>
                      </a:r>
                    </a:p>
                  </a:txBody>
                  <a:tcPr marL="91440" marR="91440" marT="45720" marB="45720"/>
                </a:tc>
              </a:tr>
              <a:tr h="446314">
                <a:tc>
                  <a:txBody>
                    <a:bodyPr/>
                    <a:lstStyle/>
                    <a:p>
                      <a:r>
                        <a:rPr sz="1013">
                          <a:solidFill>
                            <a:srgbClr val="17201D"/>
                          </a:solidFill>
                          <a:latin typeface="Aptos"/>
                          <a:ea typeface="Aptos"/>
                          <a:cs typeface="Aptos"/>
                        </a:rPr>
                        <a:t>coincidence</a:t>
                      </a:r>
                    </a:p>
                  </a:txBody>
                  <a:tcPr marL="91440" marR="91440" marT="45720" marB="45720"/>
                </a:tc>
                <a:tc>
                  <a:txBody>
                    <a:bodyPr/>
                    <a:lstStyle/>
                    <a:p>
                      <a:r>
                        <a:rPr sz="1013">
                          <a:solidFill>
                            <a:srgbClr val="17201D"/>
                          </a:solidFill>
                          <a:latin typeface="Aptos"/>
                          <a:ea typeface="Aptos"/>
                          <a:cs typeface="Aptos"/>
                        </a:rPr>
                        <a:t>95.5%</a:t>
                      </a:r>
                    </a:p>
                  </a:txBody>
                  <a:tcPr marL="91440" marR="91440" marT="45720" marB="45720"/>
                </a:tc>
                <a:tc>
                  <a:txBody>
                    <a:bodyPr/>
                    <a:lstStyle/>
                    <a:p>
                      <a:r>
                        <a:rPr sz="1013">
                          <a:solidFill>
                            <a:srgbClr val="17201D"/>
                          </a:solidFill>
                          <a:latin typeface="Aptos"/>
                          <a:ea typeface="Aptos"/>
                          <a:cs typeface="Aptos"/>
                        </a:rPr>
                        <a:t>0.0%</a:t>
                      </a:r>
                    </a:p>
                  </a:txBody>
                  <a:tcPr marL="91440" marR="91440" marT="45720" marB="45720"/>
                </a:tc>
                <a:tc>
                  <a:txBody>
                    <a:bodyPr/>
                    <a:lstStyle/>
                    <a:p>
                      <a:r>
                        <a:rPr sz="1013">
                          <a:solidFill>
                            <a:srgbClr val="17201D"/>
                          </a:solidFill>
                          <a:latin typeface="Aptos"/>
                          <a:ea typeface="Aptos"/>
                          <a:cs typeface="Aptos"/>
                        </a:rPr>
                        <a:t>0.0%</a:t>
                      </a:r>
                    </a:p>
                  </a:txBody>
                  <a:tcPr marL="91440" marR="91440" marT="45720" marB="45720"/>
                </a:tc>
                <a:tc>
                  <a:txBody>
                    <a:bodyPr/>
                    <a:lstStyle/>
                    <a:p>
                      <a:r>
                        <a:rPr sz="1013">
                          <a:solidFill>
                            <a:srgbClr val="17201D"/>
                          </a:solidFill>
                          <a:latin typeface="Aptos"/>
                          <a:ea typeface="Aptos"/>
                          <a:cs typeface="Aptos"/>
                        </a:rPr>
                        <a:t>1.0%</a:t>
                      </a:r>
                    </a:p>
                  </a:txBody>
                  <a:tcPr marL="91440" marR="91440" marT="45720" marB="45720"/>
                </a:tc>
              </a:tr>
              <a:tr h="446314">
                <a:tc>
                  <a:txBody>
                    <a:bodyPr/>
                    <a:lstStyle/>
                    <a:p>
                      <a:r>
                        <a:rPr sz="1013">
                          <a:solidFill>
                            <a:srgbClr val="17201D"/>
                          </a:solidFill>
                          <a:latin typeface="Aptos"/>
                          <a:ea typeface="Aptos"/>
                          <a:cs typeface="Aptos"/>
                        </a:rPr>
                        <a:t>unexplained</a:t>
                      </a:r>
                    </a:p>
                  </a:txBody>
                  <a:tcPr marL="91440" marR="91440" marT="45720" marB="45720"/>
                </a:tc>
                <a:tc>
                  <a:txBody>
                    <a:bodyPr/>
                    <a:lstStyle/>
                    <a:p>
                      <a:r>
                        <a:rPr sz="1013">
                          <a:solidFill>
                            <a:srgbClr val="17201D"/>
                          </a:solidFill>
                          <a:latin typeface="Aptos"/>
                          <a:ea typeface="Aptos"/>
                          <a:cs typeface="Aptos"/>
                        </a:rPr>
                        <a:t>98.0%</a:t>
                      </a:r>
                    </a:p>
                  </a:txBody>
                  <a:tcPr marL="91440" marR="91440" marT="45720" marB="45720"/>
                </a:tc>
                <a:tc>
                  <a:txBody>
                    <a:bodyPr/>
                    <a:lstStyle/>
                    <a:p>
                      <a:r>
                        <a:rPr sz="1013">
                          <a:solidFill>
                            <a:srgbClr val="17201D"/>
                          </a:solidFill>
                          <a:latin typeface="Aptos"/>
                          <a:ea typeface="Aptos"/>
                          <a:cs typeface="Aptos"/>
                        </a:rPr>
                        <a:t>0.0%</a:t>
                      </a:r>
                    </a:p>
                  </a:txBody>
                  <a:tcPr marL="91440" marR="91440" marT="45720" marB="45720"/>
                </a:tc>
                <a:tc>
                  <a:txBody>
                    <a:bodyPr/>
                    <a:lstStyle/>
                    <a:p>
                      <a:r>
                        <a:rPr sz="1013">
                          <a:solidFill>
                            <a:srgbClr val="17201D"/>
                          </a:solidFill>
                          <a:latin typeface="Aptos"/>
                          <a:ea typeface="Aptos"/>
                          <a:cs typeface="Aptos"/>
                        </a:rPr>
                        <a:t>0.0%</a:t>
                      </a:r>
                    </a:p>
                  </a:txBody>
                  <a:tcPr marL="91440" marR="91440" marT="45720" marB="45720"/>
                </a:tc>
                <a:tc>
                  <a:txBody>
                    <a:bodyPr/>
                    <a:lstStyle/>
                    <a:p>
                      <a:r>
                        <a:rPr sz="1013">
                          <a:solidFill>
                            <a:srgbClr val="17201D"/>
                          </a:solidFill>
                          <a:latin typeface="Aptos"/>
                          <a:ea typeface="Aptos"/>
                          <a:cs typeface="Aptos"/>
                        </a:rPr>
                        <a:t>1.0%</a:t>
                      </a:r>
                    </a:p>
                  </a:txBody>
                  <a:tcPr marL="91440" marR="91440" marT="45720" marB="45720"/>
                </a:tc>
              </a:tr>
              <a:tr h="446314">
                <a:tc>
                  <a:txBody>
                    <a:bodyPr/>
                    <a:lstStyle/>
                    <a:p>
                      <a:r>
                        <a:rPr sz="1013">
                          <a:solidFill>
                            <a:srgbClr val="17201D"/>
                          </a:solidFill>
                          <a:latin typeface="Aptos"/>
                          <a:ea typeface="Aptos"/>
                          <a:cs typeface="Aptos"/>
                        </a:rPr>
                        <a:t>chain</a:t>
                      </a:r>
                    </a:p>
                  </a:txBody>
                  <a:tcPr marL="91440" marR="91440" marT="45720" marB="45720"/>
                </a:tc>
                <a:tc>
                  <a:txBody>
                    <a:bodyPr/>
                    <a:lstStyle/>
                    <a:p>
                      <a:r>
                        <a:rPr sz="1013">
                          <a:solidFill>
                            <a:srgbClr val="17201D"/>
                          </a:solidFill>
                          <a:latin typeface="Aptos"/>
                          <a:ea typeface="Aptos"/>
                          <a:cs typeface="Aptos"/>
                        </a:rPr>
                        <a:t>93.0%</a:t>
                      </a:r>
                    </a:p>
                  </a:txBody>
                  <a:tcPr marL="91440" marR="91440" marT="45720" marB="45720"/>
                </a:tc>
                <a:tc>
                  <a:txBody>
                    <a:bodyPr/>
                    <a:lstStyle/>
                    <a:p>
                      <a:r>
                        <a:rPr sz="1013">
                          <a:solidFill>
                            <a:srgbClr val="17201D"/>
                          </a:solidFill>
                          <a:latin typeface="Aptos"/>
                          <a:ea typeface="Aptos"/>
                          <a:cs typeface="Aptos"/>
                        </a:rPr>
                        <a:t>0.0%</a:t>
                      </a:r>
                    </a:p>
                  </a:txBody>
                  <a:tcPr marL="91440" marR="91440" marT="45720" marB="45720"/>
                </a:tc>
                <a:tc>
                  <a:txBody>
                    <a:bodyPr/>
                    <a:lstStyle/>
                    <a:p>
                      <a:r>
                        <a:rPr sz="1013">
                          <a:solidFill>
                            <a:srgbClr val="17201D"/>
                          </a:solidFill>
                          <a:latin typeface="Aptos"/>
                          <a:ea typeface="Aptos"/>
                          <a:cs typeface="Aptos"/>
                        </a:rPr>
                        <a:t>0.0%</a:t>
                      </a:r>
                    </a:p>
                  </a:txBody>
                  <a:tcPr marL="91440" marR="91440" marT="45720" marB="45720"/>
                </a:tc>
                <a:tc>
                  <a:txBody>
                    <a:bodyPr/>
                    <a:lstStyle/>
                    <a:p>
                      <a:r>
                        <a:rPr sz="1013">
                          <a:solidFill>
                            <a:srgbClr val="17201D"/>
                          </a:solidFill>
                          <a:latin typeface="Aptos"/>
                          <a:ea typeface="Aptos"/>
                          <a:cs typeface="Aptos"/>
                        </a:rPr>
                        <a:t>1.0%</a:t>
                      </a:r>
                    </a:p>
                  </a:txBody>
                  <a:tcPr marL="91440" marR="91440" marT="45720" marB="45720"/>
                </a:tc>
              </a:tr>
              <a:tr h="446314">
                <a:tc>
                  <a:txBody>
                    <a:bodyPr/>
                    <a:lstStyle/>
                    <a:p>
                      <a:r>
                        <a:rPr sz="1013">
                          <a:solidFill>
                            <a:srgbClr val="17201D"/>
                          </a:solidFill>
                          <a:latin typeface="Aptos"/>
                          <a:ea typeface="Aptos"/>
                          <a:cs typeface="Aptos"/>
                        </a:rPr>
                        <a:t>quiet</a:t>
                      </a:r>
                    </a:p>
                  </a:txBody>
                  <a:tcPr marL="91440" marR="91440" marT="45720" marB="45720"/>
                </a:tc>
                <a:tc>
                  <a:txBody>
                    <a:bodyPr/>
                    <a:lstStyle/>
                    <a:p>
                      <a:r>
                        <a:rPr sz="1013">
                          <a:solidFill>
                            <a:srgbClr val="17201D"/>
                          </a:solidFill>
                          <a:latin typeface="Aptos"/>
                          <a:ea typeface="Aptos"/>
                          <a:cs typeface="Aptos"/>
                        </a:rPr>
                        <a:t>99.0%</a:t>
                      </a:r>
                    </a:p>
                  </a:txBody>
                  <a:tcPr marL="91440" marR="91440" marT="45720" marB="45720"/>
                </a:tc>
                <a:tc>
                  <a:txBody>
                    <a:bodyPr/>
                    <a:lstStyle/>
                    <a:p>
                      <a:r>
                        <a:rPr sz="1013">
                          <a:solidFill>
                            <a:srgbClr val="17201D"/>
                          </a:solidFill>
                          <a:latin typeface="Aptos"/>
                          <a:ea typeface="Aptos"/>
                          <a:cs typeface="Aptos"/>
                        </a:rPr>
                        <a:t>0.0%</a:t>
                      </a:r>
                    </a:p>
                  </a:txBody>
                  <a:tcPr marL="91440" marR="91440" marT="45720" marB="45720"/>
                </a:tc>
                <a:tc>
                  <a:txBody>
                    <a:bodyPr/>
                    <a:lstStyle/>
                    <a:p>
                      <a:r>
                        <a:rPr sz="1013">
                          <a:solidFill>
                            <a:srgbClr val="17201D"/>
                          </a:solidFill>
                          <a:latin typeface="Aptos"/>
                          <a:ea typeface="Aptos"/>
                          <a:cs typeface="Aptos"/>
                        </a:rPr>
                        <a:t>0.0%</a:t>
                      </a:r>
                    </a:p>
                  </a:txBody>
                  <a:tcPr marL="91440" marR="91440" marT="45720" marB="45720"/>
                </a:tc>
                <a:tc>
                  <a:txBody>
                    <a:bodyPr/>
                    <a:lstStyle/>
                    <a:p>
                      <a:r>
                        <a:rPr sz="1013">
                          <a:solidFill>
                            <a:srgbClr val="17201D"/>
                          </a:solidFill>
                          <a:latin typeface="Aptos"/>
                          <a:ea typeface="Aptos"/>
                          <a:cs typeface="Aptos"/>
                        </a:rPr>
                        <a:t>1.0%</a:t>
                      </a:r>
                    </a:p>
                  </a:txBody>
                  <a:tcPr marL="91440" marR="91440" marT="45720" marB="45720"/>
                </a:tc>
              </a:tr>
            </a:tbl>
          </a:graphicData>
        </a:graphic>
      </p:graphicFrame>
      <p:sp>
        <p:nvSpPr>
          <p:cNvPr id="5" name="">
            <a:extLst xmlns:a="http://schemas.openxmlformats.org/drawingml/2006/main">
              <a:ext uri="{FF2B5EF4-FFF2-40B4-BE49-F238E27FC236}">
                <a16:creationId xmlns:a16="http://schemas.microsoft.com/office/drawing/2014/main" id="{447F1473-4358-4442-ACB3-4E28CFF728D4}"/>
              </a:ext>
            </a:extLst>
          </p:cNvPr>
          <p:cNvSpPr>
            <a:spLocks xmlns:a="http://schemas.openxmlformats.org/drawingml/2006/main" noGrp="1"/>
          </p:cNvSpPr>
          <p:nvPr/>
        </p:nvSpPr>
        <p:spPr>
          <a:xfrm xmlns:a="http://schemas.openxmlformats.org/drawingml/2006/main">
            <a:off x="8553450" y="1962150"/>
            <a:ext cx="2724150" cy="1409700"/>
          </a:xfrm>
          <a:prstGeom xmlns:a="http://schemas.openxmlformats.org/drawingml/2006/main" prst="roundRect">
            <a:avLst>
              <a:gd name="adj" fmla="val 5405"/>
            </a:avLst>
          </a:prstGeom>
          <a:solidFill xmlns:a="http://schemas.openxmlformats.org/drawingml/2006/main">
            <a:srgbClr val="FFFDF8"/>
          </a:solidFill>
          <a:ln xmlns:a="http://schemas.openxmlformats.org/drawingml/2006/main" w="9525">
            <a:solidFill>
              <a:srgbClr val="C9D0C7"/>
            </a:solidFill>
            <a:prstDash val="solid"/>
          </a:ln>
        </p:spPr>
      </p:sp>
      <p:sp>
        <p:nvSpPr>
          <p:cNvPr id="6" name="">
            <a:extLst xmlns:a="http://schemas.openxmlformats.org/drawingml/2006/main">
              <a:ext uri="{FF2B5EF4-FFF2-40B4-BE49-F238E27FC236}">
                <a16:creationId xmlns:a16="http://schemas.microsoft.com/office/drawing/2014/main" id="{7D0ED24C-EBB4-4D95-9D6F-E9E9659956D3}"/>
              </a:ext>
            </a:extLst>
          </p:cNvPr>
          <p:cNvSpPr>
            <a:spLocks xmlns:a="http://schemas.openxmlformats.org/drawingml/2006/main" noGrp="1"/>
          </p:cNvSpPr>
          <p:nvPr/>
        </p:nvSpPr>
        <p:spPr>
          <a:xfrm xmlns:a="http://schemas.openxmlformats.org/drawingml/2006/main">
            <a:off x="8553450" y="1962150"/>
            <a:ext cx="66675" cy="1409700"/>
          </a:xfrm>
          <a:prstGeom xmlns:a="http://schemas.openxmlformats.org/drawingml/2006/main" prst="rect">
            <a:avLst/>
          </a:prstGeom>
          <a:solidFill xmlns:a="http://schemas.openxmlformats.org/drawingml/2006/main">
            <a:srgbClr val="1F8A5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CA583E2-52AF-4EB0-979F-4AE9FBEA6188}"/>
              </a:ext>
            </a:extLst>
          </p:cNvPr>
          <p:cNvSpPr>
            <a:spLocks xmlns:a="http://schemas.openxmlformats.org/drawingml/2006/main" noGrp="1"/>
          </p:cNvSpPr>
          <p:nvPr/>
        </p:nvSpPr>
        <p:spPr>
          <a:xfrm xmlns:a="http://schemas.openxmlformats.org/drawingml/2006/main">
            <a:off x="8763000" y="2133600"/>
            <a:ext cx="2362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500" b="1">
                <a:solidFill>
                  <a:srgbClr val="17201D"/>
                </a:solidFill>
                <a:latin typeface="Aptos"/>
                <a:ea typeface="Aptos"/>
                <a:cs typeface="Aptos"/>
              </a:defRPr>
            </a:pPr>
            <a:r>
              <a:rPr sz="1500" b="1">
                <a:solidFill>
                  <a:srgbClr val="17201D"/>
                </a:solidFill>
                <a:latin typeface="Aptos"/>
                <a:ea typeface="Aptos"/>
                <a:cs typeface="Aptos"/>
              </a:rPr>
              <a:t>Readout</a:t>
            </a:r>
          </a:p>
        </p:txBody>
      </p:sp>
      <p:sp>
        <p:nvSpPr>
          <p:cNvPr id="8" name="">
            <a:extLst xmlns:a="http://schemas.openxmlformats.org/drawingml/2006/main">
              <a:ext uri="{FF2B5EF4-FFF2-40B4-BE49-F238E27FC236}">
                <a16:creationId xmlns:a16="http://schemas.microsoft.com/office/drawing/2014/main" id="{1751DDA5-E6B5-4ED6-845F-89AD5123E412}"/>
              </a:ext>
            </a:extLst>
          </p:cNvPr>
          <p:cNvSpPr>
            <a:spLocks xmlns:a="http://schemas.openxmlformats.org/drawingml/2006/main" noGrp="1"/>
          </p:cNvSpPr>
          <p:nvPr/>
        </p:nvSpPr>
        <p:spPr>
          <a:xfrm xmlns:a="http://schemas.openxmlformats.org/drawingml/2006/main">
            <a:off x="8763000" y="2495550"/>
            <a:ext cx="23622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2000"/>
              </a:lnSpc>
              <a:buNone/>
              <a:defRPr sz="1275" b="0">
                <a:solidFill>
                  <a:srgbClr val="5F6B64"/>
                </a:solidFill>
                <a:latin typeface="Aptos"/>
                <a:ea typeface="Aptos"/>
                <a:cs typeface="Aptos"/>
              </a:defRPr>
            </a:pPr>
            <a:r>
              <a:rPr sz="1275" b="0">
                <a:solidFill>
                  <a:srgbClr val="5F6B64"/>
                </a:solidFill>
                <a:latin typeface="Aptos"/>
                <a:ea typeface="Aptos"/>
                <a:cs typeface="Aptos"/>
              </a:rPr>
              <a:t>Across 200 seeds per scenario, the narrator missed none of the planted developments and did not overclaim confidence in this run.</a:t>
            </a:r>
          </a:p>
        </p:txBody>
      </p:sp>
      <p:sp>
        <p:nvSpPr>
          <p:cNvPr id="9" name="">
            <a:extLst xmlns:a="http://schemas.openxmlformats.org/drawingml/2006/main">
              <a:ext uri="{FF2B5EF4-FFF2-40B4-BE49-F238E27FC236}">
                <a16:creationId xmlns:a16="http://schemas.microsoft.com/office/drawing/2014/main" id="{86359353-7283-4899-9540-8A3DB4394957}"/>
              </a:ext>
            </a:extLst>
          </p:cNvPr>
          <p:cNvSpPr>
            <a:spLocks xmlns:a="http://schemas.openxmlformats.org/drawingml/2006/main" noGrp="1"/>
          </p:cNvSpPr>
          <p:nvPr/>
        </p:nvSpPr>
        <p:spPr>
          <a:xfrm xmlns:a="http://schemas.openxmlformats.org/drawingml/2006/main">
            <a:off x="8553450" y="3848100"/>
            <a:ext cx="2724150" cy="1409700"/>
          </a:xfrm>
          <a:prstGeom xmlns:a="http://schemas.openxmlformats.org/drawingml/2006/main" prst="roundRect">
            <a:avLst>
              <a:gd name="adj" fmla="val 5405"/>
            </a:avLst>
          </a:prstGeom>
          <a:solidFill xmlns:a="http://schemas.openxmlformats.org/drawingml/2006/main">
            <a:srgbClr val="FFFDF8"/>
          </a:solidFill>
          <a:ln xmlns:a="http://schemas.openxmlformats.org/drawingml/2006/main" w="9525">
            <a:solidFill>
              <a:srgbClr val="C9D0C7"/>
            </a:solidFill>
            <a:prstDash val="solid"/>
          </a:ln>
        </p:spPr>
      </p:sp>
      <p:sp>
        <p:nvSpPr>
          <p:cNvPr id="10" name="">
            <a:extLst xmlns:a="http://schemas.openxmlformats.org/drawingml/2006/main">
              <a:ext uri="{FF2B5EF4-FFF2-40B4-BE49-F238E27FC236}">
                <a16:creationId xmlns:a16="http://schemas.microsoft.com/office/drawing/2014/main" id="{7EB4107A-9681-4908-9B4E-4DA344962283}"/>
              </a:ext>
            </a:extLst>
          </p:cNvPr>
          <p:cNvSpPr>
            <a:spLocks xmlns:a="http://schemas.openxmlformats.org/drawingml/2006/main" noGrp="1"/>
          </p:cNvSpPr>
          <p:nvPr/>
        </p:nvSpPr>
        <p:spPr>
          <a:xfrm xmlns:a="http://schemas.openxmlformats.org/drawingml/2006/main">
            <a:off x="8553450" y="3848100"/>
            <a:ext cx="66675" cy="1409700"/>
          </a:xfrm>
          <a:prstGeom xmlns:a="http://schemas.openxmlformats.org/drawingml/2006/main" prst="rect">
            <a:avLst/>
          </a:prstGeom>
          <a:solidFill xmlns:a="http://schemas.openxmlformats.org/drawingml/2006/main">
            <a:srgbClr val="B96E3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DDE9D79-3CDB-49EF-BE0A-48A2ACE95EF8}"/>
              </a:ext>
            </a:extLst>
          </p:cNvPr>
          <p:cNvSpPr>
            <a:spLocks xmlns:a="http://schemas.openxmlformats.org/drawingml/2006/main" noGrp="1"/>
          </p:cNvSpPr>
          <p:nvPr/>
        </p:nvSpPr>
        <p:spPr>
          <a:xfrm xmlns:a="http://schemas.openxmlformats.org/drawingml/2006/main">
            <a:off x="8763000" y="4019550"/>
            <a:ext cx="2362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500" b="1">
                <a:solidFill>
                  <a:srgbClr val="17201D"/>
                </a:solidFill>
                <a:latin typeface="Aptos"/>
                <a:ea typeface="Aptos"/>
                <a:cs typeface="Aptos"/>
              </a:defRPr>
            </a:pPr>
            <a:r>
              <a:rPr sz="1500" b="1">
                <a:solidFill>
                  <a:srgbClr val="17201D"/>
                </a:solidFill>
                <a:latin typeface="Aptos"/>
                <a:ea typeface="Aptos"/>
                <a:cs typeface="Aptos"/>
              </a:rPr>
              <a:t>Demo value</a:t>
            </a:r>
          </a:p>
        </p:txBody>
      </p:sp>
      <p:sp>
        <p:nvSpPr>
          <p:cNvPr id="12" name="">
            <a:extLst xmlns:a="http://schemas.openxmlformats.org/drawingml/2006/main">
              <a:ext uri="{FF2B5EF4-FFF2-40B4-BE49-F238E27FC236}">
                <a16:creationId xmlns:a16="http://schemas.microsoft.com/office/drawing/2014/main" id="{49477EE4-85D9-4D68-8016-AF4642EBB182}"/>
              </a:ext>
            </a:extLst>
          </p:cNvPr>
          <p:cNvSpPr>
            <a:spLocks xmlns:a="http://schemas.openxmlformats.org/drawingml/2006/main" noGrp="1"/>
          </p:cNvSpPr>
          <p:nvPr/>
        </p:nvSpPr>
        <p:spPr>
          <a:xfrm xmlns:a="http://schemas.openxmlformats.org/drawingml/2006/main">
            <a:off x="8763000" y="4381500"/>
            <a:ext cx="23622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2000"/>
              </a:lnSpc>
              <a:buNone/>
              <a:defRPr sz="1275" b="0">
                <a:solidFill>
                  <a:srgbClr val="5F6B64"/>
                </a:solidFill>
                <a:latin typeface="Aptos"/>
                <a:ea typeface="Aptos"/>
                <a:cs typeface="Aptos"/>
              </a:defRPr>
            </a:pPr>
            <a:r>
              <a:rPr sz="1275" b="0">
                <a:solidFill>
                  <a:srgbClr val="5F6B64"/>
                </a:solidFill>
                <a:latin typeface="Aptos"/>
                <a:ea typeface="Aptos"/>
                <a:cs typeface="Aptos"/>
              </a:rPr>
              <a:t>This gives Woodgrove a concrete validation path: plant-facing explanations should be tested against known scenarios before operators rely on them.</a:t>
            </a:r>
          </a:p>
        </p:txBody>
      </p:sp>
      <p:sp>
        <p:nvSpPr>
          <p:cNvPr id="13" name="">
            <a:extLst xmlns:a="http://schemas.openxmlformats.org/drawingml/2006/main">
              <a:ext uri="{FF2B5EF4-FFF2-40B4-BE49-F238E27FC236}">
                <a16:creationId xmlns:a16="http://schemas.microsoft.com/office/drawing/2014/main" id="{8F80C559-DE81-48AD-BD8D-E38740555B75}"/>
              </a:ext>
            </a:extLst>
          </p:cNvPr>
          <p:cNvSpPr>
            <a:spLocks xmlns:a="http://schemas.openxmlformats.org/drawingml/2006/main" noGrp="1"/>
          </p:cNvSpPr>
          <p:nvPr/>
        </p:nvSpPr>
        <p:spPr>
          <a:xfrm xmlns:a="http://schemas.openxmlformats.org/drawingml/2006/main">
            <a:off x="609600" y="649605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7A827C"/>
                </a:solidFill>
                <a:latin typeface="Aptos"/>
                <a:ea typeface="Aptos"/>
                <a:cs typeface="Aptos"/>
              </a:defRPr>
            </a:pPr>
            <a:r>
              <a:rPr sz="900" b="0">
                <a:solidFill>
                  <a:srgbClr val="7A827C"/>
                </a:solidFill>
                <a:latin typeface="Aptos"/>
                <a:ea typeface="Aptos"/>
                <a:cs typeface="Aptos"/>
              </a:rPr>
              <a:t>Motherlode technical background for Woodgrove</a:t>
            </a:r>
          </a:p>
        </p:txBody>
      </p:sp>
      <p:sp>
        <p:nvSpPr>
          <p:cNvPr id="14" name="">
            <a:extLst xmlns:a="http://schemas.openxmlformats.org/drawingml/2006/main">
              <a:ext uri="{FF2B5EF4-FFF2-40B4-BE49-F238E27FC236}">
                <a16:creationId xmlns:a16="http://schemas.microsoft.com/office/drawing/2014/main" id="{8781E749-457D-4CAC-800F-0CF7D6877A6C}"/>
              </a:ext>
            </a:extLst>
          </p:cNvPr>
          <p:cNvSpPr>
            <a:spLocks xmlns:a="http://schemas.openxmlformats.org/drawingml/2006/main" noGrp="1"/>
          </p:cNvSpPr>
          <p:nvPr/>
        </p:nvSpPr>
        <p:spPr>
          <a:xfrm xmlns:a="http://schemas.openxmlformats.org/drawingml/2006/main">
            <a:off x="11201400" y="64960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lnSpc>
                <a:spcPct val="108000"/>
              </a:lnSpc>
              <a:buNone/>
              <a:defRPr sz="900" b="0">
                <a:solidFill>
                  <a:srgbClr val="7A827C"/>
                </a:solidFill>
                <a:latin typeface="Aptos"/>
                <a:ea typeface="Aptos"/>
                <a:cs typeface="Aptos"/>
              </a:defRPr>
            </a:pPr>
            <a:r>
              <a:rPr sz="900" b="0">
                <a:solidFill>
                  <a:srgbClr val="7A827C"/>
                </a:solidFill>
                <a:latin typeface="Aptos"/>
                <a:ea typeface="Aptos"/>
                <a:cs typeface="Aptos"/>
              </a:rPr>
              <a:t>09</a:t>
            </a:r>
          </a:p>
        </p:txBody>
      </p:sp>
    </p:spTree>
    <p:extLst>
      <p:ext uri="{BB962C8B-B14F-4D97-AF65-F5344CB8AC3E}">
        <p14:creationId xmlns:p14="http://schemas.microsoft.com/office/powerpoint/2010/main" val="1152211564"/>
      </p:ext>
    </p:extLst>
  </p:cSld>
</p:sld>
</file>

<file path=ppt/slides/slide10.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A8F70960-FCAF-4BB4-BB1E-620AE6675B5A}"/>
              </a:ext>
            </a:extLst>
          </p:cNvPr>
          <p:cNvSpPr>
            <a:spLocks xmlns:a="http://schemas.openxmlformats.org/drawingml/2006/main" noGrp="1"/>
          </p:cNvSpPr>
          <p:nvPr/>
        </p:nvSpPr>
        <p:spPr>
          <a:xfrm xmlns:a="http://schemas.openxmlformats.org/drawingml/2006/main">
            <a:off x="609600" y="476250"/>
            <a:ext cx="723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550" b="1">
                <a:solidFill>
                  <a:srgbClr val="17201D"/>
                </a:solidFill>
                <a:latin typeface="Aptos"/>
                <a:ea typeface="Aptos"/>
                <a:cs typeface="Aptos"/>
              </a:defRPr>
            </a:pPr>
            <a:r>
              <a:rPr sz="2550" b="1">
                <a:solidFill>
                  <a:srgbClr val="17201D"/>
                </a:solidFill>
                <a:latin typeface="Aptos"/>
                <a:ea typeface="Aptos"/>
                <a:cs typeface="Aptos"/>
              </a:rPr>
              <a:t>Live integration</a:t>
            </a:r>
          </a:p>
        </p:txBody>
      </p:sp>
      <p:sp>
        <p:nvSpPr>
          <p:cNvPr id="2" name="">
            <a:extLst xmlns:a="http://schemas.openxmlformats.org/drawingml/2006/main">
              <a:ext uri="{FF2B5EF4-FFF2-40B4-BE49-F238E27FC236}">
                <a16:creationId xmlns:a16="http://schemas.microsoft.com/office/drawing/2014/main" id="{2836BD25-ECB8-42D5-83FC-6EE508BB343C}"/>
              </a:ext>
            </a:extLst>
          </p:cNvPr>
          <p:cNvSpPr>
            <a:spLocks xmlns:a="http://schemas.openxmlformats.org/drawingml/2006/main" noGrp="1"/>
          </p:cNvSpPr>
          <p:nvPr/>
        </p:nvSpPr>
        <p:spPr>
          <a:xfrm xmlns:a="http://schemas.openxmlformats.org/drawingml/2006/main">
            <a:off x="609600" y="942975"/>
            <a:ext cx="885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350" b="0">
                <a:solidFill>
                  <a:srgbClr val="5F6B64"/>
                </a:solidFill>
                <a:latin typeface="Aptos"/>
                <a:ea typeface="Aptos"/>
                <a:cs typeface="Aptos"/>
              </a:defRPr>
            </a:pPr>
            <a:r>
              <a:rPr sz="1350" b="0">
                <a:solidFill>
                  <a:srgbClr val="5F6B64"/>
                </a:solidFill>
                <a:latin typeface="Aptos"/>
                <a:ea typeface="Aptos"/>
                <a:cs typeface="Aptos"/>
              </a:rPr>
              <a:t>The narrator sits inside the existing shift loop and sends cards to the web console.</a:t>
            </a:r>
          </a:p>
        </p:txBody>
      </p:sp>
      <p:sp>
        <p:nvSpPr>
          <p:cNvPr id="3" name="">
            <a:extLst xmlns:a="http://schemas.openxmlformats.org/drawingml/2006/main">
              <a:ext uri="{FF2B5EF4-FFF2-40B4-BE49-F238E27FC236}">
                <a16:creationId xmlns:a16="http://schemas.microsoft.com/office/drawing/2014/main" id="{1BAD4B74-407D-4E52-9BC6-82A103FB7021}"/>
              </a:ext>
            </a:extLst>
          </p:cNvPr>
          <p:cNvSpPr>
            <a:spLocks xmlns:a="http://schemas.openxmlformats.org/drawingml/2006/main" noGrp="1"/>
          </p:cNvSpPr>
          <p:nvPr/>
        </p:nvSpPr>
        <p:spPr>
          <a:xfrm xmlns:a="http://schemas.openxmlformats.org/drawingml/2006/main">
            <a:off x="609600" y="1352550"/>
            <a:ext cx="1524000" cy="0"/>
          </a:xfrm>
          <a:prstGeom xmlns:a="http://schemas.openxmlformats.org/drawingml/2006/main" prst="line">
            <a:avLst/>
          </a:prstGeom>
          <a:ln xmlns:a="http://schemas.openxmlformats.org/drawingml/2006/main" w="38100">
            <a:solidFill>
              <a:srgbClr val="1F8A5B"/>
            </a:solidFill>
            <a:prstDash val="solid"/>
          </a:ln>
        </p:spPr>
      </p:sp>
      <p:sp>
        <p:nvSpPr>
          <p:cNvPr id="4" name="">
            <a:extLst xmlns:a="http://schemas.openxmlformats.org/drawingml/2006/main">
              <a:ext uri="{FF2B5EF4-FFF2-40B4-BE49-F238E27FC236}">
                <a16:creationId xmlns:a16="http://schemas.microsoft.com/office/drawing/2014/main" id="{93ECDD1B-0FBA-4E26-B712-9F803C72BF82}"/>
              </a:ext>
            </a:extLst>
          </p:cNvPr>
          <p:cNvSpPr>
            <a:spLocks xmlns:a="http://schemas.openxmlformats.org/drawingml/2006/main" noGrp="1"/>
          </p:cNvSpPr>
          <p:nvPr/>
        </p:nvSpPr>
        <p:spPr>
          <a:xfrm xmlns:a="http://schemas.openxmlformats.org/drawingml/2006/main">
            <a:off x="685800" y="2076450"/>
            <a:ext cx="2038350" cy="120015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C9D0C7"/>
            </a:solidFill>
            <a:prstDash val="solid"/>
          </a:ln>
        </p:spPr>
      </p:sp>
      <p:sp>
        <p:nvSpPr>
          <p:cNvPr id="5" name="">
            <a:extLst xmlns:a="http://schemas.openxmlformats.org/drawingml/2006/main">
              <a:ext uri="{FF2B5EF4-FFF2-40B4-BE49-F238E27FC236}">
                <a16:creationId xmlns:a16="http://schemas.microsoft.com/office/drawing/2014/main" id="{EC56753C-E878-49D9-A890-F2B1CBF840F3}"/>
              </a:ext>
            </a:extLst>
          </p:cNvPr>
          <p:cNvSpPr>
            <a:spLocks xmlns:a="http://schemas.openxmlformats.org/drawingml/2006/main" noGrp="1"/>
          </p:cNvSpPr>
          <p:nvPr/>
        </p:nvSpPr>
        <p:spPr>
          <a:xfrm xmlns:a="http://schemas.openxmlformats.org/drawingml/2006/main">
            <a:off x="838200" y="2209800"/>
            <a:ext cx="1733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17201D"/>
                </a:solidFill>
                <a:latin typeface="Aptos"/>
                <a:ea typeface="Aptos"/>
                <a:cs typeface="Aptos"/>
              </a:defRPr>
            </a:pPr>
            <a:r>
              <a:rPr sz="1275" b="1">
                <a:solidFill>
                  <a:srgbClr val="17201D"/>
                </a:solidFill>
                <a:latin typeface="Aptos"/>
                <a:ea typeface="Aptos"/>
                <a:cs typeface="Aptos"/>
              </a:rPr>
              <a:t>Lane 2 brains</a:t>
            </a:r>
          </a:p>
        </p:txBody>
      </p:sp>
      <p:sp>
        <p:nvSpPr>
          <p:cNvPr id="6" name="">
            <a:extLst xmlns:a="http://schemas.openxmlformats.org/drawingml/2006/main">
              <a:ext uri="{FF2B5EF4-FFF2-40B4-BE49-F238E27FC236}">
                <a16:creationId xmlns:a16="http://schemas.microsoft.com/office/drawing/2014/main" id="{34207E55-C55E-4EDF-8513-ECEA965C2215}"/>
              </a:ext>
            </a:extLst>
          </p:cNvPr>
          <p:cNvSpPr>
            <a:spLocks xmlns:a="http://schemas.openxmlformats.org/drawingml/2006/main" noGrp="1"/>
          </p:cNvSpPr>
          <p:nvPr/>
        </p:nvSpPr>
        <p:spPr>
          <a:xfrm xmlns:a="http://schemas.openxmlformats.org/drawingml/2006/main">
            <a:off x="838200" y="2495550"/>
            <a:ext cx="17335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5000"/>
              </a:lnSpc>
              <a:buNone/>
              <a:defRPr sz="1088" b="0">
                <a:solidFill>
                  <a:srgbClr val="5F6B64"/>
                </a:solidFill>
                <a:latin typeface="Aptos"/>
                <a:ea typeface="Aptos"/>
                <a:cs typeface="Aptos"/>
              </a:defRPr>
            </a:pPr>
            <a:r>
              <a:rPr sz="1088" b="0">
                <a:solidFill>
                  <a:srgbClr val="5F6B64"/>
                </a:solidFill>
                <a:latin typeface="Aptos"/>
                <a:ea typeface="Aptos"/>
                <a:cs typeface="Aptos"/>
              </a:rPr>
              <a:t>fuzzy and optional Gemini miners produce intents</a:t>
            </a:r>
          </a:p>
        </p:txBody>
      </p:sp>
      <p:sp>
        <p:nvSpPr>
          <p:cNvPr id="7" name="">
            <a:extLst xmlns:a="http://schemas.openxmlformats.org/drawingml/2006/main">
              <a:ext uri="{FF2B5EF4-FFF2-40B4-BE49-F238E27FC236}">
                <a16:creationId xmlns:a16="http://schemas.microsoft.com/office/drawing/2014/main" id="{DA2426EC-1E8C-48DF-9B3B-794F08DD199F}"/>
              </a:ext>
            </a:extLst>
          </p:cNvPr>
          <p:cNvSpPr>
            <a:spLocks xmlns:a="http://schemas.openxmlformats.org/drawingml/2006/main" noGrp="1"/>
          </p:cNvSpPr>
          <p:nvPr/>
        </p:nvSpPr>
        <p:spPr>
          <a:xfrm xmlns:a="http://schemas.openxmlformats.org/drawingml/2006/main">
            <a:off x="3429000" y="2076450"/>
            <a:ext cx="2038350" cy="120015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C9D0C7"/>
            </a:solidFill>
            <a:prstDash val="solid"/>
          </a:ln>
        </p:spPr>
      </p:sp>
      <p:sp>
        <p:nvSpPr>
          <p:cNvPr id="8" name="">
            <a:extLst xmlns:a="http://schemas.openxmlformats.org/drawingml/2006/main">
              <a:ext uri="{FF2B5EF4-FFF2-40B4-BE49-F238E27FC236}">
                <a16:creationId xmlns:a16="http://schemas.microsoft.com/office/drawing/2014/main" id="{B6DFBB10-DB44-4C1E-A3B6-D3FEEA12310F}"/>
              </a:ext>
            </a:extLst>
          </p:cNvPr>
          <p:cNvSpPr>
            <a:spLocks xmlns:a="http://schemas.openxmlformats.org/drawingml/2006/main" noGrp="1"/>
          </p:cNvSpPr>
          <p:nvPr/>
        </p:nvSpPr>
        <p:spPr>
          <a:xfrm xmlns:a="http://schemas.openxmlformats.org/drawingml/2006/main">
            <a:off x="3581400" y="2209800"/>
            <a:ext cx="1733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17201D"/>
                </a:solidFill>
                <a:latin typeface="Aptos"/>
                <a:ea typeface="Aptos"/>
                <a:cs typeface="Aptos"/>
              </a:defRPr>
            </a:pPr>
            <a:r>
              <a:rPr sz="1275" b="1">
                <a:solidFill>
                  <a:srgbClr val="17201D"/>
                </a:solidFill>
                <a:latin typeface="Aptos"/>
                <a:ea typeface="Aptos"/>
                <a:cs typeface="Aptos"/>
              </a:rPr>
              <a:t>Lane 1 sim</a:t>
            </a:r>
          </a:p>
        </p:txBody>
      </p:sp>
      <p:sp>
        <p:nvSpPr>
          <p:cNvPr id="9" name="">
            <a:extLst xmlns:a="http://schemas.openxmlformats.org/drawingml/2006/main">
              <a:ext uri="{FF2B5EF4-FFF2-40B4-BE49-F238E27FC236}">
                <a16:creationId xmlns:a16="http://schemas.microsoft.com/office/drawing/2014/main" id="{3BE7C090-D6A3-4055-A87A-382C491227BC}"/>
              </a:ext>
            </a:extLst>
          </p:cNvPr>
          <p:cNvSpPr>
            <a:spLocks xmlns:a="http://schemas.openxmlformats.org/drawingml/2006/main" noGrp="1"/>
          </p:cNvSpPr>
          <p:nvPr/>
        </p:nvSpPr>
        <p:spPr>
          <a:xfrm xmlns:a="http://schemas.openxmlformats.org/drawingml/2006/main">
            <a:off x="3581400" y="2495550"/>
            <a:ext cx="17335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5000"/>
              </a:lnSpc>
              <a:buNone/>
              <a:defRPr sz="1088" b="0">
                <a:solidFill>
                  <a:srgbClr val="5F6B64"/>
                </a:solidFill>
                <a:latin typeface="Aptos"/>
                <a:ea typeface="Aptos"/>
                <a:cs typeface="Aptos"/>
              </a:defRPr>
            </a:pPr>
            <a:r>
              <a:rPr sz="1088" b="0">
                <a:solidFill>
                  <a:srgbClr val="5F6B64"/>
                </a:solidFill>
                <a:latin typeface="Aptos"/>
                <a:ea typeface="Aptos"/>
                <a:cs typeface="Aptos"/>
              </a:rPr>
              <a:t>world step resolves production, market, bank and events</a:t>
            </a:r>
          </a:p>
        </p:txBody>
      </p:sp>
      <p:sp>
        <p:nvSpPr>
          <p:cNvPr id="10" name="">
            <a:extLst xmlns:a="http://schemas.openxmlformats.org/drawingml/2006/main">
              <a:ext uri="{FF2B5EF4-FFF2-40B4-BE49-F238E27FC236}">
                <a16:creationId xmlns:a16="http://schemas.microsoft.com/office/drawing/2014/main" id="{F71911EC-C29A-4FE5-B147-BBE6D48D5F2A}"/>
              </a:ext>
            </a:extLst>
          </p:cNvPr>
          <p:cNvSpPr>
            <a:spLocks xmlns:a="http://schemas.openxmlformats.org/drawingml/2006/main" noGrp="1"/>
          </p:cNvSpPr>
          <p:nvPr/>
        </p:nvSpPr>
        <p:spPr>
          <a:xfrm xmlns:a="http://schemas.openxmlformats.org/drawingml/2006/main">
            <a:off x="6172200" y="2076450"/>
            <a:ext cx="2038350" cy="1200150"/>
          </a:xfrm>
          <a:prstGeom xmlns:a="http://schemas.openxmlformats.org/drawingml/2006/main" prst="roundRect">
            <a:avLst>
              <a:gd name="adj" fmla="val 6349"/>
            </a:avLst>
          </a:prstGeom>
          <a:solidFill xmlns:a="http://schemas.openxmlformats.org/drawingml/2006/main">
            <a:srgbClr val="DDEFE6"/>
          </a:solidFill>
          <a:ln xmlns:a="http://schemas.openxmlformats.org/drawingml/2006/main" w="9525">
            <a:solidFill>
              <a:srgbClr val="C9D0C7"/>
            </a:solidFill>
            <a:prstDash val="solid"/>
          </a:ln>
        </p:spPr>
      </p:sp>
      <p:sp>
        <p:nvSpPr>
          <p:cNvPr id="11" name="">
            <a:extLst xmlns:a="http://schemas.openxmlformats.org/drawingml/2006/main">
              <a:ext uri="{FF2B5EF4-FFF2-40B4-BE49-F238E27FC236}">
                <a16:creationId xmlns:a16="http://schemas.microsoft.com/office/drawing/2014/main" id="{268C3A69-AFBE-41FC-80CB-2A56D1999785}"/>
              </a:ext>
            </a:extLst>
          </p:cNvPr>
          <p:cNvSpPr>
            <a:spLocks xmlns:a="http://schemas.openxmlformats.org/drawingml/2006/main" noGrp="1"/>
          </p:cNvSpPr>
          <p:nvPr/>
        </p:nvSpPr>
        <p:spPr>
          <a:xfrm xmlns:a="http://schemas.openxmlformats.org/drawingml/2006/main">
            <a:off x="6324600" y="2209800"/>
            <a:ext cx="1733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17201D"/>
                </a:solidFill>
                <a:latin typeface="Aptos"/>
                <a:ea typeface="Aptos"/>
                <a:cs typeface="Aptos"/>
              </a:defRPr>
            </a:pPr>
            <a:r>
              <a:rPr sz="1275" b="1">
                <a:solidFill>
                  <a:srgbClr val="17201D"/>
                </a:solidFill>
                <a:latin typeface="Aptos"/>
                <a:ea typeface="Aptos"/>
                <a:cs typeface="Aptos"/>
              </a:rPr>
              <a:t>Lane 3 narrator</a:t>
            </a:r>
          </a:p>
        </p:txBody>
      </p:sp>
      <p:sp>
        <p:nvSpPr>
          <p:cNvPr id="12" name="">
            <a:extLst xmlns:a="http://schemas.openxmlformats.org/drawingml/2006/main">
              <a:ext uri="{FF2B5EF4-FFF2-40B4-BE49-F238E27FC236}">
                <a16:creationId xmlns:a16="http://schemas.microsoft.com/office/drawing/2014/main" id="{C6DD1CD0-4F4D-4773-AFCC-292763AE361F}"/>
              </a:ext>
            </a:extLst>
          </p:cNvPr>
          <p:cNvSpPr>
            <a:spLocks xmlns:a="http://schemas.openxmlformats.org/drawingml/2006/main" noGrp="1"/>
          </p:cNvSpPr>
          <p:nvPr/>
        </p:nvSpPr>
        <p:spPr>
          <a:xfrm xmlns:a="http://schemas.openxmlformats.org/drawingml/2006/main">
            <a:off x="6324600" y="2495550"/>
            <a:ext cx="17335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5000"/>
              </a:lnSpc>
              <a:buNone/>
              <a:defRPr sz="1088" b="0">
                <a:solidFill>
                  <a:srgbClr val="5F6B64"/>
                </a:solidFill>
                <a:latin typeface="Aptos"/>
                <a:ea typeface="Aptos"/>
                <a:cs typeface="Aptos"/>
              </a:defRPr>
            </a:pPr>
            <a:r>
              <a:rPr sz="1088" b="0">
                <a:solidFill>
                  <a:srgbClr val="5F6B64"/>
                </a:solidFill>
                <a:latin typeface="Aptos"/>
                <a:ea typeface="Aptos"/>
                <a:cs typeface="Aptos"/>
              </a:rPr>
              <a:t>ShiftRecord becomes evidence-backed cards</a:t>
            </a:r>
          </a:p>
        </p:txBody>
      </p:sp>
      <p:sp>
        <p:nvSpPr>
          <p:cNvPr id="13" name="">
            <a:extLst xmlns:a="http://schemas.openxmlformats.org/drawingml/2006/main">
              <a:ext uri="{FF2B5EF4-FFF2-40B4-BE49-F238E27FC236}">
                <a16:creationId xmlns:a16="http://schemas.microsoft.com/office/drawing/2014/main" id="{D00431D0-82B3-4D76-9DAC-FA46E0207F34}"/>
              </a:ext>
            </a:extLst>
          </p:cNvPr>
          <p:cNvSpPr>
            <a:spLocks xmlns:a="http://schemas.openxmlformats.org/drawingml/2006/main" noGrp="1"/>
          </p:cNvSpPr>
          <p:nvPr/>
        </p:nvSpPr>
        <p:spPr>
          <a:xfrm xmlns:a="http://schemas.openxmlformats.org/drawingml/2006/main">
            <a:off x="8915400" y="2076450"/>
            <a:ext cx="2038350" cy="120015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C9D0C7"/>
            </a:solidFill>
            <a:prstDash val="solid"/>
          </a:ln>
        </p:spPr>
      </p:sp>
      <p:sp>
        <p:nvSpPr>
          <p:cNvPr id="14" name="">
            <a:extLst xmlns:a="http://schemas.openxmlformats.org/drawingml/2006/main">
              <a:ext uri="{FF2B5EF4-FFF2-40B4-BE49-F238E27FC236}">
                <a16:creationId xmlns:a16="http://schemas.microsoft.com/office/drawing/2014/main" id="{DA8C2DEF-5175-490C-B557-34C299E28478}"/>
              </a:ext>
            </a:extLst>
          </p:cNvPr>
          <p:cNvSpPr>
            <a:spLocks xmlns:a="http://schemas.openxmlformats.org/drawingml/2006/main" noGrp="1"/>
          </p:cNvSpPr>
          <p:nvPr/>
        </p:nvSpPr>
        <p:spPr>
          <a:xfrm xmlns:a="http://schemas.openxmlformats.org/drawingml/2006/main">
            <a:off x="9067800" y="2209800"/>
            <a:ext cx="1733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17201D"/>
                </a:solidFill>
                <a:latin typeface="Aptos"/>
                <a:ea typeface="Aptos"/>
                <a:cs typeface="Aptos"/>
              </a:defRPr>
            </a:pPr>
            <a:r>
              <a:rPr sz="1275" b="1">
                <a:solidFill>
                  <a:srgbClr val="17201D"/>
                </a:solidFill>
                <a:latin typeface="Aptos"/>
                <a:ea typeface="Aptos"/>
                <a:cs typeface="Aptos"/>
              </a:rPr>
              <a:t>Lane 4 web</a:t>
            </a:r>
          </a:p>
        </p:txBody>
      </p:sp>
      <p:sp>
        <p:nvSpPr>
          <p:cNvPr id="15" name="">
            <a:extLst xmlns:a="http://schemas.openxmlformats.org/drawingml/2006/main">
              <a:ext uri="{FF2B5EF4-FFF2-40B4-BE49-F238E27FC236}">
                <a16:creationId xmlns:a16="http://schemas.microsoft.com/office/drawing/2014/main" id="{7EC88803-89D0-4A8B-82BF-89082916F1CF}"/>
              </a:ext>
            </a:extLst>
          </p:cNvPr>
          <p:cNvSpPr>
            <a:spLocks xmlns:a="http://schemas.openxmlformats.org/drawingml/2006/main" noGrp="1"/>
          </p:cNvSpPr>
          <p:nvPr/>
        </p:nvSpPr>
        <p:spPr>
          <a:xfrm xmlns:a="http://schemas.openxmlformats.org/drawingml/2006/main">
            <a:off x="9067800" y="2495550"/>
            <a:ext cx="17335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5000"/>
              </a:lnSpc>
              <a:buNone/>
              <a:defRPr sz="1088" b="0">
                <a:solidFill>
                  <a:srgbClr val="5F6B64"/>
                </a:solidFill>
                <a:latin typeface="Aptos"/>
                <a:ea typeface="Aptos"/>
                <a:cs typeface="Aptos"/>
              </a:defRPr>
            </a:pPr>
            <a:r>
              <a:rPr sz="1088" b="0">
                <a:solidFill>
                  <a:srgbClr val="5F6B64"/>
                </a:solidFill>
                <a:latin typeface="Aptos"/>
                <a:ea typeface="Aptos"/>
                <a:cs typeface="Aptos"/>
              </a:rPr>
              <a:t>3D valley, console dock and narrator panel</a:t>
            </a:r>
          </a:p>
        </p:txBody>
      </p:sp>
      <p:cxnSp>
        <p:nvCxnSpPr>
          <p:cNvPr id="44" name=""/>
          <p:cNvCxnSpPr>
            <a:stCxn xmlns:a="http://schemas.openxmlformats.org/drawingml/2006/main" id="4" idx="3"/>
            <a:endCxn xmlns:a="http://schemas.openxmlformats.org/drawingml/2006/main" id="7" idx="1"/>
          </p:cNvCxnSpPr>
          <p:nvPr/>
        </p:nvCxnSpPr>
        <p:spPr>
          <a:xfrm xmlns:a="http://schemas.openxmlformats.org/drawingml/2006/main">
            <a:off x="2724150" y="2676525"/>
            <a:ext cx="704850" cy="0"/>
          </a:xfrm>
          <a:prstGeom xmlns:a="http://schemas.openxmlformats.org/drawingml/2006/main" prst="straightConnector1">
            <a:avLst/>
          </a:prstGeom>
          <a:ln xmlns:a="http://schemas.openxmlformats.org/drawingml/2006/main" w="19050">
            <a:solidFill>
              <a:srgbClr val="315D7C"/>
            </a:solidFill>
            <a:prstDash val="solid"/>
            <a:headEnd type="triangle" w="sm" len="sm"/>
          </a:ln>
        </p:spPr>
      </p:cxnSp>
      <p:cxnSp>
        <p:nvCxnSpPr>
          <p:cNvPr id="45" name=""/>
          <p:cNvCxnSpPr>
            <a:stCxn xmlns:a="http://schemas.openxmlformats.org/drawingml/2006/main" id="7" idx="3"/>
            <a:endCxn xmlns:a="http://schemas.openxmlformats.org/drawingml/2006/main" id="10" idx="1"/>
          </p:cNvCxnSpPr>
          <p:nvPr/>
        </p:nvCxnSpPr>
        <p:spPr>
          <a:xfrm xmlns:a="http://schemas.openxmlformats.org/drawingml/2006/main">
            <a:off x="5467350" y="2676525"/>
            <a:ext cx="704850" cy="0"/>
          </a:xfrm>
          <a:prstGeom xmlns:a="http://schemas.openxmlformats.org/drawingml/2006/main" prst="straightConnector1">
            <a:avLst/>
          </a:prstGeom>
          <a:ln xmlns:a="http://schemas.openxmlformats.org/drawingml/2006/main" w="19050">
            <a:solidFill>
              <a:srgbClr val="1F8A5B"/>
            </a:solidFill>
            <a:prstDash val="solid"/>
            <a:headEnd type="triangle" w="sm" len="sm"/>
          </a:ln>
        </p:spPr>
      </p:cxnSp>
      <p:cxnSp>
        <p:nvCxnSpPr>
          <p:cNvPr id="46" name=""/>
          <p:cNvCxnSpPr>
            <a:stCxn xmlns:a="http://schemas.openxmlformats.org/drawingml/2006/main" id="10" idx="3"/>
            <a:endCxn xmlns:a="http://schemas.openxmlformats.org/drawingml/2006/main" id="13" idx="1"/>
          </p:cNvCxnSpPr>
          <p:nvPr/>
        </p:nvCxnSpPr>
        <p:spPr>
          <a:xfrm xmlns:a="http://schemas.openxmlformats.org/drawingml/2006/main">
            <a:off x="8210550" y="2676525"/>
            <a:ext cx="704850" cy="0"/>
          </a:xfrm>
          <a:prstGeom xmlns:a="http://schemas.openxmlformats.org/drawingml/2006/main" prst="straightConnector1">
            <a:avLst/>
          </a:prstGeom>
          <a:ln xmlns:a="http://schemas.openxmlformats.org/drawingml/2006/main" w="19050">
            <a:solidFill>
              <a:srgbClr val="B96E3A"/>
            </a:solidFill>
            <a:prstDash val="solid"/>
            <a:headEnd type="triangle" w="sm" len="sm"/>
          </a:ln>
        </p:spPr>
      </p:cxnSp>
      <p:sp>
        <p:nvSpPr>
          <p:cNvPr id="19" name="">
            <a:extLst xmlns:a="http://schemas.openxmlformats.org/drawingml/2006/main">
              <a:ext uri="{FF2B5EF4-FFF2-40B4-BE49-F238E27FC236}">
                <a16:creationId xmlns:a16="http://schemas.microsoft.com/office/drawing/2014/main" id="{C5F452EB-E6DD-498C-A8BC-3F7708A9D912}"/>
              </a:ext>
            </a:extLst>
          </p:cNvPr>
          <p:cNvSpPr>
            <a:spLocks xmlns:a="http://schemas.openxmlformats.org/drawingml/2006/main" noGrp="1"/>
          </p:cNvSpPr>
          <p:nvPr/>
        </p:nvSpPr>
        <p:spPr>
          <a:xfrm xmlns:a="http://schemas.openxmlformats.org/drawingml/2006/main">
            <a:off x="1238250" y="4171950"/>
            <a:ext cx="4476750" cy="1352550"/>
          </a:xfrm>
          <a:prstGeom xmlns:a="http://schemas.openxmlformats.org/drawingml/2006/main" prst="roundRect">
            <a:avLst>
              <a:gd name="adj" fmla="val 5634"/>
            </a:avLst>
          </a:prstGeom>
          <a:solidFill xmlns:a="http://schemas.openxmlformats.org/drawingml/2006/main">
            <a:srgbClr val="FFFDF8"/>
          </a:solidFill>
          <a:ln xmlns:a="http://schemas.openxmlformats.org/drawingml/2006/main" w="9525">
            <a:solidFill>
              <a:srgbClr val="C9D0C7"/>
            </a:solidFill>
            <a:prstDash val="solid"/>
          </a:ln>
        </p:spPr>
      </p:sp>
      <p:sp>
        <p:nvSpPr>
          <p:cNvPr id="20" name="">
            <a:extLst xmlns:a="http://schemas.openxmlformats.org/drawingml/2006/main">
              <a:ext uri="{FF2B5EF4-FFF2-40B4-BE49-F238E27FC236}">
                <a16:creationId xmlns:a16="http://schemas.microsoft.com/office/drawing/2014/main" id="{8635718B-3A51-4FD4-97E5-8929EB12314E}"/>
              </a:ext>
            </a:extLst>
          </p:cNvPr>
          <p:cNvSpPr>
            <a:spLocks xmlns:a="http://schemas.openxmlformats.org/drawingml/2006/main" noGrp="1"/>
          </p:cNvSpPr>
          <p:nvPr/>
        </p:nvSpPr>
        <p:spPr>
          <a:xfrm xmlns:a="http://schemas.openxmlformats.org/drawingml/2006/main">
            <a:off x="1238250" y="4171950"/>
            <a:ext cx="66675" cy="1352550"/>
          </a:xfrm>
          <a:prstGeom xmlns:a="http://schemas.openxmlformats.org/drawingml/2006/main" prst="rect">
            <a:avLst/>
          </a:prstGeom>
          <a:solidFill xmlns:a="http://schemas.openxmlformats.org/drawingml/2006/main">
            <a:srgbClr val="315D7C"/>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2D2E10C6-16F0-424C-8C9E-799E2D625160}"/>
              </a:ext>
            </a:extLst>
          </p:cNvPr>
          <p:cNvSpPr>
            <a:spLocks xmlns:a="http://schemas.openxmlformats.org/drawingml/2006/main" noGrp="1"/>
          </p:cNvSpPr>
          <p:nvPr/>
        </p:nvSpPr>
        <p:spPr>
          <a:xfrm xmlns:a="http://schemas.openxmlformats.org/drawingml/2006/main">
            <a:off x="1447800" y="4343400"/>
            <a:ext cx="4114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500" b="1">
                <a:solidFill>
                  <a:srgbClr val="17201D"/>
                </a:solidFill>
                <a:latin typeface="Aptos"/>
                <a:ea typeface="Aptos"/>
                <a:cs typeface="Aptos"/>
              </a:defRPr>
            </a:pPr>
            <a:r>
              <a:rPr sz="1500" b="1">
                <a:solidFill>
                  <a:srgbClr val="17201D"/>
                </a:solidFill>
                <a:latin typeface="Aptos"/>
                <a:ea typeface="Aptos"/>
                <a:cs typeface="Aptos"/>
              </a:rPr>
              <a:t>Server contract</a:t>
            </a:r>
          </a:p>
        </p:txBody>
      </p:sp>
      <p:sp>
        <p:nvSpPr>
          <p:cNvPr id="22" name="">
            <a:extLst xmlns:a="http://schemas.openxmlformats.org/drawingml/2006/main">
              <a:ext uri="{FF2B5EF4-FFF2-40B4-BE49-F238E27FC236}">
                <a16:creationId xmlns:a16="http://schemas.microsoft.com/office/drawing/2014/main" id="{BE7E7E79-77DA-47B9-9F90-362C3C61BE78}"/>
              </a:ext>
            </a:extLst>
          </p:cNvPr>
          <p:cNvSpPr>
            <a:spLocks xmlns:a="http://schemas.openxmlformats.org/drawingml/2006/main" noGrp="1"/>
          </p:cNvSpPr>
          <p:nvPr/>
        </p:nvSpPr>
        <p:spPr>
          <a:xfrm xmlns:a="http://schemas.openxmlformats.org/drawingml/2006/main">
            <a:off x="1447800" y="4705350"/>
            <a:ext cx="4114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2000"/>
              </a:lnSpc>
              <a:buNone/>
              <a:defRPr sz="1275" b="0">
                <a:solidFill>
                  <a:srgbClr val="5F6B64"/>
                </a:solidFill>
                <a:latin typeface="Aptos"/>
                <a:ea typeface="Aptos"/>
                <a:cs typeface="Aptos"/>
              </a:defRPr>
            </a:pPr>
            <a:r>
              <a:rPr sz="1275" b="0">
                <a:solidFill>
                  <a:srgbClr val="5F6B64"/>
                </a:solidFill>
                <a:latin typeface="Aptos"/>
                <a:ea typeface="Aptos"/>
                <a:cs typeface="Aptos"/>
              </a:rPr>
              <a:t>The server calls LiveNarrator once per shift. Cards are carried over the existing WebSocket shift update, so the browser receives the same world state and explanation state.</a:t>
            </a:r>
          </a:p>
        </p:txBody>
      </p:sp>
      <p:sp>
        <p:nvSpPr>
          <p:cNvPr id="23" name="">
            <a:extLst xmlns:a="http://schemas.openxmlformats.org/drawingml/2006/main">
              <a:ext uri="{FF2B5EF4-FFF2-40B4-BE49-F238E27FC236}">
                <a16:creationId xmlns:a16="http://schemas.microsoft.com/office/drawing/2014/main" id="{AA34BAEF-5717-4DC2-988A-AEFA8274062E}"/>
              </a:ext>
            </a:extLst>
          </p:cNvPr>
          <p:cNvSpPr>
            <a:spLocks xmlns:a="http://schemas.openxmlformats.org/drawingml/2006/main" noGrp="1"/>
          </p:cNvSpPr>
          <p:nvPr/>
        </p:nvSpPr>
        <p:spPr>
          <a:xfrm xmlns:a="http://schemas.openxmlformats.org/drawingml/2006/main">
            <a:off x="6534150" y="4171950"/>
            <a:ext cx="4476750" cy="1352550"/>
          </a:xfrm>
          <a:prstGeom xmlns:a="http://schemas.openxmlformats.org/drawingml/2006/main" prst="roundRect">
            <a:avLst>
              <a:gd name="adj" fmla="val 5634"/>
            </a:avLst>
          </a:prstGeom>
          <a:solidFill xmlns:a="http://schemas.openxmlformats.org/drawingml/2006/main">
            <a:srgbClr val="FFFDF8"/>
          </a:solidFill>
          <a:ln xmlns:a="http://schemas.openxmlformats.org/drawingml/2006/main" w="9525">
            <a:solidFill>
              <a:srgbClr val="C9D0C7"/>
            </a:solidFill>
            <a:prstDash val="solid"/>
          </a:ln>
        </p:spPr>
      </p:sp>
      <p:sp>
        <p:nvSpPr>
          <p:cNvPr id="24" name="">
            <a:extLst xmlns:a="http://schemas.openxmlformats.org/drawingml/2006/main">
              <a:ext uri="{FF2B5EF4-FFF2-40B4-BE49-F238E27FC236}">
                <a16:creationId xmlns:a16="http://schemas.microsoft.com/office/drawing/2014/main" id="{BBD9C59D-9015-4EF4-804D-8DD157B72C4F}"/>
              </a:ext>
            </a:extLst>
          </p:cNvPr>
          <p:cNvSpPr>
            <a:spLocks xmlns:a="http://schemas.openxmlformats.org/drawingml/2006/main" noGrp="1"/>
          </p:cNvSpPr>
          <p:nvPr/>
        </p:nvSpPr>
        <p:spPr>
          <a:xfrm xmlns:a="http://schemas.openxmlformats.org/drawingml/2006/main">
            <a:off x="6534150" y="4171950"/>
            <a:ext cx="66675" cy="1352550"/>
          </a:xfrm>
          <a:prstGeom xmlns:a="http://schemas.openxmlformats.org/drawingml/2006/main" prst="rect">
            <a:avLst/>
          </a:prstGeom>
          <a:solidFill xmlns:a="http://schemas.openxmlformats.org/drawingml/2006/main">
            <a:srgbClr val="1F8A5B"/>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C8C0137F-9820-4499-9170-E94895578F94}"/>
              </a:ext>
            </a:extLst>
          </p:cNvPr>
          <p:cNvSpPr>
            <a:spLocks xmlns:a="http://schemas.openxmlformats.org/drawingml/2006/main" noGrp="1"/>
          </p:cNvSpPr>
          <p:nvPr/>
        </p:nvSpPr>
        <p:spPr>
          <a:xfrm xmlns:a="http://schemas.openxmlformats.org/drawingml/2006/main">
            <a:off x="6743700" y="4343400"/>
            <a:ext cx="4114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500" b="1">
                <a:solidFill>
                  <a:srgbClr val="17201D"/>
                </a:solidFill>
                <a:latin typeface="Aptos"/>
                <a:ea typeface="Aptos"/>
                <a:cs typeface="Aptos"/>
              </a:defRPr>
            </a:pPr>
            <a:r>
              <a:rPr sz="1500" b="1">
                <a:solidFill>
                  <a:srgbClr val="17201D"/>
                </a:solidFill>
                <a:latin typeface="Aptos"/>
                <a:ea typeface="Aptos"/>
                <a:cs typeface="Aptos"/>
              </a:rPr>
              <a:t>Operator contract</a:t>
            </a:r>
          </a:p>
        </p:txBody>
      </p:sp>
      <p:sp>
        <p:nvSpPr>
          <p:cNvPr id="26" name="">
            <a:extLst xmlns:a="http://schemas.openxmlformats.org/drawingml/2006/main">
              <a:ext uri="{FF2B5EF4-FFF2-40B4-BE49-F238E27FC236}">
                <a16:creationId xmlns:a16="http://schemas.microsoft.com/office/drawing/2014/main" id="{AECC59DC-C244-4C4A-B6CE-A23B53CF89FF}"/>
              </a:ext>
            </a:extLst>
          </p:cNvPr>
          <p:cNvSpPr>
            <a:spLocks xmlns:a="http://schemas.openxmlformats.org/drawingml/2006/main" noGrp="1"/>
          </p:cNvSpPr>
          <p:nvPr/>
        </p:nvSpPr>
        <p:spPr>
          <a:xfrm xmlns:a="http://schemas.openxmlformats.org/drawingml/2006/main">
            <a:off x="6743700" y="4705350"/>
            <a:ext cx="4114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2000"/>
              </a:lnSpc>
              <a:buNone/>
              <a:defRPr sz="1275" b="0">
                <a:solidFill>
                  <a:srgbClr val="5F6B64"/>
                </a:solidFill>
                <a:latin typeface="Aptos"/>
                <a:ea typeface="Aptos"/>
                <a:cs typeface="Aptos"/>
              </a:defRPr>
            </a:pPr>
            <a:r>
              <a:rPr sz="1275" b="0">
                <a:solidFill>
                  <a:srgbClr val="5F6B64"/>
                </a:solidFill>
                <a:latin typeface="Aptos"/>
                <a:ea typeface="Aptos"/>
                <a:cs typeface="Aptos"/>
              </a:rPr>
              <a:t>The Overseer sees only a small number of gated cards. Rewinds clear later cards, and live settings hide most unexplained low-priority changes.</a:t>
            </a:r>
          </a:p>
        </p:txBody>
      </p:sp>
      <p:sp>
        <p:nvSpPr>
          <p:cNvPr id="27" name="">
            <a:extLst xmlns:a="http://schemas.openxmlformats.org/drawingml/2006/main">
              <a:ext uri="{FF2B5EF4-FFF2-40B4-BE49-F238E27FC236}">
                <a16:creationId xmlns:a16="http://schemas.microsoft.com/office/drawing/2014/main" id="{A90F38E6-B257-4621-A7D8-FF1B50B46138}"/>
              </a:ext>
            </a:extLst>
          </p:cNvPr>
          <p:cNvSpPr>
            <a:spLocks xmlns:a="http://schemas.openxmlformats.org/drawingml/2006/main" noGrp="1"/>
          </p:cNvSpPr>
          <p:nvPr/>
        </p:nvSpPr>
        <p:spPr>
          <a:xfrm xmlns:a="http://schemas.openxmlformats.org/drawingml/2006/main">
            <a:off x="609600" y="649605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7A827C"/>
                </a:solidFill>
                <a:latin typeface="Aptos"/>
                <a:ea typeface="Aptos"/>
                <a:cs typeface="Aptos"/>
              </a:defRPr>
            </a:pPr>
            <a:r>
              <a:rPr sz="900" b="0">
                <a:solidFill>
                  <a:srgbClr val="7A827C"/>
                </a:solidFill>
                <a:latin typeface="Aptos"/>
                <a:ea typeface="Aptos"/>
                <a:cs typeface="Aptos"/>
              </a:rPr>
              <a:t>Motherlode technical background for Woodgrove</a:t>
            </a:r>
          </a:p>
        </p:txBody>
      </p:sp>
      <p:sp>
        <p:nvSpPr>
          <p:cNvPr id="28" name="">
            <a:extLst xmlns:a="http://schemas.openxmlformats.org/drawingml/2006/main">
              <a:ext uri="{FF2B5EF4-FFF2-40B4-BE49-F238E27FC236}">
                <a16:creationId xmlns:a16="http://schemas.microsoft.com/office/drawing/2014/main" id="{4D7C5BEC-DAB7-4758-8E1F-3D06027F2A0D}"/>
              </a:ext>
            </a:extLst>
          </p:cNvPr>
          <p:cNvSpPr>
            <a:spLocks xmlns:a="http://schemas.openxmlformats.org/drawingml/2006/main" noGrp="1"/>
          </p:cNvSpPr>
          <p:nvPr/>
        </p:nvSpPr>
        <p:spPr>
          <a:xfrm xmlns:a="http://schemas.openxmlformats.org/drawingml/2006/main">
            <a:off x="11201400" y="64960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lnSpc>
                <a:spcPct val="108000"/>
              </a:lnSpc>
              <a:buNone/>
              <a:defRPr sz="900" b="0">
                <a:solidFill>
                  <a:srgbClr val="7A827C"/>
                </a:solidFill>
                <a:latin typeface="Aptos"/>
                <a:ea typeface="Aptos"/>
                <a:cs typeface="Aptos"/>
              </a:defRPr>
            </a:pPr>
            <a:r>
              <a:rPr sz="900" b="0">
                <a:solidFill>
                  <a:srgbClr val="7A827C"/>
                </a:solidFill>
                <a:latin typeface="Aptos"/>
                <a:ea typeface="Aptos"/>
                <a:cs typeface="Aptos"/>
              </a:rPr>
              <a:t>10</a:t>
            </a:r>
          </a:p>
        </p:txBody>
      </p:sp>
    </p:spTree>
    <p:extLst>
      <p:ext uri="{BB962C8B-B14F-4D97-AF65-F5344CB8AC3E}">
        <p14:creationId xmlns:p14="http://schemas.microsoft.com/office/powerpoint/2010/main" val="1390619760"/>
      </p:ext>
    </p:extLst>
  </p:cSld>
</p:sld>
</file>

<file path=ppt/slides/slide11.xml><?xml version="1.0" encoding="utf-8"?>
<p:sld xmlns:p="http://schemas.openxmlformats.org/presentationml/2006/main">
  <p:cSld>
    <p:bg>
      <p:bgPr>
        <a:solidFill xmlns:a="http://schemas.openxmlformats.org/drawingml/2006/main">
          <a:srgbClr val="11181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D88E6C9-538B-4252-88D1-C69DCF3C0187}"/>
              </a:ext>
            </a:extLst>
          </p:cNvPr>
          <p:cNvSpPr>
            <a:spLocks xmlns:a="http://schemas.openxmlformats.org/drawingml/2006/main" noGrp="1"/>
          </p:cNvSpPr>
          <p:nvPr/>
        </p:nvSpPr>
        <p:spPr>
          <a:xfrm xmlns:a="http://schemas.openxmlformats.org/drawingml/2006/main">
            <a:off x="685800" y="723900"/>
            <a:ext cx="4953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000" b="1">
                <a:solidFill>
                  <a:srgbClr val="FFFFFF"/>
                </a:solidFill>
                <a:latin typeface="Aptos"/>
                <a:ea typeface="Aptos"/>
                <a:cs typeface="Aptos"/>
              </a:defRPr>
            </a:pPr>
            <a:r>
              <a:rPr sz="3000" b="1">
                <a:solidFill>
                  <a:srgbClr val="FFFFFF"/>
                </a:solidFill>
                <a:latin typeface="Aptos"/>
                <a:ea typeface="Aptos"/>
                <a:cs typeface="Aptos"/>
              </a:rPr>
              <a:t>Woodgrove takeaway</a:t>
            </a:r>
          </a:p>
        </p:txBody>
      </p:sp>
      <p:sp>
        <p:nvSpPr>
          <p:cNvPr id="2" name="">
            <a:extLst xmlns:a="http://schemas.openxmlformats.org/drawingml/2006/main">
              <a:ext uri="{FF2B5EF4-FFF2-40B4-BE49-F238E27FC236}">
                <a16:creationId xmlns:a16="http://schemas.microsoft.com/office/drawing/2014/main" id="{74718813-09FC-4205-BA44-DB91D5604027}"/>
              </a:ext>
            </a:extLst>
          </p:cNvPr>
          <p:cNvSpPr>
            <a:spLocks xmlns:a="http://schemas.openxmlformats.org/drawingml/2006/main" noGrp="1"/>
          </p:cNvSpPr>
          <p:nvPr/>
        </p:nvSpPr>
        <p:spPr>
          <a:xfrm xmlns:a="http://schemas.openxmlformats.org/drawingml/2006/main">
            <a:off x="685800" y="1381125"/>
            <a:ext cx="1714500" cy="0"/>
          </a:xfrm>
          <a:prstGeom xmlns:a="http://schemas.openxmlformats.org/drawingml/2006/main" prst="line">
            <a:avLst/>
          </a:prstGeom>
          <a:ln xmlns:a="http://schemas.openxmlformats.org/drawingml/2006/main" w="38100">
            <a:solidFill>
              <a:srgbClr val="B96E3A"/>
            </a:solidFill>
            <a:prstDash val="solid"/>
          </a:ln>
        </p:spPr>
      </p:sp>
      <p:sp>
        <p:nvSpPr>
          <p:cNvPr id="3" name="">
            <a:extLst xmlns:a="http://schemas.openxmlformats.org/drawingml/2006/main">
              <a:ext uri="{FF2B5EF4-FFF2-40B4-BE49-F238E27FC236}">
                <a16:creationId xmlns:a16="http://schemas.microsoft.com/office/drawing/2014/main" id="{B188E7CC-EEBE-4D62-9DB8-DC87FB7C0B63}"/>
              </a:ext>
            </a:extLst>
          </p:cNvPr>
          <p:cNvSpPr>
            <a:spLocks xmlns:a="http://schemas.openxmlformats.org/drawingml/2006/main" noGrp="1"/>
          </p:cNvSpPr>
          <p:nvPr/>
        </p:nvSpPr>
        <p:spPr>
          <a:xfrm xmlns:a="http://schemas.openxmlformats.org/drawingml/2006/main">
            <a:off x="895350" y="2114550"/>
            <a:ext cx="85725" cy="85725"/>
          </a:xfrm>
          <a:prstGeom xmlns:a="http://schemas.openxmlformats.org/drawingml/2006/main" prst="ellipse">
            <a:avLst/>
          </a:prstGeom>
          <a:solidFill xmlns:a="http://schemas.openxmlformats.org/drawingml/2006/main">
            <a:srgbClr val="B96E3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2AE99FA-81E1-4679-8275-8E512A094953}"/>
              </a:ext>
            </a:extLst>
          </p:cNvPr>
          <p:cNvSpPr>
            <a:spLocks xmlns:a="http://schemas.openxmlformats.org/drawingml/2006/main" noGrp="1"/>
          </p:cNvSpPr>
          <p:nvPr/>
        </p:nvSpPr>
        <p:spPr>
          <a:xfrm xmlns:a="http://schemas.openxmlformats.org/drawingml/2006/main">
            <a:off x="1104900" y="2038350"/>
            <a:ext cx="9886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00" b="0">
                <a:solidFill>
                  <a:srgbClr val="EEF5F0"/>
                </a:solidFill>
                <a:latin typeface="Aptos"/>
                <a:ea typeface="Aptos"/>
                <a:cs typeface="Aptos"/>
              </a:defRPr>
            </a:pPr>
            <a:r>
              <a:rPr sz="1800" b="0">
                <a:solidFill>
                  <a:srgbClr val="EEF5F0"/>
                </a:solidFill>
                <a:latin typeface="Aptos"/>
                <a:ea typeface="Aptos"/>
                <a:cs typeface="Aptos"/>
              </a:rPr>
              <a:t>Motherlode creates a live stream of temporal process-like data from a simulated plant economy.</a:t>
            </a:r>
          </a:p>
        </p:txBody>
      </p:sp>
      <p:sp>
        <p:nvSpPr>
          <p:cNvPr id="5" name="">
            <a:extLst xmlns:a="http://schemas.openxmlformats.org/drawingml/2006/main">
              <a:ext uri="{FF2B5EF4-FFF2-40B4-BE49-F238E27FC236}">
                <a16:creationId xmlns:a16="http://schemas.microsoft.com/office/drawing/2014/main" id="{8E5EA0C6-D757-47A9-B553-95967CFB8663}"/>
              </a:ext>
            </a:extLst>
          </p:cNvPr>
          <p:cNvSpPr>
            <a:spLocks xmlns:a="http://schemas.openxmlformats.org/drawingml/2006/main" noGrp="1"/>
          </p:cNvSpPr>
          <p:nvPr/>
        </p:nvSpPr>
        <p:spPr>
          <a:xfrm xmlns:a="http://schemas.openxmlformats.org/drawingml/2006/main">
            <a:off x="895350" y="2667000"/>
            <a:ext cx="85725" cy="85725"/>
          </a:xfrm>
          <a:prstGeom xmlns:a="http://schemas.openxmlformats.org/drawingml/2006/main" prst="ellipse">
            <a:avLst/>
          </a:prstGeom>
          <a:solidFill xmlns:a="http://schemas.openxmlformats.org/drawingml/2006/main">
            <a:srgbClr val="B96E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055B917-7967-433A-9FE2-D0BA6D9776D4}"/>
              </a:ext>
            </a:extLst>
          </p:cNvPr>
          <p:cNvSpPr>
            <a:spLocks xmlns:a="http://schemas.openxmlformats.org/drawingml/2006/main" noGrp="1"/>
          </p:cNvSpPr>
          <p:nvPr/>
        </p:nvSpPr>
        <p:spPr>
          <a:xfrm xmlns:a="http://schemas.openxmlformats.org/drawingml/2006/main">
            <a:off x="1104900" y="2590800"/>
            <a:ext cx="9886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00" b="0">
                <a:solidFill>
                  <a:srgbClr val="EEF5F0"/>
                </a:solidFill>
                <a:latin typeface="Aptos"/>
                <a:ea typeface="Aptos"/>
                <a:cs typeface="Aptos"/>
              </a:defRPr>
            </a:pPr>
            <a:r>
              <a:rPr sz="1800" b="0">
                <a:solidFill>
                  <a:srgbClr val="EEF5F0"/>
                </a:solidFill>
                <a:latin typeface="Aptos"/>
                <a:ea typeface="Aptos"/>
                <a:cs typeface="Aptos"/>
              </a:rPr>
              <a:t>The narrator converts that stream into causal evidence with rules, timing, links and confidence limits.</a:t>
            </a:r>
          </a:p>
        </p:txBody>
      </p:sp>
      <p:sp>
        <p:nvSpPr>
          <p:cNvPr id="7" name="">
            <a:extLst xmlns:a="http://schemas.openxmlformats.org/drawingml/2006/main">
              <a:ext uri="{FF2B5EF4-FFF2-40B4-BE49-F238E27FC236}">
                <a16:creationId xmlns:a16="http://schemas.microsoft.com/office/drawing/2014/main" id="{30173A2F-D24C-45DD-8674-2E59E16953A9}"/>
              </a:ext>
            </a:extLst>
          </p:cNvPr>
          <p:cNvSpPr>
            <a:spLocks xmlns:a="http://schemas.openxmlformats.org/drawingml/2006/main" noGrp="1"/>
          </p:cNvSpPr>
          <p:nvPr/>
        </p:nvSpPr>
        <p:spPr>
          <a:xfrm xmlns:a="http://schemas.openxmlformats.org/drawingml/2006/main">
            <a:off x="895350" y="3219450"/>
            <a:ext cx="85725" cy="85725"/>
          </a:xfrm>
          <a:prstGeom xmlns:a="http://schemas.openxmlformats.org/drawingml/2006/main" prst="ellipse">
            <a:avLst/>
          </a:prstGeom>
          <a:solidFill xmlns:a="http://schemas.openxmlformats.org/drawingml/2006/main">
            <a:srgbClr val="B96E3A"/>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FBC3EC2-45CC-43AB-A797-6167EC7A16DF}"/>
              </a:ext>
            </a:extLst>
          </p:cNvPr>
          <p:cNvSpPr>
            <a:spLocks xmlns:a="http://schemas.openxmlformats.org/drawingml/2006/main" noGrp="1"/>
          </p:cNvSpPr>
          <p:nvPr/>
        </p:nvSpPr>
        <p:spPr>
          <a:xfrm xmlns:a="http://schemas.openxmlformats.org/drawingml/2006/main">
            <a:off x="1104900" y="3143250"/>
            <a:ext cx="9886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00" b="0">
                <a:solidFill>
                  <a:srgbClr val="EEF5F0"/>
                </a:solidFill>
                <a:latin typeface="Aptos"/>
                <a:ea typeface="Aptos"/>
                <a:cs typeface="Aptos"/>
              </a:defRPr>
            </a:pPr>
            <a:r>
              <a:rPr sz="1800" b="0">
                <a:solidFill>
                  <a:srgbClr val="EEF5F0"/>
                </a:solidFill>
                <a:latin typeface="Aptos"/>
                <a:ea typeface="Aptos"/>
                <a:cs typeface="Aptos"/>
              </a:rPr>
              <a:t>The Overseer gets a concise card that separates facts, causes, uncertainty and suggested levers.</a:t>
            </a:r>
          </a:p>
        </p:txBody>
      </p:sp>
      <p:sp>
        <p:nvSpPr>
          <p:cNvPr id="9" name="">
            <a:extLst xmlns:a="http://schemas.openxmlformats.org/drawingml/2006/main">
              <a:ext uri="{FF2B5EF4-FFF2-40B4-BE49-F238E27FC236}">
                <a16:creationId xmlns:a16="http://schemas.microsoft.com/office/drawing/2014/main" id="{BD06D9B5-8482-4B3B-BD25-B42D435D3E00}"/>
              </a:ext>
            </a:extLst>
          </p:cNvPr>
          <p:cNvSpPr>
            <a:spLocks xmlns:a="http://schemas.openxmlformats.org/drawingml/2006/main" noGrp="1"/>
          </p:cNvSpPr>
          <p:nvPr/>
        </p:nvSpPr>
        <p:spPr>
          <a:xfrm xmlns:a="http://schemas.openxmlformats.org/drawingml/2006/main">
            <a:off x="895350" y="3771900"/>
            <a:ext cx="85725" cy="85725"/>
          </a:xfrm>
          <a:prstGeom xmlns:a="http://schemas.openxmlformats.org/drawingml/2006/main" prst="ellipse">
            <a:avLst/>
          </a:prstGeom>
          <a:solidFill xmlns:a="http://schemas.openxmlformats.org/drawingml/2006/main">
            <a:srgbClr val="B96E3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F93ECD2-20F8-4A15-B9E3-AB084A19F699}"/>
              </a:ext>
            </a:extLst>
          </p:cNvPr>
          <p:cNvSpPr>
            <a:spLocks xmlns:a="http://schemas.openxmlformats.org/drawingml/2006/main" noGrp="1"/>
          </p:cNvSpPr>
          <p:nvPr/>
        </p:nvSpPr>
        <p:spPr>
          <a:xfrm xmlns:a="http://schemas.openxmlformats.org/drawingml/2006/main">
            <a:off x="1104900" y="3695700"/>
            <a:ext cx="9886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00" b="0">
                <a:solidFill>
                  <a:srgbClr val="EEF5F0"/>
                </a:solidFill>
                <a:latin typeface="Aptos"/>
                <a:ea typeface="Aptos"/>
                <a:cs typeface="Aptos"/>
              </a:defRPr>
            </a:pPr>
            <a:r>
              <a:rPr sz="1800" b="0">
                <a:solidFill>
                  <a:srgbClr val="EEF5F0"/>
                </a:solidFill>
                <a:latin typeface="Aptos"/>
                <a:ea typeface="Aptos"/>
                <a:cs typeface="Aptos"/>
              </a:rPr>
              <a:t>The same evidence-package contract can map onto AWARE-NG plant data when Woodgrove provides real integrations.</a:t>
            </a:r>
          </a:p>
        </p:txBody>
      </p:sp>
      <p:sp>
        <p:nvSpPr>
          <p:cNvPr id="11" name="">
            <a:extLst xmlns:a="http://schemas.openxmlformats.org/drawingml/2006/main">
              <a:ext uri="{FF2B5EF4-FFF2-40B4-BE49-F238E27FC236}">
                <a16:creationId xmlns:a16="http://schemas.microsoft.com/office/drawing/2014/main" id="{EF3E098F-6169-4B70-9DD3-55C88B9A18B0}"/>
              </a:ext>
            </a:extLst>
          </p:cNvPr>
          <p:cNvSpPr>
            <a:spLocks xmlns:a="http://schemas.openxmlformats.org/drawingml/2006/main" noGrp="1"/>
          </p:cNvSpPr>
          <p:nvPr/>
        </p:nvSpPr>
        <p:spPr>
          <a:xfrm xmlns:a="http://schemas.openxmlformats.org/drawingml/2006/main">
            <a:off x="895350" y="5429250"/>
            <a:ext cx="9906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650" b="0">
                <a:solidFill>
                  <a:srgbClr val="C8D7CF"/>
                </a:solidFill>
                <a:latin typeface="Aptos"/>
                <a:ea typeface="Aptos"/>
                <a:cs typeface="Aptos"/>
              </a:defRPr>
            </a:pPr>
            <a:r>
              <a:rPr sz="1650" b="0">
                <a:solidFill>
                  <a:srgbClr val="C8D7CF"/>
                </a:solidFill>
                <a:latin typeface="Aptos"/>
                <a:ea typeface="Aptos"/>
                <a:cs typeface="Aptos"/>
              </a:rPr>
              <a:t>Showcase flow: trigger or observe an event, let shifts run, open the narrator panel, expand the card, then compare the explanation to the scripted scenario or replay.</a:t>
            </a:r>
          </a:p>
        </p:txBody>
      </p:sp>
    </p:spTree>
    <p:extLst>
      <p:ext uri="{BB962C8B-B14F-4D97-AF65-F5344CB8AC3E}">
        <p14:creationId xmlns:p14="http://schemas.microsoft.com/office/powerpoint/2010/main" val="19120726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2026-10-04T14:26:10.7770000Z</dcterms:created>
  <dcterms:modified xsi:type="dcterms:W3CDTF">2026-10-04T14:26:10.7770000Z</dcterms:modified>
</coreProperties>
</file>